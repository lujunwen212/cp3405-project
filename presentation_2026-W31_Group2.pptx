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5143500" cx="9144000"/>
  <p:notesSz cx="6858000" cy="9144000"/>
  <p:embeddedFontLst>
    <p:embeddedFont>
      <p:font typeface="Poppins"/>
      <p:regular r:id="rId25"/>
      <p:bold r:id="rId26"/>
      <p:italic r:id="rId27"/>
      <p:boldItalic r:id="rId28"/>
    </p:embeddedFont>
    <p:embeddedFont>
      <p:font typeface="Lato"/>
      <p:regular r:id="rId29"/>
      <p:bold r:id="rId30"/>
      <p:italic r:id="rId31"/>
      <p:boldItalic r:id="rId32"/>
    </p:embeddedFont>
    <p:embeddedFont>
      <p:font typeface="Poppins SemiBold"/>
      <p:regular r:id="rId33"/>
      <p:bold r:id="rId34"/>
      <p:italic r:id="rId35"/>
      <p:boldItalic r:id="rId36"/>
    </p:embeddedFont>
    <p:embeddedFont>
      <p:font typeface="Roboto Mono"/>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oppins-bold.fntdata"/><Relationship Id="rId25" Type="http://schemas.openxmlformats.org/officeDocument/2006/relationships/font" Target="fonts/Poppins-regular.fntdata"/><Relationship Id="rId28" Type="http://schemas.openxmlformats.org/officeDocument/2006/relationships/font" Target="fonts/Poppins-boldItalic.fntdata"/><Relationship Id="rId27" Type="http://schemas.openxmlformats.org/officeDocument/2006/relationships/font" Target="fonts/Poppins-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Lato-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Lato-italic.fntdata"/><Relationship Id="rId30" Type="http://schemas.openxmlformats.org/officeDocument/2006/relationships/font" Target="fonts/Lato-bold.fntdata"/><Relationship Id="rId11" Type="http://schemas.openxmlformats.org/officeDocument/2006/relationships/slide" Target="slides/slide6.xml"/><Relationship Id="rId33" Type="http://schemas.openxmlformats.org/officeDocument/2006/relationships/font" Target="fonts/PoppinsSemiBold-regular.fntdata"/><Relationship Id="rId10" Type="http://schemas.openxmlformats.org/officeDocument/2006/relationships/slide" Target="slides/slide5.xml"/><Relationship Id="rId32" Type="http://schemas.openxmlformats.org/officeDocument/2006/relationships/font" Target="fonts/Lato-boldItalic.fntdata"/><Relationship Id="rId13" Type="http://schemas.openxmlformats.org/officeDocument/2006/relationships/slide" Target="slides/slide8.xml"/><Relationship Id="rId35" Type="http://schemas.openxmlformats.org/officeDocument/2006/relationships/font" Target="fonts/PoppinsSemiBold-italic.fntdata"/><Relationship Id="rId12" Type="http://schemas.openxmlformats.org/officeDocument/2006/relationships/slide" Target="slides/slide7.xml"/><Relationship Id="rId34" Type="http://schemas.openxmlformats.org/officeDocument/2006/relationships/font" Target="fonts/PoppinsSemiBold-bold.fntdata"/><Relationship Id="rId15" Type="http://schemas.openxmlformats.org/officeDocument/2006/relationships/slide" Target="slides/slide10.xml"/><Relationship Id="rId37" Type="http://schemas.openxmlformats.org/officeDocument/2006/relationships/font" Target="fonts/RobotoMono-regular.fntdata"/><Relationship Id="rId14" Type="http://schemas.openxmlformats.org/officeDocument/2006/relationships/slide" Target="slides/slide9.xml"/><Relationship Id="rId36" Type="http://schemas.openxmlformats.org/officeDocument/2006/relationships/font" Target="fonts/PoppinsSemiBold-boldItalic.fntdata"/><Relationship Id="rId17" Type="http://schemas.openxmlformats.org/officeDocument/2006/relationships/slide" Target="slides/slide12.xml"/><Relationship Id="rId39" Type="http://schemas.openxmlformats.org/officeDocument/2006/relationships/font" Target="fonts/RobotoMono-italic.fntdata"/><Relationship Id="rId16" Type="http://schemas.openxmlformats.org/officeDocument/2006/relationships/slide" Target="slides/slide11.xml"/><Relationship Id="rId38" Type="http://schemas.openxmlformats.org/officeDocument/2006/relationships/font" Target="fonts/RobotoMono-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968f0dbac_0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3f968f0dba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f968f0dbac_0_6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Hi everyone, I’m Qinyang Wu, and my role this week is R2 Scrum Master.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For Sprint 9, my main responsibility was sprint control: making sure risks were surfaced before Sunday, not discovered at the last minute. The key evidence here is that our standup_midweek_W31.md was committed by Wednesday, which means the mid-week check-in was completed on time.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During this check-in, I contacted each role individually, confirmed their current progress, blockers, next actions, and also checked whether they were clear about their two-minute Demo Day segment.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result was positive. Most risks were identified early, and any recovery actions were assigned before the final release day. Compared with earlier sprints, the team was much more prepared and cooperative. So the main Scrum result this week was not only that tasks were moving forward, but that every role had visibility, accountability, and a clear next step before the weekend.</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75" name="Google Shape;75;g3f968f0dbac_0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974c2387c_0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Hello, everyone. I'm Guanyu Lu. This slide shows the dependency chain that I had to protect as Scrum Master.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key risk in our sprint was not simply one person being late. The real risk was that one delayed output could block every downstream role. For example, R3 Almanac, R4 Macro, R5 Technical, and R6 Data all had to produce their outputs before R8 could complete the LLM synthesis. Then R7 depended on that synthesis for the Human Score, R10 needed the final data for calibration, and R9 needed all completed outputs before the final tag and release.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Because of this, my role was to manage timing and make sure each handoff was clear. On Monday, we confirmed the planning. On Tuesday and Wednesday, I completed one-to-one checks. On Friday, we prepared for merging, and during Saturday and Sunday, I tracked the final automated runs and handled any sudden issues.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main purpose was to keep the pipeline moving in the correct order, so the team could reach the final vW31 release without a last-minute chain reaction.</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90" name="Google Shape;90;g3f974c2387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628aef9be_2_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final slide summarises our whole project journey from Sprint 1 to Sprint 9.</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At the beginning, our team was still building its foundation. Sprint 1 was mainly about team formation, understanding the task, and clarifying responsibilities. In Sprint 2 and Sprint 3, our prediction process was still mostly manual. We collected evidence, compared different sources, and started learning how to balance market direction with confidence calibration.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Then, from Sprint 4 to Sprint 6, the project moved into automation. We first automated market evidence collection with Python, yfinance, JSON outputs, and GitHub Actions. After that, we expanded into role-based agent automation. Sprint 6 was our first end-to-end automation attempt, but it also exposed weak dependency control.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final phase was about maturity. Sprint 7 improved Scrum control, Sprint 8 added validation and system hardening, and Sprint 9 turned the project into a demo-ready product with a front-end dashboard.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So overall, our journey was: manual, automated, validated, and finally productized.</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128" name="Google Shape;128;g3f628aef9be_2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f628aef9be_2_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g3f628aef9be_2_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137" name="Google Shape;137;g3f628aef9be_2_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6274e9d9e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f6274e9d9e_6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f6274e9d9e_6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g3f6274e9d9e_6_1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f968f0dbac_2_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g3f968f0dbac_2_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12" name="Google Shape;212;g3f968f0dbac_2_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f61cf2c662_1_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g3f61cf2c662_1_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23" name="Google Shape;223;g3f61cf2c662_1_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f5d2ba0e0e_0_1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g3f5d2ba0e0e_0_1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33" name="Google Shape;233;g3f5d2ba0e0e_0_1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f5d2ba0e0e_0_1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g3f5d2ba0e0e_0_1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a:p>
        </p:txBody>
      </p:sp>
      <p:sp>
        <p:nvSpPr>
          <p:cNvPr id="267" name="Google Shape;267;g3f5d2ba0e0e_0_1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f968f0dbac_2_21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week, our macro outlook is moderately bullish with medium confidence. The SPX and NDX moved higher, while the VIX and oil prices fell, which supported market sentiment. However, long-term Treasury yields increased and remain a risk. Next week, the U.S. Employment Situation report will be the key event because it may affect expectations for the labour market and future Fed policy. </a:t>
            </a:r>
            <a:endParaRPr/>
          </a:p>
        </p:txBody>
      </p:sp>
      <p:sp>
        <p:nvSpPr>
          <p:cNvPr id="295" name="Google Shape;295;g3f968f0dbac_2_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f968f0dbac_2_39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g3f968f0dbac_2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f968f0dbac_2_46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"Hi everyone, here is the W31 Consensus Audit Report from our </a:t>
            </a:r>
            <a:r>
              <a:rPr b="1" lang="zh-CN">
                <a:solidFill>
                  <a:schemeClr val="dk1"/>
                </a:solidFill>
              </a:rPr>
              <a:t>R8 LLM Operator</a:t>
            </a:r>
            <a:r>
              <a:rPr lang="zh-CN">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week, we seamlessly integrated upstream reports from </a:t>
            </a:r>
            <a:r>
              <a:rPr b="1" lang="zh-CN">
                <a:solidFill>
                  <a:schemeClr val="dk1"/>
                </a:solidFill>
              </a:rPr>
              <a:t>R3 Almanac</a:t>
            </a:r>
            <a:r>
              <a:rPr lang="zh-CN">
                <a:solidFill>
                  <a:schemeClr val="dk1"/>
                </a:solidFill>
              </a:rPr>
              <a:t>, </a:t>
            </a:r>
            <a:r>
              <a:rPr b="1" lang="zh-CN">
                <a:solidFill>
                  <a:schemeClr val="dk1"/>
                </a:solidFill>
              </a:rPr>
              <a:t>R4 Macro</a:t>
            </a:r>
            <a:r>
              <a:rPr lang="zh-CN">
                <a:solidFill>
                  <a:schemeClr val="dk1"/>
                </a:solidFill>
              </a:rPr>
              <a:t>, and </a:t>
            </a:r>
            <a:r>
              <a:rPr b="1" lang="zh-CN">
                <a:solidFill>
                  <a:schemeClr val="dk1"/>
                </a:solidFill>
              </a:rPr>
              <a:t>R5 Technical</a:t>
            </a:r>
            <a:r>
              <a:rPr lang="zh-CN">
                <a:solidFill>
                  <a:schemeClr val="dk1"/>
                </a:solidFill>
              </a:rPr>
              <a:t>, while implementing strict pre-flight NaN checks to prevent bad data propagation.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Our pipeline concurrently runs on three flagship models: </a:t>
            </a:r>
            <a:r>
              <a:rPr b="1" lang="zh-CN">
                <a:solidFill>
                  <a:schemeClr val="dk1"/>
                </a:solidFill>
              </a:rPr>
              <a:t>ChatGPT-4o-mini</a:t>
            </a:r>
            <a:r>
              <a:rPr lang="zh-CN">
                <a:solidFill>
                  <a:schemeClr val="dk1"/>
                </a:solidFill>
              </a:rPr>
              <a:t>, </a:t>
            </a:r>
            <a:r>
              <a:rPr b="1" lang="zh-CN">
                <a:solidFill>
                  <a:schemeClr val="dk1"/>
                </a:solidFill>
              </a:rPr>
              <a:t>Llama 3.1</a:t>
            </a:r>
            <a:r>
              <a:rPr lang="zh-CN">
                <a:solidFill>
                  <a:schemeClr val="dk1"/>
                </a:solidFill>
              </a:rPr>
              <a:t>, and </a:t>
            </a:r>
            <a:r>
              <a:rPr b="1" lang="zh-CN">
                <a:solidFill>
                  <a:schemeClr val="dk1"/>
                </a:solidFill>
              </a:rPr>
              <a:t>DeepSeek-V3</a:t>
            </a:r>
            <a:r>
              <a:rPr lang="zh-CN">
                <a:solidFill>
                  <a:schemeClr val="dk1"/>
                </a:solidFill>
              </a:rPr>
              <a:t>. All markdown formatting artifacts are automatically sanitized, delivering 100% plain text, un-truncated analyses.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For W31, the models unanimously converge on a </a:t>
            </a:r>
            <a:r>
              <a:rPr b="1" lang="zh-CN">
                <a:solidFill>
                  <a:schemeClr val="dk1"/>
                </a:solidFill>
              </a:rPr>
              <a:t>Sideways-Neutral bias</a:t>
            </a:r>
            <a:r>
              <a:rPr lang="zh-CN">
                <a:solidFill>
                  <a:schemeClr val="dk1"/>
                </a:solidFill>
              </a:rPr>
              <a:t> with medium confidence.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All W31 assets are archived under </a:t>
            </a:r>
            <a:r>
              <a:rPr lang="zh-CN">
                <a:solidFill>
                  <a:srgbClr val="188038"/>
                </a:solidFill>
                <a:latin typeface="Roboto Mono"/>
                <a:ea typeface="Roboto Mono"/>
                <a:cs typeface="Roboto Mono"/>
                <a:sym typeface="Roboto Mono"/>
              </a:rPr>
              <a:t>outputs/R8/</a:t>
            </a:r>
            <a:r>
              <a:rPr lang="zh-CN">
                <a:solidFill>
                  <a:schemeClr val="dk1"/>
                </a:solidFill>
              </a:rPr>
              <a:t> and ready for execution. Thank you!"</a:t>
            </a:r>
            <a:endParaRPr>
              <a:solidFill>
                <a:schemeClr val="dk1"/>
              </a:solidFill>
            </a:endParaRPr>
          </a:p>
          <a:p>
            <a:pPr indent="0" lvl="0" marL="0" rtl="0" algn="l">
              <a:spcBef>
                <a:spcPts val="1200"/>
              </a:spcBef>
              <a:spcAft>
                <a:spcPts val="0"/>
              </a:spcAft>
              <a:buNone/>
            </a:pPr>
            <a:r>
              <a:t/>
            </a:r>
            <a:endParaRPr/>
          </a:p>
        </p:txBody>
      </p:sp>
      <p:sp>
        <p:nvSpPr>
          <p:cNvPr id="316" name="Google Shape;316;g3f968f0dbac_2_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628aef9b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This week, our Human Score is </a:t>
            </a:r>
            <a:r>
              <a:rPr b="1" lang="zh-CN">
                <a:solidFill>
                  <a:schemeClr val="dk1"/>
                </a:solidFill>
              </a:rPr>
              <a:t>Neutral with a score of zero</a:t>
            </a:r>
            <a:r>
              <a:rPr lang="zh-CN">
                <a:solidFill>
                  <a:schemeClr val="dk1"/>
                </a:solidFill>
              </a:rPr>
              <a:t>, showing that positive and negative market factors are currently balanced.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On the positive side, macro conditions improved. The S&amp;P 500 and Nasdaq both finished the week higher, market volatility declined as the VIX fell, oil prices eased, and inflation pressures continued to soften. These factors support investor confidence.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However, several risks remain. August is historically one of the weaker months for equities, especially during a U.S. midterm election year. Treasury yields also continued to rise, while technical signals remain mixed, with only limited confirmation across the major indices.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Overall, we believe the market has become more stable than last week, but the evidence is not strong enough to justify a bullish outlook. Therefore, we maintain a </a:t>
            </a:r>
            <a:r>
              <a:rPr b="1" lang="zh-CN">
                <a:solidFill>
                  <a:schemeClr val="dk1"/>
                </a:solidFill>
              </a:rPr>
              <a:t>Neutral or Sideways view</a:t>
            </a:r>
            <a:r>
              <a:rPr lang="zh-CN">
                <a:solidFill>
                  <a:schemeClr val="dk1"/>
                </a:solidFill>
              </a:rPr>
              <a:t> with </a:t>
            </a:r>
            <a:r>
              <a:rPr b="1" lang="zh-CN">
                <a:solidFill>
                  <a:schemeClr val="dk1"/>
                </a:solidFill>
              </a:rPr>
              <a:t>medium confidence</a:t>
            </a:r>
            <a:r>
              <a:rPr lang="zh-CN">
                <a:solidFill>
                  <a:schemeClr val="dk1"/>
                </a:solidFill>
              </a:rPr>
              <a:t>.</a:t>
            </a:r>
            <a:endParaRPr>
              <a:solidFill>
                <a:schemeClr val="dk1"/>
              </a:solidFill>
            </a:endParaRPr>
          </a:p>
          <a:p>
            <a:pPr indent="0" lvl="0" marL="0" rtl="0" algn="l">
              <a:spcBef>
                <a:spcPts val="1200"/>
              </a:spcBef>
              <a:spcAft>
                <a:spcPts val="0"/>
              </a:spcAft>
              <a:buNone/>
            </a:pPr>
            <a:r>
              <a:t/>
            </a:r>
            <a:endParaRPr/>
          </a:p>
        </p:txBody>
      </p:sp>
      <p:sp>
        <p:nvSpPr>
          <p:cNvPr id="324" name="Google Shape;324;g3f628aef9be_0_5: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628aef9be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The AI models generally reached a similar conclusion by expecting a </a:t>
            </a:r>
            <a:r>
              <a:rPr b="1" lang="zh-CN">
                <a:solidFill>
                  <a:schemeClr val="dk1"/>
                </a:solidFill>
              </a:rPr>
              <a:t>neutral, sideways market</a:t>
            </a:r>
            <a:r>
              <a:rPr lang="zh-CN">
                <a:solidFill>
                  <a:schemeClr val="dk1"/>
                </a:solidFill>
              </a:rPr>
              <a:t>, supported by improving macro conditions, lower volatility, and easing inflation pressures.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Our human review agrees with the overall direction, but we place greater emphasis on several remaining risks. August seasonality has historically been weak during midterm election years, Treasury yields continue to trend higher, and technical signals remain mixed, particularly with the Russell 2000 still showing relative weakness.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We also recognise that upcoming economic data, including employment and inflation releases, could quickly change market sentiment.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CN">
                <a:solidFill>
                  <a:schemeClr val="dk1"/>
                </a:solidFill>
              </a:rPr>
              <a:t>Taking all of these factors together, our final assessment remains </a:t>
            </a:r>
            <a:r>
              <a:rPr b="1" lang="zh-CN">
                <a:solidFill>
                  <a:schemeClr val="dk1"/>
                </a:solidFill>
              </a:rPr>
              <a:t>Neutral or Sideways</a:t>
            </a:r>
            <a:r>
              <a:rPr lang="zh-CN">
                <a:solidFill>
                  <a:schemeClr val="dk1"/>
                </a:solidFill>
              </a:rPr>
              <a:t> with </a:t>
            </a:r>
            <a:r>
              <a:rPr b="1" lang="zh-CN">
                <a:solidFill>
                  <a:schemeClr val="dk1"/>
                </a:solidFill>
              </a:rPr>
              <a:t>medium confidence</a:t>
            </a:r>
            <a:r>
              <a:rPr lang="zh-CN">
                <a:solidFill>
                  <a:schemeClr val="dk1"/>
                </a:solidFill>
              </a:rPr>
              <a:t>, as neither the bullish nor bearish evidence is currently dominant.</a:t>
            </a:r>
            <a:endParaRPr>
              <a:solidFill>
                <a:schemeClr val="dk1"/>
              </a:solidFill>
            </a:endParaRPr>
          </a:p>
          <a:p>
            <a:pPr indent="0" lvl="0" marL="0" rtl="0" algn="l">
              <a:spcBef>
                <a:spcPts val="1200"/>
              </a:spcBef>
              <a:spcAft>
                <a:spcPts val="0"/>
              </a:spcAft>
              <a:buNone/>
            </a:pPr>
            <a:r>
              <a:t/>
            </a:r>
            <a:endParaRPr/>
          </a:p>
        </p:txBody>
      </p:sp>
      <p:sp>
        <p:nvSpPr>
          <p:cNvPr id="329" name="Google Shape;329;g3f628aef9be_0_84: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3f968f0dbac_2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g3f968f0dbac_2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f968f0dbac_2_67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g3f968f0dbac_2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f968f0dbac_3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g3f968f0dbac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hyperlink" Target="https://lujunwen212.github.io/CP3405-Projec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4.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28.png"/><Relationship Id="rId8"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3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25.png"/><Relationship Id="rId6" Type="http://schemas.openxmlformats.org/officeDocument/2006/relationships/image" Target="../media/image27.png"/><Relationship Id="rId7"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hyperlink" Target="https://github.com/LuJunwen212/CP3405-Projec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53" name="Shape 53"/>
        <p:cNvGrpSpPr/>
        <p:nvPr/>
      </p:nvGrpSpPr>
      <p:grpSpPr>
        <a:xfrm>
          <a:off x="0" y="0"/>
          <a:ext cx="0" cy="0"/>
          <a:chOff x="0" y="0"/>
          <a:chExt cx="0" cy="0"/>
        </a:xfrm>
      </p:grpSpPr>
      <p:sp>
        <p:nvSpPr>
          <p:cNvPr id="54" name="Google Shape;54;p13"/>
          <p:cNvSpPr/>
          <p:nvPr/>
        </p:nvSpPr>
        <p:spPr>
          <a:xfrm>
            <a:off x="0" y="0"/>
            <a:ext cx="9144000" cy="1098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 name="Google Shape;55;p13"/>
          <p:cNvSpPr/>
          <p:nvPr/>
        </p:nvSpPr>
        <p:spPr>
          <a:xfrm>
            <a:off x="0" y="5010912"/>
            <a:ext cx="9144000" cy="1371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 name="Google Shape;56;p13"/>
          <p:cNvSpPr txBox="1"/>
          <p:nvPr/>
        </p:nvSpPr>
        <p:spPr>
          <a:xfrm>
            <a:off x="621811" y="1079000"/>
            <a:ext cx="3037500" cy="400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2000">
                <a:solidFill>
                  <a:srgbClr val="00B8A9"/>
                </a:solidFill>
                <a:latin typeface="Arial"/>
                <a:ea typeface="Arial"/>
                <a:cs typeface="Arial"/>
                <a:sym typeface="Arial"/>
              </a:rPr>
              <a:t>CP3405 TR2 2026 </a:t>
            </a:r>
            <a:endParaRPr b="1" sz="2000">
              <a:solidFill>
                <a:srgbClr val="00B8A9"/>
              </a:solidFill>
              <a:latin typeface="Arial"/>
              <a:ea typeface="Arial"/>
              <a:cs typeface="Arial"/>
              <a:sym typeface="Arial"/>
            </a:endParaRPr>
          </a:p>
        </p:txBody>
      </p:sp>
      <p:sp>
        <p:nvSpPr>
          <p:cNvPr id="57" name="Google Shape;57;p13"/>
          <p:cNvSpPr txBox="1"/>
          <p:nvPr/>
        </p:nvSpPr>
        <p:spPr>
          <a:xfrm>
            <a:off x="566928" y="1408176"/>
            <a:ext cx="1568700" cy="554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3000">
                <a:solidFill>
                  <a:srgbClr val="FFFFFF"/>
                </a:solidFill>
                <a:latin typeface="Arial"/>
                <a:ea typeface="Arial"/>
                <a:cs typeface="Arial"/>
                <a:sym typeface="Arial"/>
              </a:rPr>
              <a:t>Group 2</a:t>
            </a:r>
            <a:endParaRPr b="1" sz="3000">
              <a:solidFill>
                <a:srgbClr val="FFFFFF"/>
              </a:solidFill>
              <a:latin typeface="Arial"/>
              <a:ea typeface="Arial"/>
              <a:cs typeface="Arial"/>
              <a:sym typeface="Arial"/>
            </a:endParaRPr>
          </a:p>
        </p:txBody>
      </p:sp>
      <p:sp>
        <p:nvSpPr>
          <p:cNvPr id="58" name="Google Shape;58;p13"/>
          <p:cNvSpPr txBox="1"/>
          <p:nvPr/>
        </p:nvSpPr>
        <p:spPr>
          <a:xfrm>
            <a:off x="603497" y="2029975"/>
            <a:ext cx="1344000" cy="323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lang="zh-CN" sz="1500">
                <a:solidFill>
                  <a:srgbClr val="C8D4E3"/>
                </a:solidFill>
                <a:latin typeface="Arial"/>
                <a:ea typeface="Arial"/>
                <a:cs typeface="Arial"/>
                <a:sym typeface="Arial"/>
              </a:rPr>
              <a:t>Sprint </a:t>
            </a:r>
            <a:r>
              <a:rPr lang="zh-CN" sz="1500">
                <a:solidFill>
                  <a:srgbClr val="C8D4E3"/>
                </a:solidFill>
              </a:rPr>
              <a:t>9</a:t>
            </a:r>
            <a:r>
              <a:rPr lang="zh-CN" sz="1500">
                <a:solidFill>
                  <a:srgbClr val="C8D4E3"/>
                </a:solidFill>
              </a:rPr>
              <a:t> - W31</a:t>
            </a:r>
            <a:r>
              <a:rPr b="0" lang="zh-CN" sz="1500">
                <a:solidFill>
                  <a:srgbClr val="C8D4E3"/>
                </a:solidFill>
                <a:latin typeface="Arial"/>
                <a:ea typeface="Arial"/>
                <a:cs typeface="Arial"/>
                <a:sym typeface="Arial"/>
              </a:rPr>
              <a:t> </a:t>
            </a:r>
            <a:endParaRPr b="0" sz="1500">
              <a:solidFill>
                <a:srgbClr val="C8D4E3"/>
              </a:solidFill>
              <a:latin typeface="Arial"/>
              <a:ea typeface="Arial"/>
              <a:cs typeface="Arial"/>
              <a:sym typeface="Arial"/>
            </a:endParaRPr>
          </a:p>
        </p:txBody>
      </p:sp>
      <p:sp>
        <p:nvSpPr>
          <p:cNvPr id="59" name="Google Shape;59;p13"/>
          <p:cNvSpPr/>
          <p:nvPr/>
        </p:nvSpPr>
        <p:spPr>
          <a:xfrm>
            <a:off x="621792" y="2642616"/>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Guanyu Lu</a:t>
            </a:r>
            <a:endParaRPr sz="1200">
              <a:solidFill>
                <a:schemeClr val="lt1"/>
              </a:solidFill>
              <a:latin typeface="Arial"/>
              <a:ea typeface="Arial"/>
              <a:cs typeface="Arial"/>
              <a:sym typeface="Arial"/>
            </a:endParaRPr>
          </a:p>
        </p:txBody>
      </p:sp>
      <p:sp>
        <p:nvSpPr>
          <p:cNvPr id="60" name="Google Shape;60;p13"/>
          <p:cNvSpPr/>
          <p:nvPr/>
        </p:nvSpPr>
        <p:spPr>
          <a:xfrm>
            <a:off x="4553702" y="3435854"/>
            <a:ext cx="1783200" cy="210300"/>
          </a:xfrm>
          <a:prstGeom prst="roundRect">
            <a:avLst>
              <a:gd fmla="val 16667" name="adj"/>
            </a:avLst>
          </a:prstGeom>
          <a:solidFill>
            <a:srgbClr val="A64D79"/>
          </a:solidFill>
          <a:ln cap="flat" cmpd="sng" w="12700">
            <a:solidFill>
              <a:srgbClr val="A64D7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Swan Htet Zaw</a:t>
            </a:r>
            <a:endParaRPr sz="1200">
              <a:solidFill>
                <a:schemeClr val="lt1"/>
              </a:solidFill>
              <a:latin typeface="Arial"/>
              <a:ea typeface="Arial"/>
              <a:cs typeface="Arial"/>
              <a:sym typeface="Arial"/>
            </a:endParaRPr>
          </a:p>
        </p:txBody>
      </p:sp>
      <p:sp>
        <p:nvSpPr>
          <p:cNvPr id="61" name="Google Shape;61;p13"/>
          <p:cNvSpPr/>
          <p:nvPr/>
        </p:nvSpPr>
        <p:spPr>
          <a:xfrm>
            <a:off x="4553712" y="3044941"/>
            <a:ext cx="1783200" cy="210300"/>
          </a:xfrm>
          <a:prstGeom prst="roundRect">
            <a:avLst>
              <a:gd fmla="val 16667" name="adj"/>
            </a:avLst>
          </a:prstGeom>
          <a:solidFill>
            <a:srgbClr val="2878E2"/>
          </a:solidFill>
          <a:ln cap="flat" cmpd="sng" w="12700">
            <a:solidFill>
              <a:srgbClr val="2878E2"/>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Hu Wenhan</a:t>
            </a:r>
            <a:endParaRPr sz="1200">
              <a:solidFill>
                <a:schemeClr val="lt1"/>
              </a:solidFill>
              <a:latin typeface="Arial"/>
              <a:ea typeface="Arial"/>
              <a:cs typeface="Arial"/>
              <a:sym typeface="Arial"/>
            </a:endParaRPr>
          </a:p>
        </p:txBody>
      </p:sp>
      <p:sp>
        <p:nvSpPr>
          <p:cNvPr id="62" name="Google Shape;62;p13"/>
          <p:cNvSpPr/>
          <p:nvPr/>
        </p:nvSpPr>
        <p:spPr>
          <a:xfrm>
            <a:off x="621792" y="3044952"/>
            <a:ext cx="1783200" cy="210300"/>
          </a:xfrm>
          <a:prstGeom prst="roundRect">
            <a:avLst>
              <a:gd fmla="val 16667" name="adj"/>
            </a:avLst>
          </a:prstGeom>
          <a:solidFill>
            <a:srgbClr val="00B8A9"/>
          </a:solidFill>
          <a:ln cap="flat" cmpd="sng" w="12700">
            <a:solidFill>
              <a:srgbClr val="00B8A9"/>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Hamzah Nutt</a:t>
            </a:r>
            <a:endParaRPr sz="1200">
              <a:solidFill>
                <a:schemeClr val="lt1"/>
              </a:solidFill>
              <a:latin typeface="Arial"/>
              <a:ea typeface="Arial"/>
              <a:cs typeface="Arial"/>
              <a:sym typeface="Arial"/>
            </a:endParaRPr>
          </a:p>
        </p:txBody>
      </p:sp>
      <p:sp>
        <p:nvSpPr>
          <p:cNvPr id="63" name="Google Shape;63;p13"/>
          <p:cNvSpPr/>
          <p:nvPr/>
        </p:nvSpPr>
        <p:spPr>
          <a:xfrm>
            <a:off x="4553702" y="2642602"/>
            <a:ext cx="1783200" cy="210300"/>
          </a:xfrm>
          <a:prstGeom prst="roundRect">
            <a:avLst>
              <a:gd fmla="val 16667" name="adj"/>
            </a:avLst>
          </a:prstGeom>
          <a:solidFill>
            <a:srgbClr val="7C4DFF"/>
          </a:solidFill>
          <a:ln cap="flat" cmpd="sng" w="12700">
            <a:solidFill>
              <a:srgbClr val="7C4D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Zheng Zaikun</a:t>
            </a:r>
            <a:endParaRPr sz="1200">
              <a:solidFill>
                <a:schemeClr val="lt1"/>
              </a:solidFill>
              <a:latin typeface="Arial"/>
              <a:ea typeface="Arial"/>
              <a:cs typeface="Arial"/>
              <a:sym typeface="Arial"/>
            </a:endParaRPr>
          </a:p>
        </p:txBody>
      </p:sp>
      <p:sp>
        <p:nvSpPr>
          <p:cNvPr id="64" name="Google Shape;64;p13"/>
          <p:cNvSpPr/>
          <p:nvPr/>
        </p:nvSpPr>
        <p:spPr>
          <a:xfrm>
            <a:off x="621812" y="3826765"/>
            <a:ext cx="1783200" cy="210300"/>
          </a:xfrm>
          <a:prstGeom prst="roundRect">
            <a:avLst>
              <a:gd fmla="val 16667" name="adj"/>
            </a:avLst>
          </a:prstGeom>
          <a:solidFill>
            <a:srgbClr val="45818E"/>
          </a:solidFill>
          <a:ln cap="flat" cmpd="sng" w="12700">
            <a:solidFill>
              <a:srgbClr val="45818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Junwen Lu</a:t>
            </a:r>
            <a:endParaRPr sz="1200">
              <a:solidFill>
                <a:schemeClr val="lt1"/>
              </a:solidFill>
              <a:latin typeface="Arial"/>
              <a:ea typeface="Arial"/>
              <a:cs typeface="Arial"/>
              <a:sym typeface="Arial"/>
            </a:endParaRPr>
          </a:p>
        </p:txBody>
      </p:sp>
      <p:sp>
        <p:nvSpPr>
          <p:cNvPr id="65" name="Google Shape;65;p13"/>
          <p:cNvSpPr/>
          <p:nvPr/>
        </p:nvSpPr>
        <p:spPr>
          <a:xfrm>
            <a:off x="2587742" y="3043801"/>
            <a:ext cx="1783200" cy="210300"/>
          </a:xfrm>
          <a:prstGeom prst="roundRect">
            <a:avLst>
              <a:gd fmla="val 16667" name="adj"/>
            </a:avLst>
          </a:prstGeom>
          <a:solidFill>
            <a:srgbClr val="F2B84B"/>
          </a:solidFill>
          <a:ln cap="flat" cmpd="sng" w="12700">
            <a:solidFill>
              <a:srgbClr val="F2B84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The Bao Le</a:t>
            </a:r>
            <a:endParaRPr sz="1200">
              <a:solidFill>
                <a:schemeClr val="lt1"/>
              </a:solidFill>
              <a:latin typeface="Arial"/>
              <a:ea typeface="Arial"/>
              <a:cs typeface="Arial"/>
              <a:sym typeface="Arial"/>
            </a:endParaRPr>
          </a:p>
        </p:txBody>
      </p:sp>
      <p:sp>
        <p:nvSpPr>
          <p:cNvPr id="66" name="Google Shape;66;p13"/>
          <p:cNvSpPr/>
          <p:nvPr/>
        </p:nvSpPr>
        <p:spPr>
          <a:xfrm>
            <a:off x="2587752" y="2642613"/>
            <a:ext cx="1783200" cy="210300"/>
          </a:xfrm>
          <a:prstGeom prst="roundRect">
            <a:avLst>
              <a:gd fmla="val 16667" name="adj"/>
            </a:avLst>
          </a:prstGeom>
          <a:solidFill>
            <a:srgbClr val="D64545"/>
          </a:solidFill>
          <a:ln cap="flat" cmpd="sng" w="12700">
            <a:solidFill>
              <a:srgbClr val="D64545"/>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Qinyang Wu</a:t>
            </a:r>
            <a:endParaRPr sz="1200">
              <a:solidFill>
                <a:schemeClr val="lt1"/>
              </a:solidFill>
              <a:latin typeface="Arial"/>
              <a:ea typeface="Arial"/>
              <a:cs typeface="Arial"/>
              <a:sym typeface="Arial"/>
            </a:endParaRPr>
          </a:p>
        </p:txBody>
      </p:sp>
      <p:sp>
        <p:nvSpPr>
          <p:cNvPr id="67" name="Google Shape;67;p13"/>
          <p:cNvSpPr/>
          <p:nvPr/>
        </p:nvSpPr>
        <p:spPr>
          <a:xfrm>
            <a:off x="2587762" y="3435275"/>
            <a:ext cx="1783200" cy="210300"/>
          </a:xfrm>
          <a:prstGeom prst="roundRect">
            <a:avLst>
              <a:gd fmla="val 16667" name="adj"/>
            </a:avLst>
          </a:prstGeom>
          <a:solidFill>
            <a:srgbClr val="5C6CFF"/>
          </a:solidFill>
          <a:ln cap="flat" cmpd="sng" w="12700">
            <a:solidFill>
              <a:srgbClr val="5C6CFF"/>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Kan Yijie</a:t>
            </a:r>
            <a:endParaRPr sz="1200">
              <a:solidFill>
                <a:schemeClr val="lt1"/>
              </a:solidFill>
              <a:latin typeface="Arial"/>
              <a:ea typeface="Arial"/>
              <a:cs typeface="Arial"/>
              <a:sym typeface="Arial"/>
            </a:endParaRPr>
          </a:p>
        </p:txBody>
      </p:sp>
      <p:sp>
        <p:nvSpPr>
          <p:cNvPr id="68" name="Google Shape;68;p13"/>
          <p:cNvSpPr/>
          <p:nvPr/>
        </p:nvSpPr>
        <p:spPr>
          <a:xfrm>
            <a:off x="621792" y="3435852"/>
            <a:ext cx="1783200" cy="210300"/>
          </a:xfrm>
          <a:prstGeom prst="roundRect">
            <a:avLst>
              <a:gd fmla="val 16667" name="adj"/>
            </a:avLst>
          </a:prstGeom>
          <a:solidFill>
            <a:srgbClr val="2FB344"/>
          </a:solidFill>
          <a:ln cap="flat" cmpd="sng" w="12700">
            <a:solidFill>
              <a:srgbClr val="2FB344"/>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lang="zh-CN" sz="1200">
                <a:solidFill>
                  <a:schemeClr val="lt1"/>
                </a:solidFill>
              </a:rPr>
              <a:t>Yuchu Lin</a:t>
            </a:r>
            <a:endParaRPr sz="1200">
              <a:solidFill>
                <a:schemeClr val="lt1"/>
              </a:solidFill>
              <a:latin typeface="Arial"/>
              <a:ea typeface="Arial"/>
              <a:cs typeface="Arial"/>
              <a:sym typeface="Arial"/>
            </a:endParaRPr>
          </a:p>
        </p:txBody>
      </p:sp>
      <p:sp>
        <p:nvSpPr>
          <p:cNvPr id="69" name="Google Shape;69;p13"/>
          <p:cNvSpPr/>
          <p:nvPr/>
        </p:nvSpPr>
        <p:spPr>
          <a:xfrm>
            <a:off x="2587752" y="3826752"/>
            <a:ext cx="1783200" cy="210300"/>
          </a:xfrm>
          <a:prstGeom prst="roundRect">
            <a:avLst>
              <a:gd fmla="val 16667" name="adj"/>
            </a:avLst>
          </a:prstGeom>
          <a:solidFill>
            <a:srgbClr val="F07C3E"/>
          </a:solidFill>
          <a:ln cap="flat" cmpd="sng" w="12700">
            <a:solidFill>
              <a:srgbClr val="F07C3E"/>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ctr">
              <a:spcBef>
                <a:spcPts val="0"/>
              </a:spcBef>
              <a:spcAft>
                <a:spcPts val="0"/>
              </a:spcAft>
              <a:buNone/>
            </a:pPr>
            <a:r>
              <a:rPr lang="zh-CN" sz="1200">
                <a:solidFill>
                  <a:schemeClr val="lt1"/>
                </a:solidFill>
              </a:rPr>
              <a:t>Wang Hao</a:t>
            </a:r>
            <a:endParaRPr sz="1200">
              <a:solidFill>
                <a:schemeClr val="lt1"/>
              </a:solidFill>
            </a:endParaRPr>
          </a:p>
        </p:txBody>
      </p:sp>
      <p:grpSp>
        <p:nvGrpSpPr>
          <p:cNvPr id="70" name="Google Shape;70;p13"/>
          <p:cNvGrpSpPr/>
          <p:nvPr/>
        </p:nvGrpSpPr>
        <p:grpSpPr>
          <a:xfrm>
            <a:off x="6931235" y="388848"/>
            <a:ext cx="1986795" cy="1019329"/>
            <a:chOff x="6392111" y="726475"/>
            <a:chExt cx="2408529" cy="1235700"/>
          </a:xfrm>
        </p:grpSpPr>
        <p:sp>
          <p:nvSpPr>
            <p:cNvPr id="71" name="Google Shape;71;p13"/>
            <p:cNvSpPr/>
            <p:nvPr/>
          </p:nvSpPr>
          <p:spPr>
            <a:xfrm>
              <a:off x="6392175" y="726475"/>
              <a:ext cx="2408400" cy="1235700"/>
            </a:xfrm>
            <a:prstGeom prst="roundRect">
              <a:avLst>
                <a:gd fmla="val 16667" name="adj"/>
              </a:avLst>
            </a:prstGeom>
            <a:solidFill>
              <a:srgbClr val="F4F8FC"/>
            </a:solidFill>
            <a:ln cap="flat" cmpd="sng" w="7850">
              <a:solidFill>
                <a:schemeClr val="dk2"/>
              </a:solidFill>
              <a:prstDash val="solid"/>
              <a:round/>
              <a:headEnd len="sm" w="sm" type="none"/>
              <a:tailEnd len="sm" w="sm" type="none"/>
            </a:ln>
          </p:spPr>
          <p:txBody>
            <a:bodyPr anchorCtr="0" anchor="ctr" bIns="75425" lIns="75425" spcFirstLastPara="1" rIns="75425" wrap="square" tIns="75425">
              <a:noAutofit/>
            </a:bodyPr>
            <a:lstStyle/>
            <a:p>
              <a:pPr indent="0" lvl="0" marL="0" rtl="0" algn="ctr">
                <a:spcBef>
                  <a:spcPts val="0"/>
                </a:spcBef>
                <a:spcAft>
                  <a:spcPts val="0"/>
                </a:spcAft>
                <a:buNone/>
              </a:pPr>
              <a:r>
                <a:t/>
              </a:r>
              <a:endParaRPr sz="1155">
                <a:latin typeface="Calibri"/>
                <a:ea typeface="Calibri"/>
                <a:cs typeface="Calibri"/>
                <a:sym typeface="Calibri"/>
              </a:endParaRPr>
            </a:p>
          </p:txBody>
        </p:sp>
        <p:pic>
          <p:nvPicPr>
            <p:cNvPr id="72" name="Google Shape;72;p13" title="JCU-SINGAPORE-Logo-Horizontal-CMYK-768x394-1.png"/>
            <p:cNvPicPr preferRelativeResize="0"/>
            <p:nvPr/>
          </p:nvPicPr>
          <p:blipFill>
            <a:blip r:embed="rId3">
              <a:alphaModFix/>
            </a:blip>
            <a:stretch>
              <a:fillRect/>
            </a:stretch>
          </p:blipFill>
          <p:spPr>
            <a:xfrm>
              <a:off x="6392111" y="726514"/>
              <a:ext cx="2408529" cy="123562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76" name="Shape 76"/>
        <p:cNvGrpSpPr/>
        <p:nvPr/>
      </p:nvGrpSpPr>
      <p:grpSpPr>
        <a:xfrm>
          <a:off x="0" y="0"/>
          <a:ext cx="0" cy="0"/>
          <a:chOff x="0" y="0"/>
          <a:chExt cx="0" cy="0"/>
        </a:xfrm>
      </p:grpSpPr>
      <p:sp>
        <p:nvSpPr>
          <p:cNvPr id="77" name="Google Shape;77;p1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 name="Google Shape;78;p14"/>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1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sp>
        <p:nvSpPr>
          <p:cNvPr id="80" name="Google Shape;80;p14"/>
          <p:cNvSpPr/>
          <p:nvPr/>
        </p:nvSpPr>
        <p:spPr>
          <a:xfrm>
            <a:off x="6907827" y="775381"/>
            <a:ext cx="2109600" cy="315600"/>
          </a:xfrm>
          <a:prstGeom prst="roundRect">
            <a:avLst>
              <a:gd fmla="val 21053" name="adj"/>
            </a:avLst>
          </a:prstGeom>
          <a:solidFill>
            <a:srgbClr val="2B7A55"/>
          </a:solidFill>
          <a:ln cap="flat" cmpd="sng" w="7875">
            <a:solidFill>
              <a:srgbClr val="2B7A55">
                <a:alpha val="0"/>
              </a:srgbClr>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995"/>
              <a:buFont typeface="Arial"/>
              <a:buNone/>
            </a:pPr>
            <a:r>
              <a:rPr b="1" lang="zh-CN" sz="995">
                <a:solidFill>
                  <a:srgbClr val="FFFFFF"/>
                </a:solidFill>
                <a:latin typeface="Arial"/>
                <a:ea typeface="Arial"/>
                <a:cs typeface="Arial"/>
                <a:sym typeface="Arial"/>
              </a:rPr>
              <a:t>Wednesday test passed</a:t>
            </a:r>
            <a:endParaRPr sz="995">
              <a:solidFill>
                <a:srgbClr val="000000"/>
              </a:solidFill>
              <a:latin typeface="Arial"/>
              <a:ea typeface="Arial"/>
              <a:cs typeface="Arial"/>
              <a:sym typeface="Arial"/>
            </a:endParaRPr>
          </a:p>
        </p:txBody>
      </p:sp>
      <p:sp>
        <p:nvSpPr>
          <p:cNvPr id="81" name="Google Shape;81;p14"/>
          <p:cNvSpPr/>
          <p:nvPr/>
        </p:nvSpPr>
        <p:spPr>
          <a:xfrm>
            <a:off x="576925" y="775363"/>
            <a:ext cx="5966100" cy="373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2321"/>
              <a:buFont typeface="Play"/>
              <a:buNone/>
            </a:pPr>
            <a:r>
              <a:rPr b="1" lang="zh-CN" sz="2321">
                <a:solidFill>
                  <a:srgbClr val="172033"/>
                </a:solidFill>
              </a:rPr>
              <a:t>Sprint control: surface risk before Sunday</a:t>
            </a:r>
            <a:endParaRPr sz="2321">
              <a:solidFill>
                <a:srgbClr val="000000"/>
              </a:solidFill>
            </a:endParaRPr>
          </a:p>
        </p:txBody>
      </p:sp>
      <p:sp>
        <p:nvSpPr>
          <p:cNvPr id="82" name="Google Shape;82;p14"/>
          <p:cNvSpPr/>
          <p:nvPr/>
        </p:nvSpPr>
        <p:spPr>
          <a:xfrm>
            <a:off x="3876891" y="1552451"/>
            <a:ext cx="1917900" cy="19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C99"/>
              </a:buClr>
              <a:buSzPts val="870"/>
              <a:buFont typeface="Arial"/>
              <a:buNone/>
            </a:pPr>
            <a:r>
              <a:rPr b="1" lang="zh-CN" sz="870">
                <a:solidFill>
                  <a:srgbClr val="2F5C99"/>
                </a:solidFill>
                <a:latin typeface="Arial"/>
                <a:ea typeface="Arial"/>
                <a:cs typeface="Arial"/>
                <a:sym typeface="Arial"/>
              </a:rPr>
              <a:t>EVIDENCE</a:t>
            </a:r>
            <a:endParaRPr sz="870">
              <a:solidFill>
                <a:srgbClr val="000000"/>
              </a:solidFill>
              <a:latin typeface="Arial"/>
              <a:ea typeface="Arial"/>
              <a:cs typeface="Arial"/>
              <a:sym typeface="Arial"/>
            </a:endParaRPr>
          </a:p>
        </p:txBody>
      </p:sp>
      <p:sp>
        <p:nvSpPr>
          <p:cNvPr id="83" name="Google Shape;83;p14"/>
          <p:cNvSpPr/>
          <p:nvPr/>
        </p:nvSpPr>
        <p:spPr>
          <a:xfrm>
            <a:off x="3876900" y="1818150"/>
            <a:ext cx="2012700" cy="49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1243"/>
              <a:buFont typeface="Arial"/>
              <a:buNone/>
            </a:pPr>
            <a:r>
              <a:rPr lang="zh-CN" sz="1243">
                <a:solidFill>
                  <a:srgbClr val="172033"/>
                </a:solidFill>
                <a:latin typeface="Arial"/>
                <a:ea typeface="Arial"/>
                <a:cs typeface="Arial"/>
                <a:sym typeface="Arial"/>
              </a:rPr>
              <a:t>standup_midweek_W</a:t>
            </a:r>
            <a:r>
              <a:rPr lang="zh-CN" sz="1243">
                <a:solidFill>
                  <a:srgbClr val="172033"/>
                </a:solidFill>
              </a:rPr>
              <a:t>31</a:t>
            </a:r>
            <a:r>
              <a:rPr lang="zh-CN" sz="1243">
                <a:solidFill>
                  <a:srgbClr val="172033"/>
                </a:solidFill>
                <a:latin typeface="Arial"/>
                <a:ea typeface="Arial"/>
                <a:cs typeface="Arial"/>
                <a:sym typeface="Arial"/>
              </a:rPr>
              <a:t>.md</a:t>
            </a:r>
            <a:endParaRPr sz="1243">
              <a:solidFill>
                <a:srgbClr val="000000"/>
              </a:solidFill>
              <a:latin typeface="Arial"/>
              <a:ea typeface="Arial"/>
              <a:cs typeface="Arial"/>
              <a:sym typeface="Arial"/>
            </a:endParaRPr>
          </a:p>
          <a:p>
            <a:pPr indent="0" lvl="0" marL="0" marR="0" rtl="0" algn="l">
              <a:spcBef>
                <a:spcPts val="0"/>
              </a:spcBef>
              <a:spcAft>
                <a:spcPts val="0"/>
              </a:spcAft>
              <a:buClr>
                <a:srgbClr val="172033"/>
              </a:buClr>
              <a:buSzPts val="1243"/>
              <a:buFont typeface="Arial"/>
              <a:buNone/>
            </a:pPr>
            <a:r>
              <a:rPr lang="zh-CN" sz="1243">
                <a:solidFill>
                  <a:srgbClr val="172033"/>
                </a:solidFill>
                <a:latin typeface="Arial"/>
                <a:ea typeface="Arial"/>
                <a:cs typeface="Arial"/>
                <a:sym typeface="Arial"/>
              </a:rPr>
              <a:t>committed by Wednesday</a:t>
            </a:r>
            <a:endParaRPr sz="1243">
              <a:solidFill>
                <a:srgbClr val="000000"/>
              </a:solidFill>
              <a:latin typeface="Arial"/>
              <a:ea typeface="Arial"/>
              <a:cs typeface="Arial"/>
              <a:sym typeface="Arial"/>
            </a:endParaRPr>
          </a:p>
        </p:txBody>
      </p:sp>
      <p:sp>
        <p:nvSpPr>
          <p:cNvPr id="84" name="Google Shape;84;p14"/>
          <p:cNvSpPr/>
          <p:nvPr/>
        </p:nvSpPr>
        <p:spPr>
          <a:xfrm>
            <a:off x="6150146" y="1552451"/>
            <a:ext cx="2493300" cy="199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5C99"/>
              </a:buClr>
              <a:buSzPts val="870"/>
              <a:buFont typeface="Arial"/>
              <a:buNone/>
            </a:pPr>
            <a:r>
              <a:rPr b="1" lang="zh-CN" sz="870">
                <a:solidFill>
                  <a:srgbClr val="2F5C99"/>
                </a:solidFill>
                <a:latin typeface="Arial"/>
                <a:ea typeface="Arial"/>
                <a:cs typeface="Arial"/>
                <a:sym typeface="Arial"/>
              </a:rPr>
              <a:t>SCRUM RESULT</a:t>
            </a:r>
            <a:endParaRPr sz="870">
              <a:solidFill>
                <a:srgbClr val="000000"/>
              </a:solidFill>
              <a:latin typeface="Arial"/>
              <a:ea typeface="Arial"/>
              <a:cs typeface="Arial"/>
              <a:sym typeface="Arial"/>
            </a:endParaRPr>
          </a:p>
        </p:txBody>
      </p:sp>
      <p:sp>
        <p:nvSpPr>
          <p:cNvPr id="85" name="Google Shape;85;p14"/>
          <p:cNvSpPr/>
          <p:nvPr/>
        </p:nvSpPr>
        <p:spPr>
          <a:xfrm>
            <a:off x="6150146" y="1818142"/>
            <a:ext cx="2493300" cy="498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1243"/>
              <a:buFont typeface="Arial"/>
              <a:buNone/>
            </a:pPr>
            <a:r>
              <a:rPr lang="zh-CN" sz="1243">
                <a:solidFill>
                  <a:srgbClr val="172033"/>
                </a:solidFill>
              </a:rPr>
              <a:t>R</a:t>
            </a:r>
            <a:r>
              <a:rPr lang="zh-CN" sz="1243">
                <a:solidFill>
                  <a:srgbClr val="172033"/>
                </a:solidFill>
                <a:latin typeface="Arial"/>
                <a:ea typeface="Arial"/>
                <a:cs typeface="Arial"/>
                <a:sym typeface="Arial"/>
              </a:rPr>
              <a:t>isks identified early; recovery task assigned before release day</a:t>
            </a:r>
            <a:endParaRPr sz="1243">
              <a:solidFill>
                <a:srgbClr val="000000"/>
              </a:solidFill>
              <a:latin typeface="Arial"/>
              <a:ea typeface="Arial"/>
              <a:cs typeface="Arial"/>
              <a:sym typeface="Arial"/>
            </a:endParaRPr>
          </a:p>
        </p:txBody>
      </p:sp>
      <p:sp>
        <p:nvSpPr>
          <p:cNvPr id="86" name="Google Shape;86;p14"/>
          <p:cNvSpPr/>
          <p:nvPr/>
        </p:nvSpPr>
        <p:spPr>
          <a:xfrm>
            <a:off x="278450" y="1149174"/>
            <a:ext cx="2588700" cy="1368600"/>
          </a:xfrm>
          <a:prstGeom prst="roundRect">
            <a:avLst>
              <a:gd fmla="val 16667"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rtl="0" algn="l">
              <a:spcBef>
                <a:spcPts val="0"/>
              </a:spcBef>
              <a:spcAft>
                <a:spcPts val="0"/>
              </a:spcAft>
              <a:buClr>
                <a:srgbClr val="000000"/>
              </a:buClr>
              <a:buSzPts val="1100"/>
              <a:buFont typeface="Arial"/>
              <a:buNone/>
            </a:pPr>
            <a:r>
              <a:rPr lang="zh-CN" sz="1800">
                <a:solidFill>
                  <a:srgbClr val="000000"/>
                </a:solidFill>
                <a:latin typeface="Calibri"/>
                <a:ea typeface="Calibri"/>
                <a:cs typeface="Calibri"/>
                <a:sym typeface="Calibri"/>
              </a:rPr>
              <a:t>Mid-week check-in committed, 2-minute segment  and every role status was tracked with next actions.</a:t>
            </a:r>
            <a:endParaRPr sz="1800">
              <a:solidFill>
                <a:srgbClr val="000000"/>
              </a:solidFill>
              <a:latin typeface="Calibri"/>
              <a:ea typeface="Calibri"/>
              <a:cs typeface="Calibri"/>
              <a:sym typeface="Calibri"/>
            </a:endParaRPr>
          </a:p>
        </p:txBody>
      </p:sp>
      <p:pic>
        <p:nvPicPr>
          <p:cNvPr id="87" name="Google Shape;87;p14"/>
          <p:cNvPicPr preferRelativeResize="0"/>
          <p:nvPr/>
        </p:nvPicPr>
        <p:blipFill>
          <a:blip r:embed="rId3">
            <a:alphaModFix/>
          </a:blip>
          <a:stretch>
            <a:fillRect/>
          </a:stretch>
        </p:blipFill>
        <p:spPr>
          <a:xfrm>
            <a:off x="0" y="2611942"/>
            <a:ext cx="9144003" cy="2531567"/>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91" name="Shape 91"/>
        <p:cNvGrpSpPr/>
        <p:nvPr/>
      </p:nvGrpSpPr>
      <p:grpSpPr>
        <a:xfrm>
          <a:off x="0" y="0"/>
          <a:ext cx="0" cy="0"/>
          <a:chOff x="0" y="0"/>
          <a:chExt cx="0" cy="0"/>
        </a:xfrm>
      </p:grpSpPr>
      <p:sp>
        <p:nvSpPr>
          <p:cNvPr id="92" name="Google Shape;92;p1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 name="Google Shape;93;p15"/>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 name="Google Shape;94;p1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cxnSp>
        <p:nvCxnSpPr>
          <p:cNvPr id="95" name="Google Shape;95;p15"/>
          <p:cNvCxnSpPr/>
          <p:nvPr/>
        </p:nvCxnSpPr>
        <p:spPr>
          <a:xfrm>
            <a:off x="316194" y="4684930"/>
            <a:ext cx="6580800" cy="0"/>
          </a:xfrm>
          <a:prstGeom prst="straightConnector1">
            <a:avLst/>
          </a:prstGeom>
          <a:noFill/>
          <a:ln cap="flat" cmpd="sng" w="14750">
            <a:solidFill>
              <a:srgbClr val="071A33">
                <a:alpha val="74900"/>
              </a:srgbClr>
            </a:solidFill>
            <a:prstDash val="solid"/>
            <a:round/>
            <a:headEnd len="sm" w="sm" type="none"/>
            <a:tailEnd len="med" w="med" type="triangle"/>
          </a:ln>
        </p:spPr>
      </p:cxnSp>
      <p:sp>
        <p:nvSpPr>
          <p:cNvPr id="96" name="Google Shape;96;p15"/>
          <p:cNvSpPr/>
          <p:nvPr/>
        </p:nvSpPr>
        <p:spPr>
          <a:xfrm>
            <a:off x="150195" y="446992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Mon</a:t>
            </a:r>
            <a:endParaRPr sz="870">
              <a:solidFill>
                <a:srgbClr val="000000"/>
              </a:solidFill>
              <a:latin typeface="Arial"/>
              <a:ea typeface="Arial"/>
              <a:cs typeface="Arial"/>
              <a:sym typeface="Arial"/>
            </a:endParaRPr>
          </a:p>
        </p:txBody>
      </p:sp>
      <p:sp>
        <p:nvSpPr>
          <p:cNvPr id="97" name="Google Shape;97;p15"/>
          <p:cNvSpPr/>
          <p:nvPr/>
        </p:nvSpPr>
        <p:spPr>
          <a:xfrm>
            <a:off x="0" y="4891976"/>
            <a:ext cx="7410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latin typeface="Arial"/>
                <a:ea typeface="Arial"/>
                <a:cs typeface="Arial"/>
                <a:sym typeface="Arial"/>
              </a:rPr>
              <a:t>Planning</a:t>
            </a:r>
            <a:endParaRPr sz="870">
              <a:solidFill>
                <a:srgbClr val="000000"/>
              </a:solidFill>
              <a:latin typeface="Arial"/>
              <a:ea typeface="Arial"/>
              <a:cs typeface="Arial"/>
              <a:sym typeface="Arial"/>
            </a:endParaRPr>
          </a:p>
        </p:txBody>
      </p:sp>
      <p:sp>
        <p:nvSpPr>
          <p:cNvPr id="98" name="Google Shape;98;p15"/>
          <p:cNvSpPr/>
          <p:nvPr/>
        </p:nvSpPr>
        <p:spPr>
          <a:xfrm>
            <a:off x="989279" y="4493975"/>
            <a:ext cx="743400" cy="381900"/>
          </a:xfrm>
          <a:prstGeom prst="roundRect">
            <a:avLst>
              <a:gd fmla="val 17391" name="adj"/>
            </a:avLst>
          </a:prstGeom>
          <a:solidFill>
            <a:schemeClr val="dk1"/>
          </a:solidFill>
          <a:ln cap="flat" cmpd="sng" w="7875">
            <a:solidFill>
              <a:schemeClr val="dk1"/>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Tue–Wed</a:t>
            </a:r>
            <a:endParaRPr sz="870">
              <a:solidFill>
                <a:srgbClr val="000000"/>
              </a:solidFill>
              <a:latin typeface="Arial"/>
              <a:ea typeface="Arial"/>
              <a:cs typeface="Arial"/>
              <a:sym typeface="Arial"/>
            </a:endParaRPr>
          </a:p>
        </p:txBody>
      </p:sp>
      <p:sp>
        <p:nvSpPr>
          <p:cNvPr id="99" name="Google Shape;99;p15"/>
          <p:cNvSpPr/>
          <p:nvPr/>
        </p:nvSpPr>
        <p:spPr>
          <a:xfrm>
            <a:off x="1019281" y="4891975"/>
            <a:ext cx="6834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rPr>
              <a:t>1:1 checks</a:t>
            </a:r>
            <a:endParaRPr sz="870">
              <a:solidFill>
                <a:srgbClr val="000000"/>
              </a:solidFill>
              <a:latin typeface="Arial"/>
              <a:ea typeface="Arial"/>
              <a:cs typeface="Arial"/>
              <a:sym typeface="Arial"/>
            </a:endParaRPr>
          </a:p>
        </p:txBody>
      </p:sp>
      <p:sp>
        <p:nvSpPr>
          <p:cNvPr id="100" name="Google Shape;100;p15"/>
          <p:cNvSpPr/>
          <p:nvPr/>
        </p:nvSpPr>
        <p:spPr>
          <a:xfrm>
            <a:off x="2256588" y="449397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Fri</a:t>
            </a:r>
            <a:endParaRPr sz="870">
              <a:solidFill>
                <a:srgbClr val="000000"/>
              </a:solidFill>
              <a:latin typeface="Arial"/>
              <a:ea typeface="Arial"/>
              <a:cs typeface="Arial"/>
              <a:sym typeface="Arial"/>
            </a:endParaRPr>
          </a:p>
        </p:txBody>
      </p:sp>
      <p:sp>
        <p:nvSpPr>
          <p:cNvPr id="101" name="Google Shape;101;p15"/>
          <p:cNvSpPr/>
          <p:nvPr/>
        </p:nvSpPr>
        <p:spPr>
          <a:xfrm>
            <a:off x="2099557" y="4891976"/>
            <a:ext cx="741000" cy="23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5C6575"/>
              </a:buClr>
              <a:buSzPts val="870"/>
              <a:buFont typeface="Arial"/>
              <a:buNone/>
            </a:pPr>
            <a:r>
              <a:rPr lang="zh-CN" sz="870">
                <a:solidFill>
                  <a:srgbClr val="5C6575"/>
                </a:solidFill>
              </a:rPr>
              <a:t>Merge</a:t>
            </a:r>
            <a:endParaRPr sz="870">
              <a:solidFill>
                <a:srgbClr val="000000"/>
              </a:solidFill>
              <a:latin typeface="Arial"/>
              <a:ea typeface="Arial"/>
              <a:cs typeface="Arial"/>
              <a:sym typeface="Arial"/>
            </a:endParaRPr>
          </a:p>
        </p:txBody>
      </p:sp>
      <p:sp>
        <p:nvSpPr>
          <p:cNvPr id="102" name="Google Shape;102;p15"/>
          <p:cNvSpPr/>
          <p:nvPr/>
        </p:nvSpPr>
        <p:spPr>
          <a:xfrm>
            <a:off x="6078705" y="446992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latin typeface="Arial"/>
                <a:ea typeface="Arial"/>
                <a:cs typeface="Arial"/>
                <a:sym typeface="Arial"/>
              </a:rPr>
              <a:t>Sun</a:t>
            </a:r>
            <a:endParaRPr sz="870">
              <a:solidFill>
                <a:srgbClr val="000000"/>
              </a:solidFill>
              <a:latin typeface="Arial"/>
              <a:ea typeface="Arial"/>
              <a:cs typeface="Arial"/>
              <a:sym typeface="Arial"/>
            </a:endParaRPr>
          </a:p>
        </p:txBody>
      </p:sp>
      <p:sp>
        <p:nvSpPr>
          <p:cNvPr id="103" name="Google Shape;103;p15"/>
          <p:cNvSpPr/>
          <p:nvPr/>
        </p:nvSpPr>
        <p:spPr>
          <a:xfrm>
            <a:off x="5928509" y="4891976"/>
            <a:ext cx="741000" cy="23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C6575"/>
              </a:buClr>
              <a:buSzPts val="870"/>
              <a:buFont typeface="Arial"/>
              <a:buNone/>
            </a:pPr>
            <a:r>
              <a:rPr lang="zh-CN" sz="870">
                <a:solidFill>
                  <a:srgbClr val="5C6575"/>
                </a:solidFill>
                <a:latin typeface="Arial"/>
                <a:ea typeface="Arial"/>
                <a:cs typeface="Arial"/>
                <a:sym typeface="Arial"/>
              </a:rPr>
              <a:t>Tag</a:t>
            </a:r>
            <a:endParaRPr sz="870">
              <a:solidFill>
                <a:srgbClr val="000000"/>
              </a:solidFill>
              <a:latin typeface="Arial"/>
              <a:ea typeface="Arial"/>
              <a:cs typeface="Arial"/>
              <a:sym typeface="Arial"/>
            </a:endParaRPr>
          </a:p>
        </p:txBody>
      </p:sp>
      <p:sp>
        <p:nvSpPr>
          <p:cNvPr id="104" name="Google Shape;104;p15"/>
          <p:cNvSpPr/>
          <p:nvPr/>
        </p:nvSpPr>
        <p:spPr>
          <a:xfrm>
            <a:off x="4077025" y="4469925"/>
            <a:ext cx="1703700" cy="381900"/>
          </a:xfrm>
          <a:prstGeom prst="roundRect">
            <a:avLst>
              <a:gd fmla="val 17391" name="adj"/>
            </a:avLst>
          </a:prstGeom>
          <a:solidFill>
            <a:srgbClr val="E84545"/>
          </a:solidFill>
          <a:ln cap="flat" cmpd="sng" w="7875">
            <a:solidFill>
              <a:srgbClr val="E84545"/>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Saturday-Sunday</a:t>
            </a:r>
            <a:endParaRPr sz="870">
              <a:solidFill>
                <a:srgbClr val="000000"/>
              </a:solidFill>
              <a:latin typeface="Arial"/>
              <a:ea typeface="Arial"/>
              <a:cs typeface="Arial"/>
              <a:sym typeface="Arial"/>
            </a:endParaRPr>
          </a:p>
        </p:txBody>
      </p:sp>
      <p:sp>
        <p:nvSpPr>
          <p:cNvPr id="105" name="Google Shape;105;p15"/>
          <p:cNvSpPr/>
          <p:nvPr/>
        </p:nvSpPr>
        <p:spPr>
          <a:xfrm>
            <a:off x="4043725" y="4891975"/>
            <a:ext cx="1770300" cy="23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5C6575"/>
              </a:buClr>
              <a:buSzPts val="870"/>
              <a:buFont typeface="Arial"/>
              <a:buNone/>
            </a:pPr>
            <a:r>
              <a:rPr lang="zh-CN" sz="870">
                <a:solidFill>
                  <a:srgbClr val="5C6575"/>
                </a:solidFill>
              </a:rPr>
              <a:t>Track and h</a:t>
            </a:r>
            <a:r>
              <a:rPr lang="zh-CN" sz="870">
                <a:solidFill>
                  <a:srgbClr val="5C6575"/>
                </a:solidFill>
              </a:rPr>
              <a:t>andle sudden issues</a:t>
            </a:r>
            <a:endParaRPr sz="870">
              <a:solidFill>
                <a:srgbClr val="5C6575"/>
              </a:solidFill>
            </a:endParaRPr>
          </a:p>
        </p:txBody>
      </p:sp>
      <p:sp>
        <p:nvSpPr>
          <p:cNvPr id="106" name="Google Shape;106;p15"/>
          <p:cNvSpPr/>
          <p:nvPr/>
        </p:nvSpPr>
        <p:spPr>
          <a:xfrm>
            <a:off x="66475" y="733525"/>
            <a:ext cx="6807600" cy="387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72033"/>
              </a:buClr>
              <a:buSzPts val="2070"/>
              <a:buFont typeface="Play"/>
              <a:buNone/>
            </a:pPr>
            <a:r>
              <a:rPr b="1" lang="zh-CN" sz="2070">
                <a:solidFill>
                  <a:srgbClr val="172033"/>
                </a:solidFill>
              </a:rPr>
              <a:t>Dependency chain</a:t>
            </a:r>
            <a:endParaRPr sz="2070">
              <a:solidFill>
                <a:srgbClr val="000000"/>
              </a:solidFill>
            </a:endParaRPr>
          </a:p>
        </p:txBody>
      </p:sp>
      <p:sp>
        <p:nvSpPr>
          <p:cNvPr id="107" name="Google Shape;107;p15"/>
          <p:cNvSpPr/>
          <p:nvPr/>
        </p:nvSpPr>
        <p:spPr>
          <a:xfrm>
            <a:off x="66474" y="1037325"/>
            <a:ext cx="5004900" cy="301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575"/>
              </a:buClr>
              <a:buSzPts val="998"/>
              <a:buFont typeface="Arial"/>
              <a:buNone/>
            </a:pPr>
            <a:r>
              <a:rPr lang="zh-CN" sz="898">
                <a:solidFill>
                  <a:srgbClr val="5C6575"/>
                </a:solidFill>
                <a:latin typeface="Arial"/>
                <a:ea typeface="Arial"/>
                <a:cs typeface="Arial"/>
                <a:sym typeface="Arial"/>
              </a:rPr>
              <a:t>The sprint risk was not one person being late; it was one late link blocking every downstream role.</a:t>
            </a:r>
            <a:endParaRPr sz="898">
              <a:solidFill>
                <a:srgbClr val="000000"/>
              </a:solidFill>
              <a:latin typeface="Arial"/>
              <a:ea typeface="Arial"/>
              <a:cs typeface="Arial"/>
              <a:sym typeface="Arial"/>
            </a:endParaRPr>
          </a:p>
        </p:txBody>
      </p:sp>
      <p:cxnSp>
        <p:nvCxnSpPr>
          <p:cNvPr id="108" name="Google Shape;108;p15"/>
          <p:cNvCxnSpPr/>
          <p:nvPr/>
        </p:nvCxnSpPr>
        <p:spPr>
          <a:xfrm>
            <a:off x="2256606" y="2334191"/>
            <a:ext cx="290400" cy="0"/>
          </a:xfrm>
          <a:prstGeom prst="straightConnector1">
            <a:avLst/>
          </a:prstGeom>
          <a:noFill/>
          <a:ln cap="flat" cmpd="sng" w="10250">
            <a:solidFill>
              <a:srgbClr val="071A33"/>
            </a:solidFill>
            <a:prstDash val="solid"/>
            <a:round/>
            <a:headEnd len="sm" w="sm" type="none"/>
            <a:tailEnd len="med" w="med" type="triangle"/>
          </a:ln>
        </p:spPr>
      </p:cxnSp>
      <p:cxnSp>
        <p:nvCxnSpPr>
          <p:cNvPr id="109" name="Google Shape;109;p15"/>
          <p:cNvCxnSpPr/>
          <p:nvPr/>
        </p:nvCxnSpPr>
        <p:spPr>
          <a:xfrm>
            <a:off x="3728762" y="2328583"/>
            <a:ext cx="429600" cy="0"/>
          </a:xfrm>
          <a:prstGeom prst="straightConnector1">
            <a:avLst/>
          </a:prstGeom>
          <a:noFill/>
          <a:ln cap="flat" cmpd="sng" w="10250">
            <a:solidFill>
              <a:srgbClr val="071A33"/>
            </a:solidFill>
            <a:prstDash val="solid"/>
            <a:round/>
            <a:headEnd len="sm" w="sm" type="none"/>
            <a:tailEnd len="med" w="med" type="triangle"/>
          </a:ln>
        </p:spPr>
      </p:cxnSp>
      <p:cxnSp>
        <p:nvCxnSpPr>
          <p:cNvPr id="110" name="Google Shape;110;p15"/>
          <p:cNvCxnSpPr/>
          <p:nvPr/>
        </p:nvCxnSpPr>
        <p:spPr>
          <a:xfrm>
            <a:off x="5258736" y="2323932"/>
            <a:ext cx="436800" cy="0"/>
          </a:xfrm>
          <a:prstGeom prst="straightConnector1">
            <a:avLst/>
          </a:prstGeom>
          <a:noFill/>
          <a:ln cap="flat" cmpd="sng" w="10250">
            <a:solidFill>
              <a:srgbClr val="071A33"/>
            </a:solidFill>
            <a:prstDash val="solid"/>
            <a:round/>
            <a:headEnd len="sm" w="sm" type="none"/>
            <a:tailEnd len="med" w="med" type="triangle"/>
          </a:ln>
        </p:spPr>
      </p:cxnSp>
      <p:sp>
        <p:nvSpPr>
          <p:cNvPr id="111" name="Google Shape;111;p15"/>
          <p:cNvSpPr/>
          <p:nvPr/>
        </p:nvSpPr>
        <p:spPr>
          <a:xfrm>
            <a:off x="66475" y="1507751"/>
            <a:ext cx="882300" cy="706500"/>
          </a:xfrm>
          <a:prstGeom prst="roundRect">
            <a:avLst>
              <a:gd fmla="val 13333" name="adj"/>
            </a:avLst>
          </a:prstGeom>
          <a:solidFill>
            <a:srgbClr val="F2B84B"/>
          </a:solidFill>
          <a:ln cap="flat" cmpd="sng" w="6425">
            <a:solidFill>
              <a:srgbClr val="F2B84B"/>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R3</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Almanac</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08172E"/>
                </a:solidFill>
              </a:rPr>
              <a:t>Sat.</a:t>
            </a:r>
            <a:endParaRPr b="1" sz="876">
              <a:solidFill>
                <a:srgbClr val="08172E"/>
              </a:solidFill>
            </a:endParaRPr>
          </a:p>
        </p:txBody>
      </p:sp>
      <p:sp>
        <p:nvSpPr>
          <p:cNvPr id="112" name="Google Shape;112;p15"/>
          <p:cNvSpPr/>
          <p:nvPr/>
        </p:nvSpPr>
        <p:spPr>
          <a:xfrm>
            <a:off x="66475" y="2522244"/>
            <a:ext cx="882300" cy="706500"/>
          </a:xfrm>
          <a:prstGeom prst="roundRect">
            <a:avLst>
              <a:gd fmla="val 13333" name="adj"/>
            </a:avLst>
          </a:prstGeom>
          <a:solidFill>
            <a:srgbClr val="2878E2"/>
          </a:solidFill>
          <a:ln cap="flat" cmpd="sng" w="6425">
            <a:solidFill>
              <a:srgbClr val="2878E2"/>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R4</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Macro</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3" name="Google Shape;113;p15"/>
          <p:cNvSpPr/>
          <p:nvPr/>
        </p:nvSpPr>
        <p:spPr>
          <a:xfrm>
            <a:off x="1301079" y="1990332"/>
            <a:ext cx="882300" cy="706500"/>
          </a:xfrm>
          <a:prstGeom prst="roundRect">
            <a:avLst>
              <a:gd fmla="val 13333" name="adj"/>
            </a:avLst>
          </a:prstGeom>
          <a:solidFill>
            <a:srgbClr val="2FB344"/>
          </a:solidFill>
          <a:ln cap="flat" cmpd="sng" w="6425">
            <a:solidFill>
              <a:srgbClr val="2FB344"/>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R5</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Technical</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4" name="Google Shape;114;p15"/>
          <p:cNvSpPr/>
          <p:nvPr/>
        </p:nvSpPr>
        <p:spPr>
          <a:xfrm>
            <a:off x="2620654" y="1981003"/>
            <a:ext cx="1023300" cy="706500"/>
          </a:xfrm>
          <a:prstGeom prst="roundRect">
            <a:avLst>
              <a:gd fmla="val 13333" name="adj"/>
            </a:avLst>
          </a:prstGeom>
          <a:solidFill>
            <a:srgbClr val="5C6CFF"/>
          </a:solidFill>
          <a:ln cap="flat" cmpd="sng" w="6425">
            <a:solidFill>
              <a:srgbClr val="5C6CFF"/>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R8</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LLM synthesis</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sp>
        <p:nvSpPr>
          <p:cNvPr id="115" name="Google Shape;115;p15"/>
          <p:cNvSpPr/>
          <p:nvPr/>
        </p:nvSpPr>
        <p:spPr>
          <a:xfrm>
            <a:off x="4158274" y="1471000"/>
            <a:ext cx="1023300" cy="706500"/>
          </a:xfrm>
          <a:prstGeom prst="roundRect">
            <a:avLst>
              <a:gd fmla="val 13333" name="adj"/>
            </a:avLst>
          </a:prstGeom>
          <a:solidFill>
            <a:srgbClr val="A64D79"/>
          </a:solidFill>
          <a:ln cap="flat" cmpd="sng" w="6425">
            <a:solidFill>
              <a:srgbClr val="A64D79"/>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t/>
            </a:r>
            <a:endParaRPr b="1" sz="876">
              <a:solidFill>
                <a:srgbClr val="FFFFFF"/>
              </a:solidFil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R7</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Human score</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Sun.</a:t>
            </a:r>
            <a:endParaRPr b="1" sz="876">
              <a:solidFill>
                <a:schemeClr val="dk1"/>
              </a:solidFill>
            </a:endParaRPr>
          </a:p>
          <a:p>
            <a:pPr indent="0" lvl="0" marL="0" marR="0" rtl="0" algn="ctr">
              <a:spcBef>
                <a:spcPts val="0"/>
              </a:spcBef>
              <a:spcAft>
                <a:spcPts val="0"/>
              </a:spcAft>
              <a:buClr>
                <a:srgbClr val="FFFFFF"/>
              </a:buClr>
              <a:buSzPts val="876"/>
              <a:buFont typeface="Arial"/>
              <a:buNone/>
            </a:pPr>
            <a:r>
              <a:t/>
            </a:r>
            <a:endParaRPr b="1" sz="876">
              <a:solidFill>
                <a:srgbClr val="FFFFFF"/>
              </a:solidFill>
            </a:endParaRPr>
          </a:p>
        </p:txBody>
      </p:sp>
      <p:sp>
        <p:nvSpPr>
          <p:cNvPr id="116" name="Google Shape;116;p15"/>
          <p:cNvSpPr/>
          <p:nvPr/>
        </p:nvSpPr>
        <p:spPr>
          <a:xfrm>
            <a:off x="4158274" y="2470469"/>
            <a:ext cx="1023300" cy="706500"/>
          </a:xfrm>
          <a:prstGeom prst="roundRect">
            <a:avLst>
              <a:gd fmla="val 13333" name="adj"/>
            </a:avLst>
          </a:prstGeom>
          <a:solidFill>
            <a:srgbClr val="F07C3E"/>
          </a:solidFill>
          <a:ln cap="flat" cmpd="sng" w="6425">
            <a:solidFill>
              <a:srgbClr val="F07C3E"/>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R10</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Calibration</a:t>
            </a:r>
            <a:endParaRPr b="1" sz="876">
              <a:solidFill>
                <a:srgbClr val="FFFFFF"/>
              </a:solidFill>
              <a:latin typeface="Arial"/>
              <a:ea typeface="Arial"/>
              <a:cs typeface="Arial"/>
              <a:sym typeface="Arial"/>
            </a:endParaRPr>
          </a:p>
          <a:p>
            <a:pPr indent="0" lvl="0" marL="0" rtl="0" algn="ctr">
              <a:spcBef>
                <a:spcPts val="0"/>
              </a:spcBef>
              <a:spcAft>
                <a:spcPts val="0"/>
              </a:spcAft>
              <a:buClr>
                <a:schemeClr val="lt1"/>
              </a:buClr>
              <a:buSzPts val="876"/>
              <a:buFont typeface="Arial"/>
              <a:buNone/>
            </a:pPr>
            <a:r>
              <a:rPr b="1" lang="zh-CN" sz="876">
                <a:solidFill>
                  <a:schemeClr val="dk1"/>
                </a:solidFill>
              </a:rPr>
              <a:t>Sun.</a:t>
            </a:r>
            <a:endParaRPr b="1" sz="876">
              <a:solidFill>
                <a:srgbClr val="FFFFFF"/>
              </a:solidFill>
            </a:endParaRPr>
          </a:p>
        </p:txBody>
      </p:sp>
      <p:sp>
        <p:nvSpPr>
          <p:cNvPr id="117" name="Google Shape;117;p15"/>
          <p:cNvSpPr/>
          <p:nvPr/>
        </p:nvSpPr>
        <p:spPr>
          <a:xfrm>
            <a:off x="5780867" y="1987489"/>
            <a:ext cx="1093200" cy="706500"/>
          </a:xfrm>
          <a:prstGeom prst="roundRect">
            <a:avLst>
              <a:gd fmla="val 13333" name="adj"/>
            </a:avLst>
          </a:prstGeom>
          <a:solidFill>
            <a:srgbClr val="45818E"/>
          </a:solidFill>
          <a:ln cap="flat" cmpd="sng" w="6425">
            <a:solidFill>
              <a:srgbClr val="45818E"/>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R9</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Tag + release</a:t>
            </a:r>
            <a:endParaRPr b="1" sz="876">
              <a:solidFill>
                <a:srgbClr val="FFFFFF"/>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chemeClr val="dk1"/>
                </a:solidFill>
              </a:rPr>
              <a:t>Sun.</a:t>
            </a:r>
            <a:endParaRPr b="1" sz="876">
              <a:solidFill>
                <a:schemeClr val="dk1"/>
              </a:solidFill>
            </a:endParaRPr>
          </a:p>
        </p:txBody>
      </p:sp>
      <p:sp>
        <p:nvSpPr>
          <p:cNvPr id="118" name="Google Shape;118;p15"/>
          <p:cNvSpPr/>
          <p:nvPr/>
        </p:nvSpPr>
        <p:spPr>
          <a:xfrm>
            <a:off x="4551714" y="2213256"/>
            <a:ext cx="216300" cy="221400"/>
          </a:xfrm>
          <a:prstGeom prst="mathPlus">
            <a:avLst>
              <a:gd fmla="val 23520" name="adj1"/>
            </a:avLst>
          </a:prstGeom>
          <a:solidFill>
            <a:srgbClr val="08172E"/>
          </a:solidFill>
          <a:ln cap="flat" cmpd="sng" w="8700">
            <a:solidFill>
              <a:srgbClr val="08172E"/>
            </a:solidFill>
            <a:prstDash val="solid"/>
            <a:round/>
            <a:headEnd len="sm" w="sm" type="none"/>
            <a:tailEnd len="sm" w="sm" type="none"/>
          </a:ln>
        </p:spPr>
        <p:txBody>
          <a:bodyPr anchorCtr="0" anchor="ctr" bIns="83350" lIns="83350" spcFirstLastPara="1" rIns="83350" wrap="square" tIns="83350">
            <a:noAutofit/>
          </a:bodyPr>
          <a:lstStyle/>
          <a:p>
            <a:pPr indent="0" lvl="0" marL="0" rtl="0" algn="ctr">
              <a:spcBef>
                <a:spcPts val="0"/>
              </a:spcBef>
              <a:spcAft>
                <a:spcPts val="0"/>
              </a:spcAft>
              <a:buNone/>
            </a:pPr>
            <a:r>
              <a:t/>
            </a:r>
            <a:endParaRPr sz="1277"/>
          </a:p>
        </p:txBody>
      </p:sp>
      <p:sp>
        <p:nvSpPr>
          <p:cNvPr id="119" name="Google Shape;119;p15"/>
          <p:cNvSpPr/>
          <p:nvPr/>
        </p:nvSpPr>
        <p:spPr>
          <a:xfrm>
            <a:off x="989269" y="2232863"/>
            <a:ext cx="216300" cy="221400"/>
          </a:xfrm>
          <a:prstGeom prst="mathPlus">
            <a:avLst>
              <a:gd fmla="val 23520" name="adj1"/>
            </a:avLst>
          </a:prstGeom>
          <a:solidFill>
            <a:srgbClr val="08172E"/>
          </a:solidFill>
          <a:ln cap="flat" cmpd="sng" w="8700">
            <a:solidFill>
              <a:srgbClr val="08172E"/>
            </a:solidFill>
            <a:prstDash val="solid"/>
            <a:round/>
            <a:headEnd len="sm" w="sm" type="none"/>
            <a:tailEnd len="sm" w="sm" type="none"/>
          </a:ln>
        </p:spPr>
        <p:txBody>
          <a:bodyPr anchorCtr="0" anchor="ctr" bIns="83350" lIns="83350" spcFirstLastPara="1" rIns="83350" wrap="square" tIns="83350">
            <a:noAutofit/>
          </a:bodyPr>
          <a:lstStyle/>
          <a:p>
            <a:pPr indent="0" lvl="0" marL="0" rtl="0" algn="ctr">
              <a:spcBef>
                <a:spcPts val="0"/>
              </a:spcBef>
              <a:spcAft>
                <a:spcPts val="0"/>
              </a:spcAft>
              <a:buNone/>
            </a:pPr>
            <a:r>
              <a:t/>
            </a:r>
            <a:endParaRPr sz="1277"/>
          </a:p>
        </p:txBody>
      </p:sp>
      <p:sp>
        <p:nvSpPr>
          <p:cNvPr id="120" name="Google Shape;120;p15"/>
          <p:cNvSpPr/>
          <p:nvPr/>
        </p:nvSpPr>
        <p:spPr>
          <a:xfrm>
            <a:off x="2256603" y="3228612"/>
            <a:ext cx="882300" cy="706500"/>
          </a:xfrm>
          <a:prstGeom prst="roundRect">
            <a:avLst>
              <a:gd fmla="val 13333" name="adj"/>
            </a:avLst>
          </a:prstGeom>
          <a:solidFill>
            <a:srgbClr val="00B8A9"/>
          </a:solidFill>
          <a:ln cap="flat" cmpd="sng" w="6425">
            <a:solidFill>
              <a:srgbClr val="00B8A9"/>
            </a:solidFill>
            <a:prstDash val="solid"/>
            <a:round/>
            <a:headEnd len="sm" w="sm" type="none"/>
            <a:tailEnd len="sm" w="sm" type="none"/>
          </a:ln>
        </p:spPr>
        <p:txBody>
          <a:bodyPr anchorCtr="0" anchor="ctr" bIns="325" lIns="325" spcFirstLastPara="1" rIns="325" wrap="square" tIns="325">
            <a:noAutofit/>
          </a:bodyPr>
          <a:lstStyle/>
          <a:p>
            <a:pPr indent="0" lvl="0" marL="0" marR="0" rtl="0" algn="ctr">
              <a:spcBef>
                <a:spcPts val="0"/>
              </a:spcBef>
              <a:spcAft>
                <a:spcPts val="0"/>
              </a:spcAft>
              <a:buClr>
                <a:srgbClr val="FFFFFF"/>
              </a:buClr>
              <a:buSzPts val="876"/>
              <a:buFont typeface="Arial"/>
              <a:buNone/>
            </a:pPr>
            <a:r>
              <a:rPr b="1" lang="zh-CN" sz="876">
                <a:solidFill>
                  <a:srgbClr val="FFFFFF"/>
                </a:solidFill>
                <a:latin typeface="Arial"/>
                <a:ea typeface="Arial"/>
                <a:cs typeface="Arial"/>
                <a:sym typeface="Arial"/>
              </a:rPr>
              <a:t>R</a:t>
            </a:r>
            <a:r>
              <a:rPr b="1" lang="zh-CN" sz="876">
                <a:solidFill>
                  <a:srgbClr val="FFFFFF"/>
                </a:solidFill>
              </a:rPr>
              <a:t>6</a:t>
            </a:r>
            <a:endParaRPr sz="876">
              <a:solidFill>
                <a:srgbClr val="000000"/>
              </a:solidFill>
              <a:latin typeface="Arial"/>
              <a:ea typeface="Arial"/>
              <a:cs typeface="Arial"/>
              <a:sym typeface="Arial"/>
            </a:endParaRPr>
          </a:p>
          <a:p>
            <a:pPr indent="0" lvl="0" marL="0" marR="0" rtl="0" algn="ctr">
              <a:spcBef>
                <a:spcPts val="0"/>
              </a:spcBef>
              <a:spcAft>
                <a:spcPts val="0"/>
              </a:spcAft>
              <a:buClr>
                <a:srgbClr val="FFFFFF"/>
              </a:buClr>
              <a:buSzPts val="876"/>
              <a:buFont typeface="Arial"/>
              <a:buNone/>
            </a:pPr>
            <a:r>
              <a:rPr b="1" lang="zh-CN" sz="876">
                <a:solidFill>
                  <a:srgbClr val="FFFFFF"/>
                </a:solidFill>
              </a:rPr>
              <a:t>Data</a:t>
            </a:r>
            <a:endParaRPr b="1" sz="876">
              <a:solidFill>
                <a:srgbClr val="FFFFFF"/>
              </a:solidFill>
            </a:endParaRPr>
          </a:p>
          <a:p>
            <a:pPr indent="0" lvl="0" marL="0" marR="0" rtl="0" algn="ctr">
              <a:spcBef>
                <a:spcPts val="0"/>
              </a:spcBef>
              <a:spcAft>
                <a:spcPts val="0"/>
              </a:spcAft>
              <a:buClr>
                <a:srgbClr val="FFFFFF"/>
              </a:buClr>
              <a:buSzPts val="876"/>
              <a:buFont typeface="Arial"/>
              <a:buNone/>
            </a:pPr>
            <a:r>
              <a:rPr b="1" lang="zh-CN" sz="876">
                <a:solidFill>
                  <a:schemeClr val="dk1"/>
                </a:solidFill>
              </a:rPr>
              <a:t>Sat.</a:t>
            </a:r>
            <a:endParaRPr b="1" sz="876">
              <a:solidFill>
                <a:schemeClr val="dk1"/>
              </a:solidFill>
            </a:endParaRPr>
          </a:p>
        </p:txBody>
      </p:sp>
      <p:cxnSp>
        <p:nvCxnSpPr>
          <p:cNvPr id="121" name="Google Shape;121;p15"/>
          <p:cNvCxnSpPr/>
          <p:nvPr/>
        </p:nvCxnSpPr>
        <p:spPr>
          <a:xfrm rot="10800000">
            <a:off x="1147540" y="2836855"/>
            <a:ext cx="981600" cy="702900"/>
          </a:xfrm>
          <a:prstGeom prst="straightConnector1">
            <a:avLst/>
          </a:prstGeom>
          <a:noFill/>
          <a:ln cap="flat" cmpd="sng" w="10250">
            <a:solidFill>
              <a:srgbClr val="071A33"/>
            </a:solidFill>
            <a:prstDash val="solid"/>
            <a:round/>
            <a:headEnd len="sm" w="sm" type="none"/>
            <a:tailEnd len="med" w="med" type="triangle"/>
          </a:ln>
        </p:spPr>
      </p:cxnSp>
      <p:cxnSp>
        <p:nvCxnSpPr>
          <p:cNvPr id="122" name="Google Shape;122;p15"/>
          <p:cNvCxnSpPr/>
          <p:nvPr/>
        </p:nvCxnSpPr>
        <p:spPr>
          <a:xfrm flipH="1" rot="10800000">
            <a:off x="3195509" y="2999159"/>
            <a:ext cx="788400" cy="547800"/>
          </a:xfrm>
          <a:prstGeom prst="straightConnector1">
            <a:avLst/>
          </a:prstGeom>
          <a:noFill/>
          <a:ln cap="flat" cmpd="sng" w="10250">
            <a:solidFill>
              <a:srgbClr val="071A33"/>
            </a:solidFill>
            <a:prstDash val="solid"/>
            <a:round/>
            <a:headEnd len="sm" w="sm" type="none"/>
            <a:tailEnd len="med" w="med" type="triangle"/>
          </a:ln>
        </p:spPr>
      </p:cxnSp>
      <p:pic>
        <p:nvPicPr>
          <p:cNvPr id="123" name="Google Shape;123;p15"/>
          <p:cNvPicPr preferRelativeResize="0"/>
          <p:nvPr/>
        </p:nvPicPr>
        <p:blipFill>
          <a:blip r:embed="rId3">
            <a:alphaModFix/>
          </a:blip>
          <a:stretch>
            <a:fillRect/>
          </a:stretch>
        </p:blipFill>
        <p:spPr>
          <a:xfrm>
            <a:off x="6910250" y="612800"/>
            <a:ext cx="2233750" cy="4525401"/>
          </a:xfrm>
          <a:prstGeom prst="rect">
            <a:avLst/>
          </a:prstGeom>
          <a:noFill/>
          <a:ln>
            <a:noFill/>
          </a:ln>
        </p:spPr>
      </p:pic>
      <p:sp>
        <p:nvSpPr>
          <p:cNvPr id="124" name="Google Shape;124;p15"/>
          <p:cNvSpPr/>
          <p:nvPr/>
        </p:nvSpPr>
        <p:spPr>
          <a:xfrm>
            <a:off x="3256813" y="4493975"/>
            <a:ext cx="426900" cy="381900"/>
          </a:xfrm>
          <a:prstGeom prst="roundRect">
            <a:avLst>
              <a:gd fmla="val 17391" name="adj"/>
            </a:avLst>
          </a:prstGeom>
          <a:solidFill>
            <a:srgbClr val="071A33"/>
          </a:solidFill>
          <a:ln cap="flat" cmpd="sng" w="7875">
            <a:solidFill>
              <a:srgbClr val="071A33"/>
            </a:solidFill>
            <a:prstDash val="solid"/>
            <a:round/>
            <a:headEnd len="sm" w="sm" type="none"/>
            <a:tailEnd len="sm" w="sm" type="none"/>
          </a:ln>
        </p:spPr>
        <p:txBody>
          <a:bodyPr anchorCtr="0" anchor="ctr" bIns="425" lIns="425" spcFirstLastPara="1" rIns="425" wrap="square" tIns="425">
            <a:noAutofit/>
          </a:bodyPr>
          <a:lstStyle/>
          <a:p>
            <a:pPr indent="0" lvl="0" marL="0" marR="0" rtl="0" algn="ctr">
              <a:spcBef>
                <a:spcPts val="0"/>
              </a:spcBef>
              <a:spcAft>
                <a:spcPts val="0"/>
              </a:spcAft>
              <a:buClr>
                <a:srgbClr val="FFFFFF"/>
              </a:buClr>
              <a:buSzPts val="870"/>
              <a:buFont typeface="Arial"/>
              <a:buNone/>
            </a:pPr>
            <a:r>
              <a:rPr b="1" lang="zh-CN" sz="870">
                <a:solidFill>
                  <a:srgbClr val="FFFFFF"/>
                </a:solidFill>
              </a:rPr>
              <a:t>Sat</a:t>
            </a:r>
            <a:endParaRPr sz="870">
              <a:solidFill>
                <a:srgbClr val="000000"/>
              </a:solidFill>
              <a:latin typeface="Arial"/>
              <a:ea typeface="Arial"/>
              <a:cs typeface="Arial"/>
              <a:sym typeface="Arial"/>
            </a:endParaRPr>
          </a:p>
        </p:txBody>
      </p:sp>
      <p:sp>
        <p:nvSpPr>
          <p:cNvPr id="125" name="Google Shape;125;p15"/>
          <p:cNvSpPr/>
          <p:nvPr/>
        </p:nvSpPr>
        <p:spPr>
          <a:xfrm>
            <a:off x="3060000" y="4998975"/>
            <a:ext cx="1093200" cy="166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C6575"/>
              </a:buClr>
              <a:buSzPts val="870"/>
              <a:buFont typeface="Arial"/>
              <a:buNone/>
            </a:pPr>
            <a:r>
              <a:rPr lang="zh-CN" sz="870">
                <a:solidFill>
                  <a:srgbClr val="5C6575"/>
                </a:solidFill>
              </a:rPr>
              <a:t>Final Team Sync </a:t>
            </a:r>
            <a:endParaRPr sz="870"/>
          </a:p>
          <a:p>
            <a:pPr indent="0" lvl="0" marL="0" rtl="0" algn="ctr">
              <a:spcBef>
                <a:spcPts val="0"/>
              </a:spcBef>
              <a:spcAft>
                <a:spcPts val="0"/>
              </a:spcAft>
              <a:buClr>
                <a:srgbClr val="5C6575"/>
              </a:buClr>
              <a:buSzPts val="870"/>
              <a:buFont typeface="Arial"/>
              <a:buNone/>
            </a:pPr>
            <a:r>
              <a:t/>
            </a:r>
            <a:endParaRPr sz="870">
              <a:solidFill>
                <a:srgbClr val="5C6575"/>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29" name="Shape 129"/>
        <p:cNvGrpSpPr/>
        <p:nvPr/>
      </p:nvGrpSpPr>
      <p:grpSpPr>
        <a:xfrm>
          <a:off x="0" y="0"/>
          <a:ext cx="0" cy="0"/>
          <a:chOff x="0" y="0"/>
          <a:chExt cx="0" cy="0"/>
        </a:xfrm>
      </p:grpSpPr>
      <p:sp>
        <p:nvSpPr>
          <p:cNvPr id="130" name="Google Shape;130;p1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 name="Google Shape;131;p16"/>
          <p:cNvSpPr/>
          <p:nvPr/>
        </p:nvSpPr>
        <p:spPr>
          <a:xfrm>
            <a:off x="0" y="640080"/>
            <a:ext cx="9144000" cy="36600"/>
          </a:xfrm>
          <a:prstGeom prst="rect">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 name="Google Shape;132;p1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2</a:t>
            </a:r>
            <a:r>
              <a:rPr b="1" lang="zh-CN" sz="1500">
                <a:solidFill>
                  <a:srgbClr val="FFFFFF"/>
                </a:solidFill>
                <a:latin typeface="Arial"/>
                <a:ea typeface="Arial"/>
                <a:cs typeface="Arial"/>
                <a:sym typeface="Arial"/>
              </a:rPr>
              <a:t> </a:t>
            </a:r>
            <a:r>
              <a:rPr b="1" lang="zh-CN" sz="1500">
                <a:solidFill>
                  <a:srgbClr val="FFFFFF"/>
                </a:solidFill>
              </a:rPr>
              <a:t>Scrum Master</a:t>
            </a:r>
            <a:endParaRPr/>
          </a:p>
        </p:txBody>
      </p:sp>
      <p:pic>
        <p:nvPicPr>
          <p:cNvPr id="133" name="Google Shape;133;p16"/>
          <p:cNvPicPr preferRelativeResize="0"/>
          <p:nvPr/>
        </p:nvPicPr>
        <p:blipFill>
          <a:blip r:embed="rId3">
            <a:alphaModFix/>
          </a:blip>
          <a:stretch>
            <a:fillRect/>
          </a:stretch>
        </p:blipFill>
        <p:spPr>
          <a:xfrm>
            <a:off x="0" y="-1"/>
            <a:ext cx="9143992" cy="5143500"/>
          </a:xfrm>
          <a:prstGeom prst="rect">
            <a:avLst/>
          </a:prstGeom>
          <a:solidFill>
            <a:srgbClr val="08172E"/>
          </a:solidFill>
          <a:ln>
            <a:noFill/>
          </a:ln>
          <a:effectLst>
            <a:outerShdw blurRad="40000" rotWithShape="0" dir="5400000" dist="23000">
              <a:srgbClr val="000000">
                <a:alpha val="349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138" name="Shape 138"/>
        <p:cNvGrpSpPr/>
        <p:nvPr/>
      </p:nvGrpSpPr>
      <p:grpSpPr>
        <a:xfrm>
          <a:off x="0" y="0"/>
          <a:ext cx="0" cy="0"/>
          <a:chOff x="0" y="0"/>
          <a:chExt cx="0" cy="0"/>
        </a:xfrm>
      </p:grpSpPr>
      <p:sp>
        <p:nvSpPr>
          <p:cNvPr id="139" name="Google Shape;139;p17"/>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140" name="Google Shape;140;p17"/>
          <p:cNvSpPr/>
          <p:nvPr/>
        </p:nvSpPr>
        <p:spPr>
          <a:xfrm>
            <a:off x="0" y="640080"/>
            <a:ext cx="9144000" cy="366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141" name="Google Shape;141;p17"/>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R1 Product Owner</a:t>
            </a:r>
            <a:endParaRPr/>
          </a:p>
        </p:txBody>
      </p:sp>
      <p:sp>
        <p:nvSpPr>
          <p:cNvPr id="142" name="Google Shape;142;p17"/>
          <p:cNvSpPr txBox="1"/>
          <p:nvPr/>
        </p:nvSpPr>
        <p:spPr>
          <a:xfrm>
            <a:off x="6224250" y="4334950"/>
            <a:ext cx="22494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CN"/>
              <a:t>Scan QR Code to visit our Live Frontend Page</a:t>
            </a:r>
            <a:endParaRPr/>
          </a:p>
        </p:txBody>
      </p:sp>
      <p:pic>
        <p:nvPicPr>
          <p:cNvPr id="143" name="Google Shape;143;p17"/>
          <p:cNvPicPr preferRelativeResize="0"/>
          <p:nvPr/>
        </p:nvPicPr>
        <p:blipFill>
          <a:blip r:embed="rId3">
            <a:alphaModFix/>
          </a:blip>
          <a:stretch>
            <a:fillRect/>
          </a:stretch>
        </p:blipFill>
        <p:spPr>
          <a:xfrm>
            <a:off x="6120225" y="1877503"/>
            <a:ext cx="2457450" cy="2457450"/>
          </a:xfrm>
          <a:prstGeom prst="rect">
            <a:avLst/>
          </a:prstGeom>
          <a:noFill/>
          <a:ln>
            <a:noFill/>
          </a:ln>
        </p:spPr>
      </p:pic>
      <p:sp>
        <p:nvSpPr>
          <p:cNvPr id="144" name="Google Shape;144;p17"/>
          <p:cNvSpPr txBox="1"/>
          <p:nvPr/>
        </p:nvSpPr>
        <p:spPr>
          <a:xfrm>
            <a:off x="384050" y="774375"/>
            <a:ext cx="43377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zh-CN" sz="2400">
                <a:solidFill>
                  <a:schemeClr val="dk1"/>
                </a:solidFill>
              </a:rPr>
              <a:t>Project demo website：</a:t>
            </a:r>
            <a:endParaRPr b="1" sz="2500">
              <a:solidFill>
                <a:schemeClr val="dk1"/>
              </a:solidFill>
            </a:endParaRPr>
          </a:p>
        </p:txBody>
      </p:sp>
      <p:sp>
        <p:nvSpPr>
          <p:cNvPr id="145" name="Google Shape;145;p17"/>
          <p:cNvSpPr txBox="1"/>
          <p:nvPr/>
        </p:nvSpPr>
        <p:spPr>
          <a:xfrm>
            <a:off x="384050" y="1877500"/>
            <a:ext cx="4054800" cy="267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CN" sz="1800">
                <a:solidFill>
                  <a:schemeClr val="dk1"/>
                </a:solidFill>
              </a:rPr>
              <a:t>The .html file implements a unified display interface for integration with automated workflows. The .yml file simplifies pipeline execution and real-time review.</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zh-CN" sz="1800">
                <a:solidFill>
                  <a:schemeClr val="dk1"/>
                </a:solidFill>
              </a:rPr>
              <a:t>Website link: </a:t>
            </a:r>
            <a:r>
              <a:rPr lang="zh-CN" sz="1800" u="sng">
                <a:solidFill>
                  <a:schemeClr val="hlink"/>
                </a:solidFill>
                <a:hlinkClick r:id="rId4"/>
              </a:rPr>
              <a:t>https://lujunwen212.github.io/CP3405-Project/</a:t>
            </a:r>
            <a:r>
              <a:rPr lang="zh-CN" sz="1800">
                <a:solidFill>
                  <a:schemeClr val="dk1"/>
                </a:solidFill>
              </a:rPr>
              <a:t> </a:t>
            </a:r>
            <a:endParaRPr sz="18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pic>
        <p:nvPicPr>
          <p:cNvPr descr="image.png" id="150" name="Google Shape;150;p18"/>
          <p:cNvPicPr preferRelativeResize="0"/>
          <p:nvPr/>
        </p:nvPicPr>
        <p:blipFill rotWithShape="1">
          <a:blip r:embed="rId3">
            <a:alphaModFix/>
          </a:blip>
          <a:srcRect b="0" l="0" r="0" t="0"/>
          <a:stretch/>
        </p:blipFill>
        <p:spPr>
          <a:xfrm>
            <a:off x="0" y="464344"/>
            <a:ext cx="9144000" cy="4679156"/>
          </a:xfrm>
          <a:prstGeom prst="rect">
            <a:avLst/>
          </a:prstGeom>
          <a:noFill/>
          <a:ln>
            <a:noFill/>
          </a:ln>
        </p:spPr>
      </p:pic>
      <p:pic>
        <p:nvPicPr>
          <p:cNvPr descr="image.png" id="151" name="Google Shape;151;p18"/>
          <p:cNvPicPr preferRelativeResize="0"/>
          <p:nvPr/>
        </p:nvPicPr>
        <p:blipFill rotWithShape="1">
          <a:blip r:embed="rId4">
            <a:alphaModFix/>
          </a:blip>
          <a:srcRect b="0" l="0" r="0" t="0"/>
          <a:stretch/>
        </p:blipFill>
        <p:spPr>
          <a:xfrm>
            <a:off x="3782615" y="128588"/>
            <a:ext cx="2021682" cy="207169"/>
          </a:xfrm>
          <a:prstGeom prst="rect">
            <a:avLst/>
          </a:prstGeom>
          <a:noFill/>
          <a:ln>
            <a:noFill/>
          </a:ln>
        </p:spPr>
      </p:pic>
      <p:pic>
        <p:nvPicPr>
          <p:cNvPr descr="image.png" id="152" name="Google Shape;152;p18"/>
          <p:cNvPicPr preferRelativeResize="0"/>
          <p:nvPr/>
        </p:nvPicPr>
        <p:blipFill rotWithShape="1">
          <a:blip r:embed="rId5">
            <a:alphaModFix/>
          </a:blip>
          <a:srcRect b="0" l="0" r="0" t="0"/>
          <a:stretch/>
        </p:blipFill>
        <p:spPr>
          <a:xfrm>
            <a:off x="5486288" y="2043447"/>
            <a:ext cx="3228975" cy="2814303"/>
          </a:xfrm>
          <a:prstGeom prst="rect">
            <a:avLst/>
          </a:prstGeom>
          <a:noFill/>
          <a:ln>
            <a:noFill/>
          </a:ln>
        </p:spPr>
      </p:pic>
      <p:pic>
        <p:nvPicPr>
          <p:cNvPr descr="image.png" id="153" name="Google Shape;153;p18"/>
          <p:cNvPicPr preferRelativeResize="0"/>
          <p:nvPr/>
        </p:nvPicPr>
        <p:blipFill rotWithShape="1">
          <a:blip r:embed="rId6">
            <a:alphaModFix/>
          </a:blip>
          <a:srcRect b="0" l="0" r="0" t="0"/>
          <a:stretch/>
        </p:blipFill>
        <p:spPr>
          <a:xfrm>
            <a:off x="428625" y="3315035"/>
            <a:ext cx="4843351" cy="1542715"/>
          </a:xfrm>
          <a:prstGeom prst="rect">
            <a:avLst/>
          </a:prstGeom>
          <a:noFill/>
          <a:ln>
            <a:noFill/>
          </a:ln>
        </p:spPr>
      </p:pic>
      <p:pic>
        <p:nvPicPr>
          <p:cNvPr descr="image.png" id="154" name="Google Shape;154;p18"/>
          <p:cNvPicPr preferRelativeResize="0"/>
          <p:nvPr/>
        </p:nvPicPr>
        <p:blipFill rotWithShape="1">
          <a:blip r:embed="rId7">
            <a:alphaModFix/>
          </a:blip>
          <a:srcRect b="0" l="0" r="0" t="0"/>
          <a:stretch/>
        </p:blipFill>
        <p:spPr>
          <a:xfrm>
            <a:off x="428625" y="2043447"/>
            <a:ext cx="1519163" cy="1057275"/>
          </a:xfrm>
          <a:prstGeom prst="rect">
            <a:avLst/>
          </a:prstGeom>
          <a:noFill/>
          <a:ln>
            <a:noFill/>
          </a:ln>
        </p:spPr>
      </p:pic>
      <p:pic>
        <p:nvPicPr>
          <p:cNvPr descr="image.png" id="155" name="Google Shape;155;p18"/>
          <p:cNvPicPr preferRelativeResize="0"/>
          <p:nvPr/>
        </p:nvPicPr>
        <p:blipFill rotWithShape="1">
          <a:blip r:embed="rId8">
            <a:alphaModFix/>
          </a:blip>
          <a:srcRect b="0" l="0" r="0" t="0"/>
          <a:stretch/>
        </p:blipFill>
        <p:spPr>
          <a:xfrm>
            <a:off x="2090663" y="2043447"/>
            <a:ext cx="1519162" cy="1057275"/>
          </a:xfrm>
          <a:prstGeom prst="rect">
            <a:avLst/>
          </a:prstGeom>
          <a:noFill/>
          <a:ln>
            <a:noFill/>
          </a:ln>
        </p:spPr>
      </p:pic>
      <p:pic>
        <p:nvPicPr>
          <p:cNvPr descr="image.png" id="156" name="Google Shape;156;p18"/>
          <p:cNvPicPr preferRelativeResize="0"/>
          <p:nvPr/>
        </p:nvPicPr>
        <p:blipFill rotWithShape="1">
          <a:blip r:embed="rId9">
            <a:alphaModFix/>
          </a:blip>
          <a:srcRect b="0" l="0" r="0" t="0"/>
          <a:stretch/>
        </p:blipFill>
        <p:spPr>
          <a:xfrm>
            <a:off x="3752701" y="2043447"/>
            <a:ext cx="1519163" cy="1057275"/>
          </a:xfrm>
          <a:prstGeom prst="rect">
            <a:avLst/>
          </a:prstGeom>
          <a:noFill/>
          <a:ln>
            <a:noFill/>
          </a:ln>
        </p:spPr>
      </p:pic>
      <p:pic>
        <p:nvPicPr>
          <p:cNvPr descr="image.png" id="157" name="Google Shape;157;p18"/>
          <p:cNvPicPr preferRelativeResize="0"/>
          <p:nvPr/>
        </p:nvPicPr>
        <p:blipFill rotWithShape="1">
          <a:blip r:embed="rId10">
            <a:alphaModFix/>
          </a:blip>
          <a:srcRect b="0" l="0" r="0" t="0"/>
          <a:stretch/>
        </p:blipFill>
        <p:spPr>
          <a:xfrm>
            <a:off x="0" y="0"/>
            <a:ext cx="9144000" cy="464344"/>
          </a:xfrm>
          <a:prstGeom prst="rect">
            <a:avLst/>
          </a:prstGeom>
          <a:noFill/>
          <a:ln>
            <a:noFill/>
          </a:ln>
        </p:spPr>
      </p:pic>
      <p:sp>
        <p:nvSpPr>
          <p:cNvPr id="158" name="Google Shape;158;p18"/>
          <p:cNvSpPr txBox="1"/>
          <p:nvPr/>
        </p:nvSpPr>
        <p:spPr>
          <a:xfrm>
            <a:off x="285750" y="114300"/>
            <a:ext cx="1428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200" u="none" cap="none" strike="noStrike">
                <a:solidFill>
                  <a:srgbClr val="F8FAFC"/>
                </a:solidFill>
                <a:latin typeface="Poppins SemiBold"/>
                <a:ea typeface="Poppins SemiBold"/>
                <a:cs typeface="Poppins SemiBold"/>
                <a:sym typeface="Poppins SemiBold"/>
              </a:rPr>
              <a:t>R1 Product Owner</a:t>
            </a:r>
            <a:endParaRPr sz="1100"/>
          </a:p>
        </p:txBody>
      </p:sp>
      <p:sp>
        <p:nvSpPr>
          <p:cNvPr id="159" name="Google Shape;159;p18"/>
          <p:cNvSpPr txBox="1"/>
          <p:nvPr/>
        </p:nvSpPr>
        <p:spPr>
          <a:xfrm>
            <a:off x="7872413" y="146447"/>
            <a:ext cx="9861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100"/>
          </a:p>
        </p:txBody>
      </p:sp>
      <p:sp>
        <p:nvSpPr>
          <p:cNvPr id="160" name="Google Shape;160;p18"/>
          <p:cNvSpPr txBox="1"/>
          <p:nvPr/>
        </p:nvSpPr>
        <p:spPr>
          <a:xfrm>
            <a:off x="428625" y="999120"/>
            <a:ext cx="87012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2400" u="none" cap="none" strike="noStrike">
                <a:solidFill>
                  <a:srgbClr val="1E293B"/>
                </a:solidFill>
                <a:latin typeface="Poppins"/>
                <a:ea typeface="Poppins"/>
                <a:cs typeface="Poppins"/>
                <a:sym typeface="Poppins"/>
              </a:rPr>
              <a:t>Sprint goal statement</a:t>
            </a:r>
            <a:endParaRPr sz="1100"/>
          </a:p>
        </p:txBody>
      </p:sp>
      <p:sp>
        <p:nvSpPr>
          <p:cNvPr id="161" name="Google Shape;161;p18"/>
          <p:cNvSpPr txBox="1"/>
          <p:nvPr/>
        </p:nvSpPr>
        <p:spPr>
          <a:xfrm>
            <a:off x="428625" y="1649201"/>
            <a:ext cx="8286900" cy="1539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zh-CN" sz="1000" u="none" cap="none" strike="noStrike">
                <a:solidFill>
                  <a:srgbClr val="64748B"/>
                </a:solidFill>
                <a:latin typeface="Lato"/>
                <a:ea typeface="Lato"/>
                <a:cs typeface="Lato"/>
                <a:sym typeface="Lato"/>
              </a:rPr>
              <a:t>One slide for definition of done, calibration context, and the weekly decision question.</a:t>
            </a:r>
            <a:endParaRPr sz="1100"/>
          </a:p>
        </p:txBody>
      </p:sp>
      <p:sp>
        <p:nvSpPr>
          <p:cNvPr id="162" name="Google Shape;162;p18"/>
          <p:cNvSpPr txBox="1"/>
          <p:nvPr/>
        </p:nvSpPr>
        <p:spPr>
          <a:xfrm>
            <a:off x="5707745" y="2229185"/>
            <a:ext cx="2962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Done Means</a:t>
            </a:r>
            <a:endParaRPr sz="1100"/>
          </a:p>
        </p:txBody>
      </p:sp>
      <p:sp>
        <p:nvSpPr>
          <p:cNvPr id="163" name="Google Shape;163;p18"/>
          <p:cNvSpPr txBox="1"/>
          <p:nvPr/>
        </p:nvSpPr>
        <p:spPr>
          <a:xfrm>
            <a:off x="5707745" y="2586372"/>
            <a:ext cx="2821800" cy="677100"/>
          </a:xfrm>
          <a:prstGeom prst="rect">
            <a:avLst/>
          </a:prstGeom>
          <a:noFill/>
          <a:ln>
            <a:noFill/>
          </a:ln>
        </p:spPr>
        <p:txBody>
          <a:bodyPr anchorCtr="0" anchor="t" bIns="0" lIns="0" spcFirstLastPara="1" rIns="0" wrap="square" tIns="0">
            <a:spAutoFit/>
          </a:bodyPr>
          <a:lstStyle/>
          <a:p>
            <a:pPr indent="0" lvl="0" marL="0" marR="0" rtl="0" algn="l">
              <a:lnSpc>
                <a:spcPct val="113277"/>
              </a:lnSpc>
              <a:spcBef>
                <a:spcPts val="0"/>
              </a:spcBef>
              <a:spcAft>
                <a:spcPts val="0"/>
              </a:spcAft>
              <a:buNone/>
            </a:pPr>
            <a:r>
              <a:rPr b="0" i="0" lang="zh-CN" sz="1000" u="none" cap="none" strike="noStrike">
                <a:solidFill>
                  <a:srgbClr val="475569"/>
                </a:solidFill>
                <a:latin typeface="Lato"/>
                <a:ea typeface="Lato"/>
                <a:cs typeface="Lato"/>
                <a:sym typeface="Lato"/>
              </a:rPr>
              <a:t>1. All role evidence (R3-R8) submitted &amp; verified.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2. Human Score analysis (R7) finalized.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3. Prediction range override applied.</a:t>
            </a:r>
            <a:br>
              <a:rPr b="0" i="0" lang="zh-CN" sz="1400" u="none" cap="none" strike="noStrike">
                <a:solidFill>
                  <a:schemeClr val="dk1"/>
                </a:solidFill>
                <a:latin typeface="Calibri"/>
                <a:ea typeface="Calibri"/>
                <a:cs typeface="Calibri"/>
                <a:sym typeface="Calibri"/>
              </a:rPr>
            </a:br>
            <a:r>
              <a:rPr b="0" i="0" lang="zh-CN" sz="1000" u="none" cap="none" strike="noStrike">
                <a:solidFill>
                  <a:srgbClr val="475569"/>
                </a:solidFill>
                <a:latin typeface="Lato"/>
                <a:ea typeface="Lato"/>
                <a:cs typeface="Lato"/>
                <a:sym typeface="Lato"/>
              </a:rPr>
              <a:t> 4. Repository tagged and W31 release deployed.</a:t>
            </a:r>
            <a:endParaRPr sz="1100"/>
          </a:p>
        </p:txBody>
      </p:sp>
      <p:sp>
        <p:nvSpPr>
          <p:cNvPr id="164" name="Google Shape;164;p18"/>
          <p:cNvSpPr txBox="1"/>
          <p:nvPr/>
        </p:nvSpPr>
        <p:spPr>
          <a:xfrm>
            <a:off x="650081" y="3500772"/>
            <a:ext cx="4657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Sprint Goal</a:t>
            </a:r>
            <a:endParaRPr sz="1100"/>
          </a:p>
        </p:txBody>
      </p:sp>
      <p:sp>
        <p:nvSpPr>
          <p:cNvPr id="165" name="Google Shape;165;p18"/>
          <p:cNvSpPr txBox="1"/>
          <p:nvPr/>
        </p:nvSpPr>
        <p:spPr>
          <a:xfrm>
            <a:off x="650081" y="3857960"/>
            <a:ext cx="4436100" cy="4002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zh-CN" sz="1000" u="none" cap="none" strike="noStrike">
                <a:solidFill>
                  <a:srgbClr val="475569"/>
                </a:solidFill>
                <a:latin typeface="Lato"/>
                <a:ea typeface="Lato"/>
                <a:cs typeface="Lato"/>
                <a:sym typeface="Lato"/>
              </a:rPr>
              <a:t>Produce a disciplined market prediction using seasonal, macro, technical, multi-LLM, and human judgment evidence.</a:t>
            </a:r>
            <a:endParaRPr sz="1100"/>
          </a:p>
        </p:txBody>
      </p:sp>
      <p:sp>
        <p:nvSpPr>
          <p:cNvPr id="166" name="Google Shape;166;p18"/>
          <p:cNvSpPr txBox="1"/>
          <p:nvPr/>
        </p:nvSpPr>
        <p:spPr>
          <a:xfrm>
            <a:off x="650081" y="4389276"/>
            <a:ext cx="4436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zh-CN" sz="900" u="none" cap="none" strike="noStrike">
                <a:solidFill>
                  <a:srgbClr val="94A3B8"/>
                </a:solidFill>
                <a:latin typeface="Lato"/>
                <a:ea typeface="Lato"/>
                <a:cs typeface="Lato"/>
                <a:sym typeface="Lato"/>
              </a:rPr>
              <a:t>*** Target recovery from W30 hit rate (14.3%) by narrowing ranges and prioritizing employment situation data ***</a:t>
            </a:r>
            <a:endParaRPr sz="1100"/>
          </a:p>
        </p:txBody>
      </p:sp>
      <p:sp>
        <p:nvSpPr>
          <p:cNvPr id="167" name="Google Shape;167;p18"/>
          <p:cNvSpPr txBox="1"/>
          <p:nvPr/>
        </p:nvSpPr>
        <p:spPr>
          <a:xfrm>
            <a:off x="614363"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LAST WEEK SCORE</a:t>
            </a:r>
            <a:endParaRPr sz="1100"/>
          </a:p>
        </p:txBody>
      </p:sp>
      <p:sp>
        <p:nvSpPr>
          <p:cNvPr id="168" name="Google Shape;168;p18"/>
          <p:cNvSpPr txBox="1"/>
          <p:nvPr/>
        </p:nvSpPr>
        <p:spPr>
          <a:xfrm>
            <a:off x="614363"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6366F1"/>
                </a:solidFill>
                <a:latin typeface="Poppins"/>
                <a:ea typeface="Poppins"/>
                <a:cs typeface="Poppins"/>
                <a:sym typeface="Poppins"/>
              </a:rPr>
              <a:t>+1</a:t>
            </a:r>
            <a:endParaRPr sz="1100"/>
          </a:p>
        </p:txBody>
      </p:sp>
      <p:sp>
        <p:nvSpPr>
          <p:cNvPr id="169" name="Google Shape;169;p18"/>
          <p:cNvSpPr txBox="1"/>
          <p:nvPr/>
        </p:nvSpPr>
        <p:spPr>
          <a:xfrm>
            <a:off x="2276400"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PRIMARY QUESTION</a:t>
            </a:r>
            <a:endParaRPr sz="1100"/>
          </a:p>
        </p:txBody>
      </p:sp>
      <p:sp>
        <p:nvSpPr>
          <p:cNvPr id="170" name="Google Shape;170;p18"/>
          <p:cNvSpPr txBox="1"/>
          <p:nvPr/>
        </p:nvSpPr>
        <p:spPr>
          <a:xfrm>
            <a:off x="2276400"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3B82F6"/>
                </a:solidFill>
                <a:latin typeface="Poppins"/>
                <a:ea typeface="Poppins"/>
                <a:cs typeface="Poppins"/>
                <a:sym typeface="Poppins"/>
              </a:rPr>
              <a:t>Labour</a:t>
            </a:r>
            <a:endParaRPr sz="1100"/>
          </a:p>
        </p:txBody>
      </p:sp>
      <p:sp>
        <p:nvSpPr>
          <p:cNvPr id="171" name="Google Shape;171;p18"/>
          <p:cNvSpPr txBox="1"/>
          <p:nvPr/>
        </p:nvSpPr>
        <p:spPr>
          <a:xfrm>
            <a:off x="3938438" y="2229185"/>
            <a:ext cx="1147800" cy="107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700" u="none" cap="none" strike="noStrike">
                <a:solidFill>
                  <a:srgbClr val="94A3B8"/>
                </a:solidFill>
                <a:latin typeface="Lato"/>
                <a:ea typeface="Lato"/>
                <a:cs typeface="Lato"/>
                <a:sym typeface="Lato"/>
              </a:rPr>
              <a:t>RELEASE NO.</a:t>
            </a:r>
            <a:endParaRPr sz="1100"/>
          </a:p>
        </p:txBody>
      </p:sp>
      <p:sp>
        <p:nvSpPr>
          <p:cNvPr id="172" name="Google Shape;172;p18"/>
          <p:cNvSpPr txBox="1"/>
          <p:nvPr/>
        </p:nvSpPr>
        <p:spPr>
          <a:xfrm>
            <a:off x="3938438" y="2450641"/>
            <a:ext cx="1147800" cy="384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zh-CN" sz="2500" u="none" cap="none" strike="noStrike">
                <a:solidFill>
                  <a:srgbClr val="10B981"/>
                </a:solidFill>
                <a:latin typeface="Poppins"/>
                <a:ea typeface="Poppins"/>
                <a:cs typeface="Poppins"/>
                <a:sym typeface="Poppins"/>
              </a:rPr>
              <a:t>W31</a:t>
            </a:r>
            <a:endParaRPr sz="11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pic>
        <p:nvPicPr>
          <p:cNvPr descr="image.png" id="177" name="Google Shape;177;p19"/>
          <p:cNvPicPr preferRelativeResize="0"/>
          <p:nvPr/>
        </p:nvPicPr>
        <p:blipFill rotWithShape="1">
          <a:blip r:embed="rId3">
            <a:alphaModFix/>
          </a:blip>
          <a:srcRect b="0" l="0" r="0" t="0"/>
          <a:stretch/>
        </p:blipFill>
        <p:spPr>
          <a:xfrm>
            <a:off x="0" y="464344"/>
            <a:ext cx="9144000" cy="4679156"/>
          </a:xfrm>
          <a:prstGeom prst="rect">
            <a:avLst/>
          </a:prstGeom>
          <a:noFill/>
          <a:ln>
            <a:noFill/>
          </a:ln>
        </p:spPr>
      </p:pic>
      <p:pic>
        <p:nvPicPr>
          <p:cNvPr descr="image.png" id="178" name="Google Shape;178;p19"/>
          <p:cNvPicPr preferRelativeResize="0"/>
          <p:nvPr/>
        </p:nvPicPr>
        <p:blipFill rotWithShape="1">
          <a:blip r:embed="rId4">
            <a:alphaModFix/>
          </a:blip>
          <a:srcRect b="0" l="0" r="0" t="0"/>
          <a:stretch/>
        </p:blipFill>
        <p:spPr>
          <a:xfrm>
            <a:off x="3757613" y="128588"/>
            <a:ext cx="2071688" cy="207169"/>
          </a:xfrm>
          <a:prstGeom prst="rect">
            <a:avLst/>
          </a:prstGeom>
          <a:noFill/>
          <a:ln>
            <a:noFill/>
          </a:ln>
        </p:spPr>
      </p:pic>
      <p:pic>
        <p:nvPicPr>
          <p:cNvPr descr="image.png" id="179" name="Google Shape;179;p19"/>
          <p:cNvPicPr preferRelativeResize="0"/>
          <p:nvPr/>
        </p:nvPicPr>
        <p:blipFill rotWithShape="1">
          <a:blip r:embed="rId5">
            <a:alphaModFix/>
          </a:blip>
          <a:srcRect b="0" l="0" r="0" t="0"/>
          <a:stretch/>
        </p:blipFill>
        <p:spPr>
          <a:xfrm>
            <a:off x="428625" y="2043447"/>
            <a:ext cx="2666962" cy="1078706"/>
          </a:xfrm>
          <a:prstGeom prst="rect">
            <a:avLst/>
          </a:prstGeom>
          <a:noFill/>
          <a:ln>
            <a:noFill/>
          </a:ln>
        </p:spPr>
      </p:pic>
      <p:pic>
        <p:nvPicPr>
          <p:cNvPr descr="image.png" id="180" name="Google Shape;180;p19"/>
          <p:cNvPicPr preferRelativeResize="0"/>
          <p:nvPr/>
        </p:nvPicPr>
        <p:blipFill rotWithShape="1">
          <a:blip r:embed="rId6">
            <a:alphaModFix/>
          </a:blip>
          <a:srcRect b="0" l="0" r="0" t="0"/>
          <a:stretch/>
        </p:blipFill>
        <p:spPr>
          <a:xfrm>
            <a:off x="3238463" y="2043447"/>
            <a:ext cx="2666962" cy="1078706"/>
          </a:xfrm>
          <a:prstGeom prst="rect">
            <a:avLst/>
          </a:prstGeom>
          <a:noFill/>
          <a:ln>
            <a:noFill/>
          </a:ln>
        </p:spPr>
      </p:pic>
      <p:pic>
        <p:nvPicPr>
          <p:cNvPr descr="image.png" id="181" name="Google Shape;181;p19"/>
          <p:cNvPicPr preferRelativeResize="0"/>
          <p:nvPr/>
        </p:nvPicPr>
        <p:blipFill rotWithShape="1">
          <a:blip r:embed="rId7">
            <a:alphaModFix/>
          </a:blip>
          <a:srcRect b="0" l="0" r="0" t="0"/>
          <a:stretch/>
        </p:blipFill>
        <p:spPr>
          <a:xfrm>
            <a:off x="6048300" y="2043447"/>
            <a:ext cx="2667073" cy="1078706"/>
          </a:xfrm>
          <a:prstGeom prst="rect">
            <a:avLst/>
          </a:prstGeom>
          <a:noFill/>
          <a:ln>
            <a:noFill/>
          </a:ln>
        </p:spPr>
      </p:pic>
      <p:pic>
        <p:nvPicPr>
          <p:cNvPr descr="image.png" id="182" name="Google Shape;182;p19"/>
          <p:cNvPicPr preferRelativeResize="0"/>
          <p:nvPr/>
        </p:nvPicPr>
        <p:blipFill rotWithShape="1">
          <a:blip r:embed="rId8">
            <a:alphaModFix/>
          </a:blip>
          <a:srcRect b="0" l="0" r="0" t="0"/>
          <a:stretch/>
        </p:blipFill>
        <p:spPr>
          <a:xfrm>
            <a:off x="428625" y="3336466"/>
            <a:ext cx="4036219" cy="1521284"/>
          </a:xfrm>
          <a:prstGeom prst="rect">
            <a:avLst/>
          </a:prstGeom>
          <a:noFill/>
          <a:ln>
            <a:noFill/>
          </a:ln>
        </p:spPr>
      </p:pic>
      <p:pic>
        <p:nvPicPr>
          <p:cNvPr descr="image.png" id="183" name="Google Shape;183;p19"/>
          <p:cNvPicPr preferRelativeResize="0"/>
          <p:nvPr/>
        </p:nvPicPr>
        <p:blipFill rotWithShape="1">
          <a:blip r:embed="rId9">
            <a:alphaModFix/>
          </a:blip>
          <a:srcRect b="0" l="0" r="0" t="0"/>
          <a:stretch/>
        </p:blipFill>
        <p:spPr>
          <a:xfrm>
            <a:off x="4679156" y="3336466"/>
            <a:ext cx="4036219" cy="1521284"/>
          </a:xfrm>
          <a:prstGeom prst="rect">
            <a:avLst/>
          </a:prstGeom>
          <a:noFill/>
          <a:ln>
            <a:noFill/>
          </a:ln>
        </p:spPr>
      </p:pic>
      <p:pic>
        <p:nvPicPr>
          <p:cNvPr descr="image.png" id="184" name="Google Shape;184;p19"/>
          <p:cNvPicPr preferRelativeResize="0"/>
          <p:nvPr/>
        </p:nvPicPr>
        <p:blipFill rotWithShape="1">
          <a:blip r:embed="rId10">
            <a:alphaModFix/>
          </a:blip>
          <a:srcRect b="0" l="0" r="0" t="0"/>
          <a:stretch/>
        </p:blipFill>
        <p:spPr>
          <a:xfrm>
            <a:off x="0" y="0"/>
            <a:ext cx="9144000" cy="464344"/>
          </a:xfrm>
          <a:prstGeom prst="rect">
            <a:avLst/>
          </a:prstGeom>
          <a:noFill/>
          <a:ln>
            <a:noFill/>
          </a:ln>
        </p:spPr>
      </p:pic>
      <p:sp>
        <p:nvSpPr>
          <p:cNvPr id="185" name="Google Shape;185;p19"/>
          <p:cNvSpPr txBox="1"/>
          <p:nvPr/>
        </p:nvSpPr>
        <p:spPr>
          <a:xfrm>
            <a:off x="285750" y="114300"/>
            <a:ext cx="14289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200" u="none" cap="none" strike="noStrike">
                <a:solidFill>
                  <a:srgbClr val="F8FAFC"/>
                </a:solidFill>
                <a:latin typeface="Poppins SemiBold"/>
                <a:ea typeface="Poppins SemiBold"/>
                <a:cs typeface="Poppins SemiBold"/>
                <a:sym typeface="Poppins SemiBold"/>
              </a:rPr>
              <a:t>R1 Product Owner</a:t>
            </a:r>
            <a:endParaRPr sz="1100"/>
          </a:p>
        </p:txBody>
      </p:sp>
      <p:sp>
        <p:nvSpPr>
          <p:cNvPr id="186" name="Google Shape;186;p19"/>
          <p:cNvSpPr txBox="1"/>
          <p:nvPr/>
        </p:nvSpPr>
        <p:spPr>
          <a:xfrm>
            <a:off x="428625" y="999120"/>
            <a:ext cx="87012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2400" u="none" cap="none" strike="noStrike">
                <a:solidFill>
                  <a:srgbClr val="1E293B"/>
                </a:solidFill>
                <a:latin typeface="Poppins"/>
                <a:ea typeface="Poppins"/>
                <a:cs typeface="Poppins"/>
                <a:sym typeface="Poppins"/>
              </a:rPr>
              <a:t>Forecast contract</a:t>
            </a:r>
            <a:endParaRPr sz="1100"/>
          </a:p>
        </p:txBody>
      </p:sp>
      <p:sp>
        <p:nvSpPr>
          <p:cNvPr id="187" name="Google Shape;187;p19"/>
          <p:cNvSpPr txBox="1"/>
          <p:nvPr/>
        </p:nvSpPr>
        <p:spPr>
          <a:xfrm>
            <a:off x="428625" y="1649201"/>
            <a:ext cx="8286900" cy="1539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zh-CN" sz="1000" u="none" cap="none" strike="noStrike">
                <a:solidFill>
                  <a:srgbClr val="64748B"/>
                </a:solidFill>
                <a:latin typeface="Lato"/>
                <a:ea typeface="Lato"/>
                <a:cs typeface="Lato"/>
                <a:sym typeface="Lato"/>
              </a:rPr>
              <a:t>Use for the final Product Owner statement: what the team is committing to forecast this week.</a:t>
            </a:r>
            <a:endParaRPr sz="1100"/>
          </a:p>
        </p:txBody>
      </p:sp>
      <p:sp>
        <p:nvSpPr>
          <p:cNvPr id="188" name="Google Shape;188;p19"/>
          <p:cNvSpPr txBox="1"/>
          <p:nvPr/>
        </p:nvSpPr>
        <p:spPr>
          <a:xfrm>
            <a:off x="578644"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SPX</a:t>
            </a:r>
            <a:endParaRPr sz="1100"/>
          </a:p>
        </p:txBody>
      </p:sp>
      <p:sp>
        <p:nvSpPr>
          <p:cNvPr id="189" name="Google Shape;189;p19"/>
          <p:cNvSpPr txBox="1"/>
          <p:nvPr/>
        </p:nvSpPr>
        <p:spPr>
          <a:xfrm>
            <a:off x="578644"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Sideways</a:t>
            </a:r>
            <a:endParaRPr sz="1100"/>
          </a:p>
        </p:txBody>
      </p:sp>
      <p:sp>
        <p:nvSpPr>
          <p:cNvPr id="190" name="Google Shape;190;p19"/>
          <p:cNvSpPr txBox="1"/>
          <p:nvPr/>
        </p:nvSpPr>
        <p:spPr>
          <a:xfrm>
            <a:off x="578644"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-0.6% to +0.8%</a:t>
            </a:r>
            <a:endParaRPr sz="1100"/>
          </a:p>
        </p:txBody>
      </p:sp>
      <p:sp>
        <p:nvSpPr>
          <p:cNvPr id="191" name="Google Shape;191;p19"/>
          <p:cNvSpPr txBox="1"/>
          <p:nvPr/>
        </p:nvSpPr>
        <p:spPr>
          <a:xfrm>
            <a:off x="578644"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192" name="Google Shape;192;p19"/>
          <p:cNvSpPr txBox="1"/>
          <p:nvPr/>
        </p:nvSpPr>
        <p:spPr>
          <a:xfrm>
            <a:off x="3388481"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NDX</a:t>
            </a:r>
            <a:endParaRPr sz="1100"/>
          </a:p>
        </p:txBody>
      </p:sp>
      <p:sp>
        <p:nvSpPr>
          <p:cNvPr id="193" name="Google Shape;193;p19"/>
          <p:cNvSpPr txBox="1"/>
          <p:nvPr/>
        </p:nvSpPr>
        <p:spPr>
          <a:xfrm>
            <a:off x="3388481"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Sideways</a:t>
            </a:r>
            <a:endParaRPr sz="1100"/>
          </a:p>
        </p:txBody>
      </p:sp>
      <p:sp>
        <p:nvSpPr>
          <p:cNvPr id="194" name="Google Shape;194;p19"/>
          <p:cNvSpPr txBox="1"/>
          <p:nvPr/>
        </p:nvSpPr>
        <p:spPr>
          <a:xfrm>
            <a:off x="3388481"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-0.9% to +0.8%</a:t>
            </a:r>
            <a:endParaRPr sz="1100"/>
          </a:p>
        </p:txBody>
      </p:sp>
      <p:sp>
        <p:nvSpPr>
          <p:cNvPr id="195" name="Google Shape;195;p19"/>
          <p:cNvSpPr txBox="1"/>
          <p:nvPr/>
        </p:nvSpPr>
        <p:spPr>
          <a:xfrm>
            <a:off x="3388481"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196" name="Google Shape;196;p19"/>
          <p:cNvSpPr txBox="1"/>
          <p:nvPr/>
        </p:nvSpPr>
        <p:spPr>
          <a:xfrm>
            <a:off x="6198319" y="2193466"/>
            <a:ext cx="2485500" cy="169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1100" u="none" cap="none" strike="noStrike">
                <a:solidFill>
                  <a:srgbClr val="1E293B"/>
                </a:solidFill>
                <a:latin typeface="Poppins"/>
                <a:ea typeface="Poppins"/>
                <a:cs typeface="Poppins"/>
                <a:sym typeface="Poppins"/>
              </a:rPr>
              <a:t>IWM</a:t>
            </a:r>
            <a:endParaRPr sz="1100"/>
          </a:p>
        </p:txBody>
      </p:sp>
      <p:sp>
        <p:nvSpPr>
          <p:cNvPr id="197" name="Google Shape;197;p19"/>
          <p:cNvSpPr txBox="1"/>
          <p:nvPr/>
        </p:nvSpPr>
        <p:spPr>
          <a:xfrm>
            <a:off x="6198319" y="2479216"/>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Direction: </a:t>
            </a:r>
            <a:r>
              <a:rPr b="1" i="0" lang="zh-CN" sz="800" u="none" cap="none" strike="noStrike">
                <a:solidFill>
                  <a:srgbClr val="1E293B"/>
                </a:solidFill>
                <a:latin typeface="Lato"/>
                <a:ea typeface="Lato"/>
                <a:cs typeface="Lato"/>
                <a:sym typeface="Lato"/>
              </a:rPr>
              <a:t>Neutral → Down</a:t>
            </a:r>
            <a:endParaRPr sz="1100"/>
          </a:p>
        </p:txBody>
      </p:sp>
      <p:sp>
        <p:nvSpPr>
          <p:cNvPr id="198" name="Google Shape;198;p19"/>
          <p:cNvSpPr txBox="1"/>
          <p:nvPr/>
        </p:nvSpPr>
        <p:spPr>
          <a:xfrm>
            <a:off x="6198319" y="2643522"/>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Range: </a:t>
            </a:r>
            <a:r>
              <a:rPr b="1" i="0" lang="zh-CN" sz="800" u="none" cap="none" strike="noStrike">
                <a:solidFill>
                  <a:srgbClr val="1E293B"/>
                </a:solidFill>
                <a:latin typeface="Lato"/>
                <a:ea typeface="Lato"/>
                <a:cs typeface="Lato"/>
                <a:sym typeface="Lato"/>
              </a:rPr>
              <a:t>-1.1% to +0.4%</a:t>
            </a:r>
            <a:endParaRPr sz="1100"/>
          </a:p>
        </p:txBody>
      </p:sp>
      <p:sp>
        <p:nvSpPr>
          <p:cNvPr id="199" name="Google Shape;199;p19"/>
          <p:cNvSpPr txBox="1"/>
          <p:nvPr/>
        </p:nvSpPr>
        <p:spPr>
          <a:xfrm>
            <a:off x="6198319" y="2807828"/>
            <a:ext cx="23670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800" u="none" cap="none" strike="noStrike">
                <a:solidFill>
                  <a:srgbClr val="64748B"/>
                </a:solidFill>
                <a:latin typeface="Lato"/>
                <a:ea typeface="Lato"/>
                <a:cs typeface="Lato"/>
                <a:sym typeface="Lato"/>
              </a:rPr>
              <a:t>Confidence: </a:t>
            </a:r>
            <a:r>
              <a:rPr b="1" i="0" lang="zh-CN" sz="800" u="none" cap="none" strike="noStrike">
                <a:solidFill>
                  <a:srgbClr val="1E293B"/>
                </a:solidFill>
                <a:latin typeface="Lato"/>
                <a:ea typeface="Lato"/>
                <a:cs typeface="Lato"/>
                <a:sym typeface="Lato"/>
              </a:rPr>
              <a:t>Medium</a:t>
            </a:r>
            <a:endParaRPr sz="1100"/>
          </a:p>
        </p:txBody>
      </p:sp>
      <p:sp>
        <p:nvSpPr>
          <p:cNvPr id="200" name="Google Shape;200;p19"/>
          <p:cNvSpPr txBox="1"/>
          <p:nvPr/>
        </p:nvSpPr>
        <p:spPr>
          <a:xfrm>
            <a:off x="650081" y="3522203"/>
            <a:ext cx="38103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Assumptions</a:t>
            </a:r>
            <a:endParaRPr sz="1100"/>
          </a:p>
        </p:txBody>
      </p:sp>
      <p:sp>
        <p:nvSpPr>
          <p:cNvPr id="201" name="Google Shape;201;p19"/>
          <p:cNvSpPr txBox="1"/>
          <p:nvPr/>
        </p:nvSpPr>
        <p:spPr>
          <a:xfrm>
            <a:off x="4900613" y="3522203"/>
            <a:ext cx="38103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1400" u="none" cap="none" strike="noStrike">
                <a:solidFill>
                  <a:srgbClr val="1E293B"/>
                </a:solidFill>
                <a:latin typeface="Poppins SemiBold"/>
                <a:ea typeface="Poppins SemiBold"/>
                <a:cs typeface="Poppins SemiBold"/>
                <a:sym typeface="Poppins SemiBold"/>
              </a:rPr>
              <a:t>Definition of done</a:t>
            </a:r>
            <a:endParaRPr sz="1100"/>
          </a:p>
        </p:txBody>
      </p:sp>
      <p:sp>
        <p:nvSpPr>
          <p:cNvPr id="202" name="Google Shape;202;p19"/>
          <p:cNvSpPr txBox="1"/>
          <p:nvPr/>
        </p:nvSpPr>
        <p:spPr>
          <a:xfrm>
            <a:off x="4900613" y="3879391"/>
            <a:ext cx="3629100" cy="400200"/>
          </a:xfrm>
          <a:prstGeom prst="rect">
            <a:avLst/>
          </a:prstGeom>
          <a:noFill/>
          <a:ln>
            <a:noFill/>
          </a:ln>
        </p:spPr>
        <p:txBody>
          <a:bodyPr anchorCtr="0" anchor="t" bIns="0" lIns="0" spcFirstLastPara="1" rIns="0" wrap="square" tIns="0">
            <a:spAutoFit/>
          </a:bodyPr>
          <a:lstStyle/>
          <a:p>
            <a:pPr indent="0" lvl="0" marL="0" marR="0" rtl="0" algn="l">
              <a:lnSpc>
                <a:spcPct val="159921"/>
              </a:lnSpc>
              <a:spcBef>
                <a:spcPts val="0"/>
              </a:spcBef>
              <a:spcAft>
                <a:spcPts val="0"/>
              </a:spcAft>
              <a:buNone/>
            </a:pPr>
            <a:r>
              <a:rPr b="0" i="0" lang="zh-CN" sz="1000" u="none" cap="none" strike="noStrike">
                <a:solidFill>
                  <a:srgbClr val="475569"/>
                </a:solidFill>
                <a:latin typeface="Lato"/>
                <a:ea typeface="Lato"/>
                <a:cs typeface="Lato"/>
                <a:sym typeface="Lato"/>
              </a:rPr>
              <a:t>All role evidence is submitted, labelled, committed to GitHub, and ready for R10 calibration after market actuals.</a:t>
            </a:r>
            <a:endParaRPr sz="1100"/>
          </a:p>
        </p:txBody>
      </p:sp>
      <p:sp>
        <p:nvSpPr>
          <p:cNvPr id="203" name="Google Shape;203;p19"/>
          <p:cNvSpPr txBox="1"/>
          <p:nvPr/>
        </p:nvSpPr>
        <p:spPr>
          <a:xfrm>
            <a:off x="828675" y="3879391"/>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Main macro driver remains </a:t>
            </a:r>
            <a:r>
              <a:rPr b="1" i="0" lang="zh-CN" sz="900" u="none" cap="none" strike="noStrike">
                <a:solidFill>
                  <a:srgbClr val="475569"/>
                </a:solidFill>
                <a:latin typeface="Lato"/>
                <a:ea typeface="Lato"/>
                <a:cs typeface="Lato"/>
                <a:sym typeface="Lato"/>
              </a:rPr>
              <a:t>U.S. Employment Situation</a:t>
            </a:r>
            <a:r>
              <a:rPr b="0" i="0" lang="zh-CN" sz="900" u="none" cap="none" strike="noStrike">
                <a:solidFill>
                  <a:srgbClr val="475569"/>
                </a:solidFill>
                <a:latin typeface="Lato"/>
                <a:ea typeface="Lato"/>
                <a:cs typeface="Lato"/>
                <a:sym typeface="Lato"/>
              </a:rPr>
              <a:t>.</a:t>
            </a:r>
            <a:endParaRPr sz="1100"/>
          </a:p>
        </p:txBody>
      </p:sp>
      <p:sp>
        <p:nvSpPr>
          <p:cNvPr id="204" name="Google Shape;204;p19"/>
          <p:cNvSpPr txBox="1"/>
          <p:nvPr/>
        </p:nvSpPr>
        <p:spPr>
          <a:xfrm>
            <a:off x="828675" y="4100847"/>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Technical invalidation level is </a:t>
            </a:r>
            <a:r>
              <a:rPr b="1" i="0" lang="zh-CN" sz="900" u="none" cap="none" strike="noStrike">
                <a:solidFill>
                  <a:srgbClr val="475569"/>
                </a:solidFill>
                <a:latin typeface="Lato"/>
                <a:ea typeface="Lato"/>
                <a:cs typeface="Lato"/>
                <a:sym typeface="Lato"/>
              </a:rPr>
              <a:t>SPX break above 7,609.78</a:t>
            </a:r>
            <a:r>
              <a:rPr b="0" i="0" lang="zh-CN" sz="900" u="none" cap="none" strike="noStrike">
                <a:solidFill>
                  <a:srgbClr val="475569"/>
                </a:solidFill>
                <a:latin typeface="Lato"/>
                <a:ea typeface="Lato"/>
                <a:cs typeface="Lato"/>
                <a:sym typeface="Lato"/>
              </a:rPr>
              <a:t>.</a:t>
            </a:r>
            <a:endParaRPr sz="1100"/>
          </a:p>
        </p:txBody>
      </p:sp>
      <p:sp>
        <p:nvSpPr>
          <p:cNvPr id="205" name="Google Shape;205;p19"/>
          <p:cNvSpPr txBox="1"/>
          <p:nvPr/>
        </p:nvSpPr>
        <p:spPr>
          <a:xfrm>
            <a:off x="828675" y="4322303"/>
            <a:ext cx="34503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zh-CN" sz="900" u="none" cap="none" strike="noStrike">
                <a:solidFill>
                  <a:srgbClr val="475569"/>
                </a:solidFill>
                <a:latin typeface="Lato"/>
                <a:ea typeface="Lato"/>
                <a:cs typeface="Lato"/>
                <a:sym typeface="Lato"/>
              </a:rPr>
              <a:t>Human override </a:t>
            </a:r>
            <a:r>
              <a:rPr b="1" i="0" lang="zh-CN" sz="900" u="none" cap="none" strike="noStrike">
                <a:solidFill>
                  <a:srgbClr val="475569"/>
                </a:solidFill>
                <a:latin typeface="Lato"/>
                <a:ea typeface="Lato"/>
                <a:cs typeface="Lato"/>
                <a:sym typeface="Lato"/>
              </a:rPr>
              <a:t>is applied</a:t>
            </a:r>
            <a:r>
              <a:rPr b="0" i="0" lang="zh-CN" sz="900" u="none" cap="none" strike="noStrike">
                <a:solidFill>
                  <a:srgbClr val="475569"/>
                </a:solidFill>
                <a:latin typeface="Lato"/>
                <a:ea typeface="Lato"/>
                <a:cs typeface="Lato"/>
                <a:sym typeface="Lato"/>
              </a:rPr>
              <a:t> to narrow wide LLM ranges.</a:t>
            </a:r>
            <a:endParaRPr sz="1100"/>
          </a:p>
        </p:txBody>
      </p:sp>
      <p:sp>
        <p:nvSpPr>
          <p:cNvPr id="206" name="Google Shape;206;p19"/>
          <p:cNvSpPr txBox="1"/>
          <p:nvPr/>
        </p:nvSpPr>
        <p:spPr>
          <a:xfrm>
            <a:off x="650081" y="3879391"/>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
        <p:nvSpPr>
          <p:cNvPr id="207" name="Google Shape;207;p19"/>
          <p:cNvSpPr txBox="1"/>
          <p:nvPr/>
        </p:nvSpPr>
        <p:spPr>
          <a:xfrm>
            <a:off x="650081" y="4100847"/>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
        <p:nvSpPr>
          <p:cNvPr id="208" name="Google Shape;208;p19"/>
          <p:cNvSpPr txBox="1"/>
          <p:nvPr/>
        </p:nvSpPr>
        <p:spPr>
          <a:xfrm>
            <a:off x="650081" y="4322303"/>
            <a:ext cx="64500" cy="13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zh-CN" sz="900" u="none" cap="none" strike="noStrike">
                <a:solidFill>
                  <a:srgbClr val="6366F1"/>
                </a:solidFill>
                <a:latin typeface="Lato"/>
                <a:ea typeface="Lato"/>
                <a:cs typeface="Lato"/>
                <a:sym typeface="Lato"/>
              </a:rPr>
              <a:t>•</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13" name="Shape 213"/>
        <p:cNvGrpSpPr/>
        <p:nvPr/>
      </p:nvGrpSpPr>
      <p:grpSpPr>
        <a:xfrm>
          <a:off x="0" y="0"/>
          <a:ext cx="0" cy="0"/>
          <a:chOff x="0" y="0"/>
          <a:chExt cx="0" cy="0"/>
        </a:xfrm>
      </p:grpSpPr>
      <p:sp>
        <p:nvSpPr>
          <p:cNvPr id="214" name="Google Shape;214;p20"/>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15" name="Google Shape;215;p20"/>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rtl="0" algn="l">
              <a:spcBef>
                <a:spcPts val="0"/>
              </a:spcBef>
              <a:spcAft>
                <a:spcPts val="0"/>
              </a:spcAft>
              <a:buClr>
                <a:schemeClr val="dk1"/>
              </a:buClr>
              <a:buSzPts val="1100"/>
              <a:buFont typeface="Arial"/>
              <a:buNone/>
            </a:pPr>
            <a:r>
              <a:rPr b="1" lang="zh-CN" sz="1500">
                <a:solidFill>
                  <a:srgbClr val="FFFFFF"/>
                </a:solidFill>
              </a:rPr>
              <a:t>R6 Data Lead</a:t>
            </a:r>
            <a:endParaRPr b="1" sz="1500">
              <a:solidFill>
                <a:srgbClr val="FFFFFF"/>
              </a:solidFill>
            </a:endParaRPr>
          </a:p>
        </p:txBody>
      </p:sp>
      <p:sp>
        <p:nvSpPr>
          <p:cNvPr id="216" name="Google Shape;216;p20"/>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7" name="Google Shape;217;p20"/>
          <p:cNvSpPr/>
          <p:nvPr/>
        </p:nvSpPr>
        <p:spPr>
          <a:xfrm>
            <a:off x="384050" y="949675"/>
            <a:ext cx="1905000" cy="20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5C9F"/>
              </a:buClr>
              <a:buSzPts val="804"/>
              <a:buFont typeface="Arial"/>
              <a:buNone/>
            </a:pPr>
            <a:r>
              <a:rPr b="1" i="0" lang="zh-CN" sz="1604" u="none" cap="none" strike="noStrike">
                <a:solidFill>
                  <a:srgbClr val="245C9F"/>
                </a:solidFill>
                <a:latin typeface="Arial"/>
                <a:ea typeface="Arial"/>
                <a:cs typeface="Arial"/>
                <a:sym typeface="Arial"/>
              </a:rPr>
              <a:t>OBJECTIVE</a:t>
            </a:r>
            <a:r>
              <a:rPr b="1" lang="zh-CN" sz="1604">
                <a:solidFill>
                  <a:srgbClr val="245C9F"/>
                </a:solidFill>
              </a:rPr>
              <a:t>S</a:t>
            </a:r>
            <a:endParaRPr b="0" i="0" sz="1604" u="none" cap="none" strike="noStrike">
              <a:solidFill>
                <a:srgbClr val="245C9F"/>
              </a:solidFill>
              <a:latin typeface="Arial"/>
              <a:ea typeface="Arial"/>
              <a:cs typeface="Arial"/>
              <a:sym typeface="Arial"/>
            </a:endParaRPr>
          </a:p>
        </p:txBody>
      </p:sp>
      <p:sp>
        <p:nvSpPr>
          <p:cNvPr id="218" name="Google Shape;218;p20"/>
          <p:cNvSpPr txBox="1"/>
          <p:nvPr/>
        </p:nvSpPr>
        <p:spPr>
          <a:xfrm>
            <a:off x="384050" y="1220600"/>
            <a:ext cx="8209500" cy="461700"/>
          </a:xfrm>
          <a:prstGeom prst="rect">
            <a:avLst/>
          </a:prstGeom>
          <a:noFill/>
          <a:ln>
            <a:noFill/>
          </a:ln>
        </p:spPr>
        <p:txBody>
          <a:bodyPr anchorCtr="0" anchor="t" bIns="45700" lIns="45700" spcFirstLastPara="1" rIns="45700" wrap="square" tIns="45700">
            <a:spAutoFit/>
          </a:bodyPr>
          <a:lstStyle/>
          <a:p>
            <a:pPr indent="-304800" lvl="0" marL="457200" marR="0" rtl="0" algn="l">
              <a:spcBef>
                <a:spcPts val="0"/>
              </a:spcBef>
              <a:spcAft>
                <a:spcPts val="0"/>
              </a:spcAft>
              <a:buClr>
                <a:srgbClr val="56657D"/>
              </a:buClr>
              <a:buSzPts val="1200"/>
              <a:buFont typeface="Arial"/>
              <a:buChar char="●"/>
            </a:pPr>
            <a:r>
              <a:rPr lang="zh-CN" sz="1200">
                <a:solidFill>
                  <a:srgbClr val="56657D"/>
                </a:solidFill>
              </a:rPr>
              <a:t>Display markdown output on the website front-end</a:t>
            </a:r>
            <a:endParaRPr sz="1200">
              <a:solidFill>
                <a:srgbClr val="56657D"/>
              </a:solidFill>
            </a:endParaRPr>
          </a:p>
          <a:p>
            <a:pPr indent="-304800" lvl="0" marL="457200" marR="0" rtl="0" algn="l">
              <a:spcBef>
                <a:spcPts val="0"/>
              </a:spcBef>
              <a:spcAft>
                <a:spcPts val="0"/>
              </a:spcAft>
              <a:buClr>
                <a:srgbClr val="56657D"/>
              </a:buClr>
              <a:buSzPts val="1200"/>
              <a:buChar char="●"/>
            </a:pPr>
            <a:r>
              <a:rPr lang="zh-CN" sz="1200">
                <a:solidFill>
                  <a:srgbClr val="56657D"/>
                </a:solidFill>
              </a:rPr>
              <a:t>Recreate market scores grid on the website</a:t>
            </a:r>
            <a:endParaRPr sz="1200">
              <a:solidFill>
                <a:srgbClr val="56657D"/>
              </a:solidFill>
            </a:endParaRPr>
          </a:p>
        </p:txBody>
      </p:sp>
      <p:pic>
        <p:nvPicPr>
          <p:cNvPr id="219" name="Google Shape;219;p20" title="Screenshot 2026-08-02 at 12.29.31 PM.png"/>
          <p:cNvPicPr preferRelativeResize="0"/>
          <p:nvPr/>
        </p:nvPicPr>
        <p:blipFill>
          <a:blip r:embed="rId3">
            <a:alphaModFix/>
          </a:blip>
          <a:stretch>
            <a:fillRect/>
          </a:stretch>
        </p:blipFill>
        <p:spPr>
          <a:xfrm>
            <a:off x="2642363" y="1747825"/>
            <a:ext cx="3859287" cy="31563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24" name="Shape 224"/>
        <p:cNvGrpSpPr/>
        <p:nvPr/>
      </p:nvGrpSpPr>
      <p:grpSpPr>
        <a:xfrm>
          <a:off x="0" y="0"/>
          <a:ext cx="0" cy="0"/>
          <a:chOff x="0" y="0"/>
          <a:chExt cx="0" cy="0"/>
        </a:xfrm>
      </p:grpSpPr>
      <p:sp>
        <p:nvSpPr>
          <p:cNvPr id="225" name="Google Shape;225;p21"/>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26" name="Google Shape;226;p21"/>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rtl="0" algn="l">
              <a:spcBef>
                <a:spcPts val="0"/>
              </a:spcBef>
              <a:spcAft>
                <a:spcPts val="0"/>
              </a:spcAft>
              <a:buClr>
                <a:schemeClr val="dk1"/>
              </a:buClr>
              <a:buSzPts val="1100"/>
              <a:buFont typeface="Arial"/>
              <a:buNone/>
            </a:pPr>
            <a:r>
              <a:rPr b="1" lang="zh-CN" sz="1500">
                <a:solidFill>
                  <a:srgbClr val="FFFFFF"/>
                </a:solidFill>
              </a:rPr>
              <a:t>R6 Data Lead</a:t>
            </a:r>
            <a:endParaRPr b="1" sz="1500">
              <a:solidFill>
                <a:srgbClr val="FFFFFF"/>
              </a:solidFill>
            </a:endParaRPr>
          </a:p>
        </p:txBody>
      </p:sp>
      <p:sp>
        <p:nvSpPr>
          <p:cNvPr id="227" name="Google Shape;227;p21"/>
          <p:cNvSpPr/>
          <p:nvPr/>
        </p:nvSpPr>
        <p:spPr>
          <a:xfrm>
            <a:off x="0" y="640080"/>
            <a:ext cx="9144000" cy="366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8" name="Google Shape;228;p21"/>
          <p:cNvSpPr/>
          <p:nvPr/>
        </p:nvSpPr>
        <p:spPr>
          <a:xfrm>
            <a:off x="384051" y="949675"/>
            <a:ext cx="7805700" cy="32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5C9F"/>
              </a:buClr>
              <a:buSzPts val="804"/>
              <a:buFont typeface="Arial"/>
              <a:buNone/>
            </a:pPr>
            <a:r>
              <a:rPr b="1" lang="zh-CN" sz="1604">
                <a:solidFill>
                  <a:srgbClr val="245C9F"/>
                </a:solidFill>
              </a:rPr>
              <a:t>ACTUALS</a:t>
            </a:r>
            <a:endParaRPr b="0" i="0" sz="1604" u="none" cap="none" strike="noStrike">
              <a:solidFill>
                <a:srgbClr val="245C9F"/>
              </a:solidFill>
              <a:latin typeface="Arial"/>
              <a:ea typeface="Arial"/>
              <a:cs typeface="Arial"/>
              <a:sym typeface="Arial"/>
            </a:endParaRPr>
          </a:p>
        </p:txBody>
      </p:sp>
      <p:pic>
        <p:nvPicPr>
          <p:cNvPr id="229" name="Google Shape;229;p21" title="Screenshot 2026-08-02 at 12.29.12 PM.png"/>
          <p:cNvPicPr preferRelativeResize="0"/>
          <p:nvPr/>
        </p:nvPicPr>
        <p:blipFill>
          <a:blip r:embed="rId3">
            <a:alphaModFix/>
          </a:blip>
          <a:stretch>
            <a:fillRect/>
          </a:stretch>
        </p:blipFill>
        <p:spPr>
          <a:xfrm>
            <a:off x="915325" y="1545775"/>
            <a:ext cx="7313349" cy="30846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34" name="Shape 234"/>
        <p:cNvGrpSpPr/>
        <p:nvPr/>
      </p:nvGrpSpPr>
      <p:grpSpPr>
        <a:xfrm>
          <a:off x="0" y="0"/>
          <a:ext cx="0" cy="0"/>
          <a:chOff x="0" y="0"/>
          <a:chExt cx="0" cy="0"/>
        </a:xfrm>
      </p:grpSpPr>
      <p:sp>
        <p:nvSpPr>
          <p:cNvPr id="235" name="Google Shape;235;p22"/>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36" name="Google Shape;236;p22"/>
          <p:cNvSpPr/>
          <p:nvPr/>
        </p:nvSpPr>
        <p:spPr>
          <a:xfrm>
            <a:off x="0" y="640080"/>
            <a:ext cx="9144000" cy="36600"/>
          </a:xfrm>
          <a:prstGeom prst="rect">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37" name="Google Shape;237;p22"/>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a:t>
            </a:r>
            <a:r>
              <a:rPr b="1" lang="zh-CN" sz="1500">
                <a:solidFill>
                  <a:srgbClr val="FFFFFF"/>
                </a:solidFill>
              </a:rPr>
              <a:t>3</a:t>
            </a:r>
            <a:r>
              <a:rPr b="1" lang="zh-CN" sz="1500">
                <a:solidFill>
                  <a:srgbClr val="FFFFFF"/>
                </a:solidFill>
                <a:latin typeface="Arial"/>
                <a:ea typeface="Arial"/>
                <a:cs typeface="Arial"/>
                <a:sym typeface="Arial"/>
              </a:rPr>
              <a:t> </a:t>
            </a:r>
            <a:r>
              <a:rPr b="1" lang="zh-CN" sz="1500">
                <a:solidFill>
                  <a:srgbClr val="FFFFFF"/>
                </a:solidFill>
              </a:rPr>
              <a:t>Almanac Lead</a:t>
            </a:r>
            <a:endParaRPr/>
          </a:p>
        </p:txBody>
      </p:sp>
      <p:sp>
        <p:nvSpPr>
          <p:cNvPr id="238" name="Google Shape;238;p22"/>
          <p:cNvSpPr/>
          <p:nvPr/>
        </p:nvSpPr>
        <p:spPr>
          <a:xfrm>
            <a:off x="542925" y="892969"/>
            <a:ext cx="8058300" cy="30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700"/>
              <a:buFont typeface="Arial"/>
              <a:buNone/>
            </a:pPr>
            <a:r>
              <a:rPr b="1" lang="zh-CN" sz="1700">
                <a:solidFill>
                  <a:srgbClr val="0B1B32"/>
                </a:solidFill>
                <a:latin typeface="Arial"/>
                <a:ea typeface="Arial"/>
                <a:cs typeface="Arial"/>
                <a:sym typeface="Arial"/>
              </a:rPr>
              <a:t>The scheduled pipeline delivered</a:t>
            </a:r>
            <a:r>
              <a:rPr b="1" lang="zh-CN" sz="1700">
                <a:solidFill>
                  <a:srgbClr val="0B1B32"/>
                </a:solidFill>
              </a:rPr>
              <a:t> </a:t>
            </a:r>
            <a:r>
              <a:rPr b="1" lang="zh-CN" sz="1700">
                <a:solidFill>
                  <a:srgbClr val="0B1B32"/>
                </a:solidFill>
                <a:latin typeface="Arial"/>
                <a:ea typeface="Arial"/>
                <a:cs typeface="Arial"/>
                <a:sym typeface="Arial"/>
              </a:rPr>
              <a:t>validated </a:t>
            </a:r>
            <a:r>
              <a:rPr b="1" lang="zh-CN" sz="1700">
                <a:solidFill>
                  <a:srgbClr val="0B1B32"/>
                </a:solidFill>
              </a:rPr>
              <a:t>outputs</a:t>
            </a:r>
            <a:endParaRPr sz="1100"/>
          </a:p>
        </p:txBody>
      </p:sp>
      <p:sp>
        <p:nvSpPr>
          <p:cNvPr id="239" name="Google Shape;239;p22"/>
          <p:cNvSpPr/>
          <p:nvPr/>
        </p:nvSpPr>
        <p:spPr>
          <a:xfrm>
            <a:off x="542925" y="1243013"/>
            <a:ext cx="657300" cy="35700"/>
          </a:xfrm>
          <a:prstGeom prst="rect">
            <a:avLst/>
          </a:prstGeom>
          <a:solidFill>
            <a:srgbClr val="F4B63B"/>
          </a:solidFill>
          <a:ln cap="flat" cmpd="sng" w="7150">
            <a:solidFill>
              <a:srgbClr val="F4B63B"/>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0" name="Google Shape;240;p22"/>
          <p:cNvSpPr/>
          <p:nvPr/>
        </p:nvSpPr>
        <p:spPr>
          <a:xfrm>
            <a:off x="1321594" y="1164431"/>
            <a:ext cx="7279500" cy="21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D6878"/>
              </a:buClr>
              <a:buSzPts val="1000"/>
              <a:buFont typeface="Arial"/>
              <a:buNone/>
            </a:pPr>
            <a:r>
              <a:rPr b="0" lang="zh-CN" sz="1000">
                <a:solidFill>
                  <a:srgbClr val="5D6878"/>
                </a:solidFill>
                <a:latin typeface="Arial"/>
                <a:ea typeface="Arial"/>
                <a:cs typeface="Arial"/>
                <a:sym typeface="Arial"/>
              </a:rPr>
              <a:t>Scheduled execution verified  •  permanent run time: Saturday 04:13 SGT</a:t>
            </a:r>
            <a:endParaRPr sz="1100"/>
          </a:p>
        </p:txBody>
      </p:sp>
      <p:sp>
        <p:nvSpPr>
          <p:cNvPr id="241" name="Google Shape;241;p22"/>
          <p:cNvSpPr/>
          <p:nvPr/>
        </p:nvSpPr>
        <p:spPr>
          <a:xfrm>
            <a:off x="542925" y="1575144"/>
            <a:ext cx="80583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pic>
        <p:nvPicPr>
          <p:cNvPr id="242" name="Google Shape;242;p22"/>
          <p:cNvPicPr preferRelativeResize="0"/>
          <p:nvPr/>
        </p:nvPicPr>
        <p:blipFill rotWithShape="1">
          <a:blip r:embed="rId3">
            <a:alphaModFix/>
          </a:blip>
          <a:srcRect b="0" l="0" r="0" t="0"/>
          <a:stretch/>
        </p:blipFill>
        <p:spPr>
          <a:xfrm>
            <a:off x="739775" y="1682300"/>
            <a:ext cx="7664450" cy="485775"/>
          </a:xfrm>
          <a:prstGeom prst="rect">
            <a:avLst/>
          </a:prstGeom>
          <a:noFill/>
          <a:ln>
            <a:noFill/>
          </a:ln>
        </p:spPr>
      </p:pic>
      <p:sp>
        <p:nvSpPr>
          <p:cNvPr id="243" name="Google Shape;243;p22"/>
          <p:cNvSpPr/>
          <p:nvPr/>
        </p:nvSpPr>
        <p:spPr>
          <a:xfrm>
            <a:off x="542925" y="2571750"/>
            <a:ext cx="17859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B63B"/>
              </a:buClr>
              <a:buSzPts val="800"/>
              <a:buFont typeface="Arial"/>
              <a:buNone/>
            </a:pPr>
            <a:r>
              <a:rPr b="1" lang="zh-CN" sz="800">
                <a:solidFill>
                  <a:srgbClr val="F4B63B"/>
                </a:solidFill>
                <a:latin typeface="Arial"/>
                <a:ea typeface="Arial"/>
                <a:cs typeface="Arial"/>
                <a:sym typeface="Arial"/>
              </a:rPr>
              <a:t>AUTOMATED FLOW</a:t>
            </a:r>
            <a:endParaRPr sz="1100"/>
          </a:p>
        </p:txBody>
      </p:sp>
      <p:sp>
        <p:nvSpPr>
          <p:cNvPr id="244" name="Google Shape;244;p22"/>
          <p:cNvSpPr/>
          <p:nvPr/>
        </p:nvSpPr>
        <p:spPr>
          <a:xfrm>
            <a:off x="2093144"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5" name="Google Shape;245;p22"/>
          <p:cNvSpPr/>
          <p:nvPr/>
        </p:nvSpPr>
        <p:spPr>
          <a:xfrm>
            <a:off x="4179119"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6" name="Google Shape;246;p22"/>
          <p:cNvSpPr/>
          <p:nvPr/>
        </p:nvSpPr>
        <p:spPr>
          <a:xfrm>
            <a:off x="6250806" y="2989794"/>
            <a:ext cx="200100" cy="357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2300"/>
              <a:buFont typeface="Arial"/>
              <a:buNone/>
            </a:pPr>
            <a:r>
              <a:rPr b="1" lang="zh-CN" sz="2300">
                <a:solidFill>
                  <a:srgbClr val="F4B63B"/>
                </a:solidFill>
                <a:latin typeface="Arial"/>
                <a:ea typeface="Arial"/>
                <a:cs typeface="Arial"/>
                <a:sym typeface="Arial"/>
              </a:rPr>
              <a:t>›</a:t>
            </a:r>
            <a:endParaRPr sz="1100"/>
          </a:p>
        </p:txBody>
      </p:sp>
      <p:sp>
        <p:nvSpPr>
          <p:cNvPr id="247" name="Google Shape;247;p22"/>
          <p:cNvSpPr/>
          <p:nvPr/>
        </p:nvSpPr>
        <p:spPr>
          <a:xfrm>
            <a:off x="542925" y="2818344"/>
            <a:ext cx="14646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48" name="Google Shape;248;p22"/>
          <p:cNvSpPr/>
          <p:nvPr/>
        </p:nvSpPr>
        <p:spPr>
          <a:xfrm>
            <a:off x="657225" y="2968363"/>
            <a:ext cx="12360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Almanac PDF</a:t>
            </a:r>
            <a:endParaRPr sz="1100"/>
          </a:p>
        </p:txBody>
      </p:sp>
      <p:sp>
        <p:nvSpPr>
          <p:cNvPr id="249" name="Google Shape;249;p22"/>
          <p:cNvSpPr/>
          <p:nvPr/>
        </p:nvSpPr>
        <p:spPr>
          <a:xfrm>
            <a:off x="657225" y="3239825"/>
            <a:ext cx="12360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Historical source</a:t>
            </a:r>
            <a:endParaRPr sz="1100"/>
          </a:p>
        </p:txBody>
      </p:sp>
      <p:sp>
        <p:nvSpPr>
          <p:cNvPr id="250" name="Google Shape;250;p22"/>
          <p:cNvSpPr/>
          <p:nvPr/>
        </p:nvSpPr>
        <p:spPr>
          <a:xfrm>
            <a:off x="2378869" y="2818344"/>
            <a:ext cx="17145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1" name="Google Shape;251;p22"/>
          <p:cNvSpPr/>
          <p:nvPr/>
        </p:nvSpPr>
        <p:spPr>
          <a:xfrm>
            <a:off x="2493169" y="2968363"/>
            <a:ext cx="14859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Extract + validate</a:t>
            </a:r>
            <a:endParaRPr sz="1100"/>
          </a:p>
        </p:txBody>
      </p:sp>
      <p:sp>
        <p:nvSpPr>
          <p:cNvPr id="252" name="Google Shape;252;p22"/>
          <p:cNvSpPr/>
          <p:nvPr/>
        </p:nvSpPr>
        <p:spPr>
          <a:xfrm>
            <a:off x="2493169" y="3239825"/>
            <a:ext cx="14859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Reject incomplete data</a:t>
            </a:r>
            <a:endParaRPr sz="1100"/>
          </a:p>
        </p:txBody>
      </p:sp>
      <p:sp>
        <p:nvSpPr>
          <p:cNvPr id="253" name="Google Shape;253;p22"/>
          <p:cNvSpPr/>
          <p:nvPr/>
        </p:nvSpPr>
        <p:spPr>
          <a:xfrm>
            <a:off x="4464844" y="2818344"/>
            <a:ext cx="17004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4" name="Google Shape;254;p22"/>
          <p:cNvSpPr/>
          <p:nvPr/>
        </p:nvSpPr>
        <p:spPr>
          <a:xfrm>
            <a:off x="4579144" y="2968363"/>
            <a:ext cx="14718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JSON • CSV • MD</a:t>
            </a:r>
            <a:endParaRPr sz="1100"/>
          </a:p>
        </p:txBody>
      </p:sp>
      <p:sp>
        <p:nvSpPr>
          <p:cNvPr id="255" name="Google Shape;255;p22"/>
          <p:cNvSpPr/>
          <p:nvPr/>
        </p:nvSpPr>
        <p:spPr>
          <a:xfrm>
            <a:off x="4579144" y="3239825"/>
            <a:ext cx="14718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One report object</a:t>
            </a:r>
            <a:endParaRPr sz="1100"/>
          </a:p>
        </p:txBody>
      </p:sp>
      <p:sp>
        <p:nvSpPr>
          <p:cNvPr id="256" name="Google Shape;256;p22"/>
          <p:cNvSpPr/>
          <p:nvPr/>
        </p:nvSpPr>
        <p:spPr>
          <a:xfrm>
            <a:off x="6536531" y="2818344"/>
            <a:ext cx="2064600" cy="700200"/>
          </a:xfrm>
          <a:prstGeom prst="roundRect">
            <a:avLst>
              <a:gd fmla="val 12245"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57" name="Google Shape;257;p22"/>
          <p:cNvSpPr/>
          <p:nvPr/>
        </p:nvSpPr>
        <p:spPr>
          <a:xfrm>
            <a:off x="6650831" y="2968363"/>
            <a:ext cx="1836000" cy="2001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1100"/>
              <a:buFont typeface="Arial"/>
              <a:buNone/>
            </a:pPr>
            <a:r>
              <a:rPr b="1" lang="zh-CN" sz="1100">
                <a:solidFill>
                  <a:srgbClr val="0B1B32"/>
                </a:solidFill>
                <a:latin typeface="Arial"/>
                <a:ea typeface="Arial"/>
                <a:cs typeface="Arial"/>
                <a:sym typeface="Arial"/>
              </a:rPr>
              <a:t>R8 consumes JSON</a:t>
            </a:r>
            <a:endParaRPr sz="1100"/>
          </a:p>
        </p:txBody>
      </p:sp>
      <p:sp>
        <p:nvSpPr>
          <p:cNvPr id="258" name="Google Shape;258;p22"/>
          <p:cNvSpPr/>
          <p:nvPr/>
        </p:nvSpPr>
        <p:spPr>
          <a:xfrm>
            <a:off x="6650831" y="3239825"/>
            <a:ext cx="1836000" cy="1572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W31 seasonal evidence</a:t>
            </a:r>
            <a:endParaRPr sz="1100"/>
          </a:p>
        </p:txBody>
      </p:sp>
      <p:sp>
        <p:nvSpPr>
          <p:cNvPr id="259" name="Google Shape;259;p22"/>
          <p:cNvSpPr/>
          <p:nvPr/>
        </p:nvSpPr>
        <p:spPr>
          <a:xfrm>
            <a:off x="542925" y="3732749"/>
            <a:ext cx="8058300" cy="485700"/>
          </a:xfrm>
          <a:prstGeom prst="roundRect">
            <a:avLst>
              <a:gd fmla="val 15385" name="adj"/>
            </a:avLst>
          </a:prstGeom>
          <a:solidFill>
            <a:srgbClr val="E4F2F0"/>
          </a:solidFill>
          <a:ln cap="flat" cmpd="sng" w="7150">
            <a:solidFill>
              <a:srgbClr val="B9DBD7"/>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60" name="Google Shape;260;p22"/>
          <p:cNvSpPr/>
          <p:nvPr/>
        </p:nvSpPr>
        <p:spPr>
          <a:xfrm>
            <a:off x="707231" y="3893463"/>
            <a:ext cx="12858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A7B79"/>
              </a:buClr>
              <a:buSzPts val="1000"/>
              <a:buFont typeface="Arial"/>
              <a:buNone/>
            </a:pPr>
            <a:r>
              <a:rPr b="1" lang="zh-CN" sz="1000">
                <a:solidFill>
                  <a:srgbClr val="0A7B79"/>
                </a:solidFill>
                <a:latin typeface="Arial"/>
                <a:ea typeface="Arial"/>
                <a:cs typeface="Arial"/>
                <a:sym typeface="Arial"/>
              </a:rPr>
              <a:t>Validation gate</a:t>
            </a:r>
            <a:endParaRPr sz="1100"/>
          </a:p>
        </p:txBody>
      </p:sp>
      <p:sp>
        <p:nvSpPr>
          <p:cNvPr id="261" name="Google Shape;261;p22"/>
          <p:cNvSpPr/>
          <p:nvPr/>
        </p:nvSpPr>
        <p:spPr>
          <a:xfrm>
            <a:off x="1964531" y="3893463"/>
            <a:ext cx="6393600" cy="171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172033"/>
              </a:buClr>
              <a:buSzPts val="1000"/>
              <a:buFont typeface="Arial"/>
              <a:buNone/>
            </a:pPr>
            <a:r>
              <a:rPr b="1" lang="zh-CN" sz="1000">
                <a:solidFill>
                  <a:srgbClr val="172033"/>
                </a:solidFill>
                <a:latin typeface="Arial"/>
                <a:ea typeface="Arial"/>
                <a:cs typeface="Arial"/>
                <a:sym typeface="Arial"/>
              </a:rPr>
              <a:t>3 indices  •  11 sectors  •  3 non-empty files  •  0 invalid values</a:t>
            </a:r>
            <a:endParaRPr sz="1100"/>
          </a:p>
        </p:txBody>
      </p:sp>
      <p:sp>
        <p:nvSpPr>
          <p:cNvPr id="262" name="Google Shape;262;p22"/>
          <p:cNvSpPr/>
          <p:nvPr/>
        </p:nvSpPr>
        <p:spPr>
          <a:xfrm>
            <a:off x="542925" y="4330550"/>
            <a:ext cx="5000700" cy="1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900"/>
              <a:buFont typeface="Arial"/>
              <a:buNone/>
            </a:pPr>
            <a:r>
              <a:rPr b="1" lang="zh-CN" sz="900">
                <a:solidFill>
                  <a:srgbClr val="0B1B32"/>
                </a:solidFill>
                <a:latin typeface="Arial"/>
                <a:ea typeface="Arial"/>
                <a:cs typeface="Arial"/>
                <a:sym typeface="Arial"/>
              </a:rPr>
              <a:t>R8 input: outputs/R3/almanac_agent_W31.json</a:t>
            </a:r>
            <a:endParaRPr sz="1100"/>
          </a:p>
        </p:txBody>
      </p:sp>
      <p:sp>
        <p:nvSpPr>
          <p:cNvPr id="263" name="Google Shape;263;p22"/>
          <p:cNvSpPr/>
          <p:nvPr/>
        </p:nvSpPr>
        <p:spPr>
          <a:xfrm>
            <a:off x="4964906" y="4330550"/>
            <a:ext cx="3636300" cy="2715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5D6878"/>
              </a:buClr>
              <a:buSzPts val="700"/>
              <a:buFont typeface="Arial"/>
              <a:buNone/>
            </a:pPr>
            <a:r>
              <a:rPr b="0" lang="zh-CN" sz="700">
                <a:solidFill>
                  <a:srgbClr val="5D6878"/>
                </a:solidFill>
                <a:latin typeface="Arial"/>
                <a:ea typeface="Arial"/>
                <a:cs typeface="Arial"/>
                <a:sym typeface="Arial"/>
              </a:rPr>
              <a:t>Limitation: NDX uses a NASDAQ Composite proxy; planner evidence is month-context only.</a:t>
            </a:r>
            <a:endParaRPr sz="1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68" name="Shape 268"/>
        <p:cNvGrpSpPr/>
        <p:nvPr/>
      </p:nvGrpSpPr>
      <p:grpSpPr>
        <a:xfrm>
          <a:off x="0" y="0"/>
          <a:ext cx="0" cy="0"/>
          <a:chOff x="0" y="0"/>
          <a:chExt cx="0" cy="0"/>
        </a:xfrm>
      </p:grpSpPr>
      <p:sp>
        <p:nvSpPr>
          <p:cNvPr id="269" name="Google Shape;269;p23"/>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70" name="Google Shape;270;p23"/>
          <p:cNvSpPr/>
          <p:nvPr/>
        </p:nvSpPr>
        <p:spPr>
          <a:xfrm>
            <a:off x="0" y="640080"/>
            <a:ext cx="9144000" cy="36600"/>
          </a:xfrm>
          <a:prstGeom prst="rect">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p:txBody>
      </p:sp>
      <p:sp>
        <p:nvSpPr>
          <p:cNvPr id="271" name="Google Shape;271;p23"/>
          <p:cNvSpPr/>
          <p:nvPr/>
        </p:nvSpPr>
        <p:spPr>
          <a:xfrm>
            <a:off x="384048" y="128016"/>
            <a:ext cx="2377500" cy="323100"/>
          </a:xfrm>
          <a:prstGeom prst="rect">
            <a:avLst/>
          </a:prstGeom>
          <a:noFill/>
          <a:ln>
            <a:noFill/>
          </a:ln>
        </p:spPr>
        <p:txBody>
          <a:bodyPr anchorCtr="0" anchor="ctr" bIns="45700" lIns="45700" spcFirstLastPara="1" rIns="45700" wrap="square" tIns="45700">
            <a:noAutofit/>
          </a:bodyPr>
          <a:lstStyle/>
          <a:p>
            <a:pPr indent="0" lvl="0" marL="0" marR="0" rtl="0" algn="l">
              <a:spcBef>
                <a:spcPts val="0"/>
              </a:spcBef>
              <a:spcAft>
                <a:spcPts val="0"/>
              </a:spcAft>
              <a:buClr>
                <a:srgbClr val="FFFFFF"/>
              </a:buClr>
              <a:buSzPts val="1500"/>
              <a:buFont typeface="Arial"/>
              <a:buNone/>
            </a:pPr>
            <a:r>
              <a:rPr b="1" lang="zh-CN" sz="1500">
                <a:solidFill>
                  <a:srgbClr val="FFFFFF"/>
                </a:solidFill>
                <a:latin typeface="Arial"/>
                <a:ea typeface="Arial"/>
                <a:cs typeface="Arial"/>
                <a:sym typeface="Arial"/>
              </a:rPr>
              <a:t>R</a:t>
            </a:r>
            <a:r>
              <a:rPr b="1" lang="zh-CN" sz="1500">
                <a:solidFill>
                  <a:srgbClr val="FFFFFF"/>
                </a:solidFill>
              </a:rPr>
              <a:t>3</a:t>
            </a:r>
            <a:r>
              <a:rPr b="1" lang="zh-CN" sz="1500">
                <a:solidFill>
                  <a:srgbClr val="FFFFFF"/>
                </a:solidFill>
                <a:latin typeface="Arial"/>
                <a:ea typeface="Arial"/>
                <a:cs typeface="Arial"/>
                <a:sym typeface="Arial"/>
              </a:rPr>
              <a:t> </a:t>
            </a:r>
            <a:r>
              <a:rPr b="1" lang="zh-CN" sz="1500">
                <a:solidFill>
                  <a:srgbClr val="FFFFFF"/>
                </a:solidFill>
              </a:rPr>
              <a:t>Almanac Lead</a:t>
            </a:r>
            <a:endParaRPr/>
          </a:p>
        </p:txBody>
      </p:sp>
      <p:sp>
        <p:nvSpPr>
          <p:cNvPr id="272" name="Google Shape;272;p23"/>
          <p:cNvSpPr/>
          <p:nvPr/>
        </p:nvSpPr>
        <p:spPr>
          <a:xfrm>
            <a:off x="542925" y="892969"/>
            <a:ext cx="8058300" cy="30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700"/>
              <a:buFont typeface="Arial"/>
              <a:buNone/>
            </a:pPr>
            <a:r>
              <a:rPr b="1" lang="zh-CN" sz="1700">
                <a:solidFill>
                  <a:srgbClr val="0B1B32"/>
                </a:solidFill>
                <a:latin typeface="Arial"/>
                <a:ea typeface="Arial"/>
                <a:cs typeface="Arial"/>
                <a:sym typeface="Arial"/>
              </a:rPr>
              <a:t>W31 seasonal evidence points to a bearish week</a:t>
            </a:r>
            <a:endParaRPr sz="1100"/>
          </a:p>
        </p:txBody>
      </p:sp>
      <p:sp>
        <p:nvSpPr>
          <p:cNvPr id="273" name="Google Shape;273;p23"/>
          <p:cNvSpPr/>
          <p:nvPr/>
        </p:nvSpPr>
        <p:spPr>
          <a:xfrm>
            <a:off x="542925" y="1243013"/>
            <a:ext cx="657300" cy="35700"/>
          </a:xfrm>
          <a:prstGeom prst="rect">
            <a:avLst/>
          </a:prstGeom>
          <a:solidFill>
            <a:srgbClr val="F4B63B"/>
          </a:solidFill>
          <a:ln cap="flat" cmpd="sng" w="7150">
            <a:solidFill>
              <a:srgbClr val="F4B63B"/>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4" name="Google Shape;274;p23"/>
          <p:cNvSpPr/>
          <p:nvPr/>
        </p:nvSpPr>
        <p:spPr>
          <a:xfrm>
            <a:off x="1321594" y="1164431"/>
            <a:ext cx="7279500" cy="21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D6878"/>
              </a:buClr>
              <a:buSzPts val="1000"/>
              <a:buFont typeface="Arial"/>
              <a:buNone/>
            </a:pPr>
            <a:r>
              <a:rPr b="0" lang="zh-CN" sz="1000">
                <a:solidFill>
                  <a:srgbClr val="5D6878"/>
                </a:solidFill>
                <a:latin typeface="Arial"/>
                <a:ea typeface="Arial"/>
                <a:cs typeface="Arial"/>
                <a:sym typeface="Arial"/>
              </a:rPr>
              <a:t>Forecast: 3</a:t>
            </a:r>
            <a:r>
              <a:rPr lang="zh-CN" sz="1000">
                <a:solidFill>
                  <a:srgbClr val="5D6878"/>
                </a:solidFill>
              </a:rPr>
              <a:t>-</a:t>
            </a:r>
            <a:r>
              <a:rPr b="0" lang="zh-CN" sz="1000">
                <a:solidFill>
                  <a:srgbClr val="5D6878"/>
                </a:solidFill>
                <a:latin typeface="Arial"/>
                <a:ea typeface="Arial"/>
                <a:cs typeface="Arial"/>
                <a:sym typeface="Arial"/>
              </a:rPr>
              <a:t>7 Aug 2026  •  U.S. midterm election year  •  High confidence</a:t>
            </a:r>
            <a:endParaRPr sz="1100"/>
          </a:p>
        </p:txBody>
      </p:sp>
      <p:sp>
        <p:nvSpPr>
          <p:cNvPr id="275" name="Google Shape;275;p23"/>
          <p:cNvSpPr/>
          <p:nvPr/>
        </p:nvSpPr>
        <p:spPr>
          <a:xfrm>
            <a:off x="542925" y="1557338"/>
            <a:ext cx="2286000" cy="2385900"/>
          </a:xfrm>
          <a:prstGeom prst="roundRect">
            <a:avLst>
              <a:gd fmla="val 3750"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6" name="Google Shape;276;p23"/>
          <p:cNvSpPr/>
          <p:nvPr/>
        </p:nvSpPr>
        <p:spPr>
          <a:xfrm>
            <a:off x="742950" y="1757363"/>
            <a:ext cx="1785900" cy="1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B63B"/>
              </a:buClr>
              <a:buSzPts val="900"/>
              <a:buFont typeface="Arial"/>
              <a:buNone/>
            </a:pPr>
            <a:r>
              <a:rPr b="1" lang="zh-CN" sz="900">
                <a:solidFill>
                  <a:srgbClr val="F4B63B"/>
                </a:solidFill>
                <a:latin typeface="Arial"/>
                <a:ea typeface="Arial"/>
                <a:cs typeface="Arial"/>
                <a:sym typeface="Arial"/>
              </a:rPr>
              <a:t>ALMANAC BIAS</a:t>
            </a:r>
            <a:endParaRPr sz="1100"/>
          </a:p>
        </p:txBody>
      </p:sp>
      <p:sp>
        <p:nvSpPr>
          <p:cNvPr id="277" name="Google Shape;277;p23"/>
          <p:cNvSpPr/>
          <p:nvPr/>
        </p:nvSpPr>
        <p:spPr>
          <a:xfrm>
            <a:off x="728663" y="1993106"/>
            <a:ext cx="1821600" cy="4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A93F3D"/>
              </a:buClr>
              <a:buSzPts val="2400"/>
              <a:buFont typeface="Arial"/>
              <a:buNone/>
            </a:pPr>
            <a:r>
              <a:rPr b="1" lang="zh-CN" sz="2400">
                <a:solidFill>
                  <a:srgbClr val="A93F3D"/>
                </a:solidFill>
                <a:latin typeface="Arial"/>
                <a:ea typeface="Arial"/>
                <a:cs typeface="Arial"/>
                <a:sym typeface="Arial"/>
              </a:rPr>
              <a:t>BEARISH</a:t>
            </a:r>
            <a:endParaRPr sz="1100"/>
          </a:p>
        </p:txBody>
      </p:sp>
      <p:sp>
        <p:nvSpPr>
          <p:cNvPr id="278" name="Google Shape;278;p23"/>
          <p:cNvSpPr/>
          <p:nvPr/>
        </p:nvSpPr>
        <p:spPr>
          <a:xfrm>
            <a:off x="742950" y="2486025"/>
            <a:ext cx="857400" cy="28500"/>
          </a:xfrm>
          <a:prstGeom prst="rect">
            <a:avLst/>
          </a:prstGeom>
          <a:solidFill>
            <a:srgbClr val="A93F3D"/>
          </a:solidFill>
          <a:ln cap="flat" cmpd="sng" w="7150">
            <a:solidFill>
              <a:srgbClr val="A93F3D"/>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79" name="Google Shape;279;p23"/>
          <p:cNvSpPr/>
          <p:nvPr/>
        </p:nvSpPr>
        <p:spPr>
          <a:xfrm>
            <a:off x="742950" y="2678900"/>
            <a:ext cx="1965300" cy="585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72033"/>
              </a:buClr>
              <a:buSzPts val="1100"/>
              <a:buFont typeface="Arial"/>
              <a:buNone/>
            </a:pPr>
            <a:r>
              <a:rPr b="1" lang="zh-CN" sz="1100">
                <a:solidFill>
                  <a:srgbClr val="172033"/>
                </a:solidFill>
                <a:latin typeface="Arial"/>
                <a:ea typeface="Arial"/>
                <a:cs typeface="Arial"/>
                <a:sym typeface="Arial"/>
              </a:rPr>
              <a:t>All three index proxies show negative midterm-year August averages.</a:t>
            </a:r>
            <a:endParaRPr sz="1100"/>
          </a:p>
        </p:txBody>
      </p:sp>
      <p:sp>
        <p:nvSpPr>
          <p:cNvPr id="280" name="Google Shape;280;p23"/>
          <p:cNvSpPr/>
          <p:nvPr/>
        </p:nvSpPr>
        <p:spPr>
          <a:xfrm>
            <a:off x="742950" y="3386138"/>
            <a:ext cx="1843200" cy="414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This is historical context for the downstream forecast</a:t>
            </a:r>
            <a:r>
              <a:rPr lang="zh-CN" sz="800">
                <a:solidFill>
                  <a:srgbClr val="5D6878"/>
                </a:solidFill>
              </a:rPr>
              <a:t>, </a:t>
            </a:r>
            <a:r>
              <a:rPr b="0" lang="zh-CN" sz="800">
                <a:solidFill>
                  <a:srgbClr val="5D6878"/>
                </a:solidFill>
                <a:latin typeface="Arial"/>
                <a:ea typeface="Arial"/>
                <a:cs typeface="Arial"/>
                <a:sym typeface="Arial"/>
              </a:rPr>
              <a:t>not a standalone trading recommendation.</a:t>
            </a:r>
            <a:endParaRPr sz="1100"/>
          </a:p>
        </p:txBody>
      </p:sp>
      <p:sp>
        <p:nvSpPr>
          <p:cNvPr id="281" name="Google Shape;281;p23"/>
          <p:cNvSpPr/>
          <p:nvPr/>
        </p:nvSpPr>
        <p:spPr>
          <a:xfrm>
            <a:off x="3028950" y="1557338"/>
            <a:ext cx="5572200" cy="2385900"/>
          </a:xfrm>
          <a:prstGeom prst="roundRect">
            <a:avLst>
              <a:gd fmla="val 3593" name="adj"/>
            </a:avLst>
          </a:prstGeom>
          <a:solidFill>
            <a:srgbClr val="FFFFFF"/>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2" name="Google Shape;282;p23"/>
          <p:cNvSpPr/>
          <p:nvPr/>
        </p:nvSpPr>
        <p:spPr>
          <a:xfrm>
            <a:off x="3228975" y="1743075"/>
            <a:ext cx="3429000" cy="21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1B32"/>
              </a:buClr>
              <a:buSzPts val="1200"/>
              <a:buFont typeface="Arial"/>
              <a:buNone/>
            </a:pPr>
            <a:r>
              <a:rPr b="1" lang="zh-CN" sz="1200">
                <a:solidFill>
                  <a:srgbClr val="0B1B32"/>
                </a:solidFill>
                <a:latin typeface="Arial"/>
                <a:ea typeface="Arial"/>
                <a:cs typeface="Arial"/>
                <a:sym typeface="Arial"/>
              </a:rPr>
              <a:t>Midterm-year August average return</a:t>
            </a:r>
            <a:endParaRPr sz="1100"/>
          </a:p>
        </p:txBody>
      </p:sp>
      <p:sp>
        <p:nvSpPr>
          <p:cNvPr id="283" name="Google Shape;283;p23"/>
          <p:cNvSpPr/>
          <p:nvPr/>
        </p:nvSpPr>
        <p:spPr>
          <a:xfrm>
            <a:off x="3228975" y="1964531"/>
            <a:ext cx="2857500" cy="1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D6878"/>
              </a:buClr>
              <a:buSzPts val="800"/>
              <a:buFont typeface="Arial"/>
              <a:buNone/>
            </a:pPr>
            <a:r>
              <a:rPr b="0" lang="zh-CN" sz="800">
                <a:solidFill>
                  <a:srgbClr val="5D6878"/>
                </a:solidFill>
                <a:latin typeface="Arial"/>
                <a:ea typeface="Arial"/>
                <a:cs typeface="Arial"/>
                <a:sym typeface="Arial"/>
              </a:rPr>
              <a:t>Historical average by index proxy</a:t>
            </a:r>
            <a:endParaRPr sz="1100"/>
          </a:p>
        </p:txBody>
      </p:sp>
      <p:sp>
        <p:nvSpPr>
          <p:cNvPr id="284" name="Google Shape;284;p23"/>
          <p:cNvSpPr/>
          <p:nvPr/>
        </p:nvSpPr>
        <p:spPr>
          <a:xfrm>
            <a:off x="6958013" y="1793081"/>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B63B"/>
              </a:buClr>
              <a:buSzPts val="800"/>
              <a:buFont typeface="Arial"/>
              <a:buNone/>
            </a:pPr>
            <a:r>
              <a:rPr b="1" lang="zh-CN" sz="800">
                <a:solidFill>
                  <a:srgbClr val="F4B63B"/>
                </a:solidFill>
                <a:latin typeface="Arial"/>
                <a:ea typeface="Arial"/>
                <a:cs typeface="Arial"/>
                <a:sym typeface="Arial"/>
              </a:rPr>
              <a:t>COVERAGE</a:t>
            </a:r>
            <a:endParaRPr sz="1100"/>
          </a:p>
        </p:txBody>
      </p:sp>
      <p:sp>
        <p:nvSpPr>
          <p:cNvPr id="285" name="Google Shape;285;p23"/>
          <p:cNvSpPr/>
          <p:nvPr/>
        </p:nvSpPr>
        <p:spPr>
          <a:xfrm>
            <a:off x="6958013" y="2050256"/>
            <a:ext cx="1214400" cy="342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1B32"/>
              </a:buClr>
              <a:buSzPts val="2100"/>
              <a:buFont typeface="Arial"/>
              <a:buNone/>
            </a:pPr>
            <a:r>
              <a:rPr b="1" lang="zh-CN" sz="2100">
                <a:solidFill>
                  <a:srgbClr val="0B1B32"/>
                </a:solidFill>
                <a:latin typeface="Arial"/>
                <a:ea typeface="Arial"/>
                <a:cs typeface="Arial"/>
                <a:sym typeface="Arial"/>
              </a:rPr>
              <a:t>3</a:t>
            </a:r>
            <a:endParaRPr sz="1100"/>
          </a:p>
        </p:txBody>
      </p:sp>
      <p:sp>
        <p:nvSpPr>
          <p:cNvPr id="286" name="Google Shape;286;p23"/>
          <p:cNvSpPr/>
          <p:nvPr/>
        </p:nvSpPr>
        <p:spPr>
          <a:xfrm>
            <a:off x="6958013" y="2386013"/>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900"/>
              <a:buFont typeface="Arial"/>
              <a:buNone/>
            </a:pPr>
            <a:r>
              <a:rPr b="0" lang="zh-CN" sz="900">
                <a:solidFill>
                  <a:srgbClr val="5D6878"/>
                </a:solidFill>
                <a:latin typeface="Arial"/>
                <a:ea typeface="Arial"/>
                <a:cs typeface="Arial"/>
                <a:sym typeface="Arial"/>
              </a:rPr>
              <a:t>index proxies</a:t>
            </a:r>
            <a:endParaRPr sz="1100"/>
          </a:p>
        </p:txBody>
      </p:sp>
      <p:sp>
        <p:nvSpPr>
          <p:cNvPr id="287" name="Google Shape;287;p23"/>
          <p:cNvSpPr/>
          <p:nvPr/>
        </p:nvSpPr>
        <p:spPr>
          <a:xfrm>
            <a:off x="7179469" y="2700338"/>
            <a:ext cx="771600" cy="14400"/>
          </a:xfrm>
          <a:prstGeom prst="rect">
            <a:avLst/>
          </a:prstGeom>
          <a:solidFill>
            <a:srgbClr val="D7DEE8"/>
          </a:solidFill>
          <a:ln cap="flat" cmpd="sng" w="7150">
            <a:solidFill>
              <a:srgbClr val="D7DEE8"/>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288" name="Google Shape;288;p23"/>
          <p:cNvSpPr/>
          <p:nvPr/>
        </p:nvSpPr>
        <p:spPr>
          <a:xfrm>
            <a:off x="6886575" y="2871788"/>
            <a:ext cx="1357200" cy="300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A7B79"/>
              </a:buClr>
              <a:buSzPts val="1700"/>
              <a:buFont typeface="Arial"/>
              <a:buNone/>
            </a:pPr>
            <a:r>
              <a:rPr b="1" lang="zh-CN" sz="1700">
                <a:solidFill>
                  <a:srgbClr val="0A7B79"/>
                </a:solidFill>
                <a:latin typeface="Arial"/>
                <a:ea typeface="Arial"/>
                <a:cs typeface="Arial"/>
                <a:sym typeface="Arial"/>
              </a:rPr>
              <a:t>11 / 11</a:t>
            </a:r>
            <a:endParaRPr sz="1100"/>
          </a:p>
        </p:txBody>
      </p:sp>
      <p:sp>
        <p:nvSpPr>
          <p:cNvPr id="289" name="Google Shape;289;p23"/>
          <p:cNvSpPr/>
          <p:nvPr/>
        </p:nvSpPr>
        <p:spPr>
          <a:xfrm>
            <a:off x="6958013" y="3186113"/>
            <a:ext cx="1214400" cy="17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900"/>
              <a:buFont typeface="Arial"/>
              <a:buNone/>
            </a:pPr>
            <a:r>
              <a:rPr b="0" lang="zh-CN" sz="900">
                <a:solidFill>
                  <a:srgbClr val="5D6878"/>
                </a:solidFill>
                <a:latin typeface="Arial"/>
                <a:ea typeface="Arial"/>
                <a:cs typeface="Arial"/>
                <a:sym typeface="Arial"/>
              </a:rPr>
              <a:t>GICS sectors</a:t>
            </a:r>
            <a:endParaRPr sz="1100"/>
          </a:p>
        </p:txBody>
      </p:sp>
      <p:sp>
        <p:nvSpPr>
          <p:cNvPr id="290" name="Google Shape;290;p23"/>
          <p:cNvSpPr/>
          <p:nvPr/>
        </p:nvSpPr>
        <p:spPr>
          <a:xfrm>
            <a:off x="6800850" y="3529013"/>
            <a:ext cx="1536000" cy="142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D6878"/>
              </a:buClr>
              <a:buSzPts val="700"/>
              <a:buFont typeface="Arial"/>
              <a:buNone/>
            </a:pPr>
            <a:r>
              <a:rPr b="0" lang="zh-CN" sz="700">
                <a:solidFill>
                  <a:srgbClr val="5D6878"/>
                </a:solidFill>
                <a:latin typeface="Arial"/>
                <a:ea typeface="Arial"/>
                <a:cs typeface="Arial"/>
                <a:sym typeface="Arial"/>
              </a:rPr>
              <a:t>Source pages 103, 130</a:t>
            </a:r>
            <a:r>
              <a:rPr lang="zh-CN" sz="700">
                <a:solidFill>
                  <a:srgbClr val="5D6878"/>
                </a:solidFill>
              </a:rPr>
              <a:t>-</a:t>
            </a:r>
            <a:r>
              <a:rPr b="0" lang="zh-CN" sz="700">
                <a:solidFill>
                  <a:srgbClr val="5D6878"/>
                </a:solidFill>
                <a:latin typeface="Arial"/>
                <a:ea typeface="Arial"/>
                <a:cs typeface="Arial"/>
                <a:sym typeface="Arial"/>
              </a:rPr>
              <a:t>131</a:t>
            </a:r>
            <a:endParaRPr sz="1100"/>
          </a:p>
        </p:txBody>
      </p:sp>
      <p:pic>
        <p:nvPicPr>
          <p:cNvPr id="291" name="Google Shape;291;p23" title="R3_W31_Index_Returns_Chart.png"/>
          <p:cNvPicPr preferRelativeResize="0"/>
          <p:nvPr/>
        </p:nvPicPr>
        <p:blipFill>
          <a:blip r:embed="rId3">
            <a:alphaModFix/>
          </a:blip>
          <a:stretch>
            <a:fillRect/>
          </a:stretch>
        </p:blipFill>
        <p:spPr>
          <a:xfrm>
            <a:off x="3229363" y="2172000"/>
            <a:ext cx="3429000" cy="1499835"/>
          </a:xfrm>
          <a:prstGeom prst="rect">
            <a:avLst/>
          </a:prstGeom>
          <a:noFill/>
          <a:ln>
            <a:noFill/>
          </a:ln>
        </p:spPr>
      </p:pic>
      <p:sp>
        <p:nvSpPr>
          <p:cNvPr id="292" name="Google Shape;292;p23"/>
          <p:cNvSpPr/>
          <p:nvPr/>
        </p:nvSpPr>
        <p:spPr>
          <a:xfrm>
            <a:off x="542925" y="4274199"/>
            <a:ext cx="8058300" cy="485700"/>
          </a:xfrm>
          <a:prstGeom prst="roundRect">
            <a:avLst>
              <a:gd fmla="val 15385" name="adj"/>
            </a:avLst>
          </a:prstGeom>
          <a:solidFill>
            <a:srgbClr val="F2B84B"/>
          </a:solidFill>
          <a:ln cap="flat" cmpd="sng" w="7150">
            <a:solidFill>
              <a:srgbClr val="F2B84B"/>
            </a:solidFill>
            <a:prstDash val="solid"/>
            <a:round/>
            <a:headEnd len="sm" w="sm" type="none"/>
            <a:tailEnd len="sm" w="sm" type="none"/>
          </a:ln>
        </p:spPr>
        <p:txBody>
          <a:bodyPr anchorCtr="0" anchor="ctr" bIns="68575" lIns="68575" spcFirstLastPara="1" rIns="68575" wrap="square" tIns="68575">
            <a:noAutofit/>
          </a:bodyPr>
          <a:lstStyle/>
          <a:p>
            <a:pPr indent="0" lvl="0" marL="0" rtl="0" algn="ctr">
              <a:spcBef>
                <a:spcPts val="0"/>
              </a:spcBef>
              <a:spcAft>
                <a:spcPts val="0"/>
              </a:spcAft>
              <a:buNone/>
            </a:pPr>
            <a:r>
              <a:rPr b="1" lang="zh-CN" sz="1300">
                <a:solidFill>
                  <a:schemeClr val="lt1"/>
                </a:solidFill>
              </a:rPr>
              <a:t>Key insight: Seasonal weakness is broad-based, with the NDX proxy and IWM each averaging 1.0 percentage point below SPX.</a:t>
            </a:r>
            <a:endParaRPr b="1" sz="1300">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296" name="Shape 296"/>
        <p:cNvGrpSpPr/>
        <p:nvPr/>
      </p:nvGrpSpPr>
      <p:grpSpPr>
        <a:xfrm>
          <a:off x="0" y="0"/>
          <a:ext cx="0" cy="0"/>
          <a:chOff x="0" y="0"/>
          <a:chExt cx="0" cy="0"/>
        </a:xfrm>
      </p:grpSpPr>
      <p:sp>
        <p:nvSpPr>
          <p:cNvPr id="297" name="Google Shape;297;p24"/>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8" name="Google Shape;298;p24"/>
          <p:cNvSpPr/>
          <p:nvPr/>
        </p:nvSpPr>
        <p:spPr>
          <a:xfrm>
            <a:off x="0" y="640080"/>
            <a:ext cx="9144000" cy="36600"/>
          </a:xfrm>
          <a:prstGeom prst="rect">
            <a:avLst/>
          </a:prstGeom>
          <a:solidFill>
            <a:srgbClr val="2878E2"/>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9" name="Google Shape;299;p24"/>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R4 Macro Lead</a:t>
            </a:r>
            <a:endParaRPr/>
          </a:p>
        </p:txBody>
      </p:sp>
      <p:pic>
        <p:nvPicPr>
          <p:cNvPr id="300" name="Google Shape;300;p24" title="R4.png"/>
          <p:cNvPicPr preferRelativeResize="0"/>
          <p:nvPr/>
        </p:nvPicPr>
        <p:blipFill>
          <a:blip r:embed="rId3">
            <a:alphaModFix/>
          </a:blip>
          <a:stretch>
            <a:fillRect/>
          </a:stretch>
        </p:blipFill>
        <p:spPr>
          <a:xfrm>
            <a:off x="0" y="-1"/>
            <a:ext cx="9144001" cy="514623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04" name="Shape 304"/>
        <p:cNvGrpSpPr/>
        <p:nvPr/>
      </p:nvGrpSpPr>
      <p:grpSpPr>
        <a:xfrm>
          <a:off x="0" y="0"/>
          <a:ext cx="0" cy="0"/>
          <a:chOff x="0" y="0"/>
          <a:chExt cx="0" cy="0"/>
        </a:xfrm>
      </p:grpSpPr>
      <p:sp>
        <p:nvSpPr>
          <p:cNvPr id="305" name="Google Shape;305;p25"/>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 name="Google Shape;306;p25"/>
          <p:cNvSpPr/>
          <p:nvPr/>
        </p:nvSpPr>
        <p:spPr>
          <a:xfrm>
            <a:off x="0" y="640080"/>
            <a:ext cx="9144000" cy="36600"/>
          </a:xfrm>
          <a:prstGeom prst="rect">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7" name="Google Shape;307;p25"/>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R5 Technical Lead</a:t>
            </a:r>
            <a:endParaRPr/>
          </a:p>
        </p:txBody>
      </p:sp>
      <p:pic>
        <p:nvPicPr>
          <p:cNvPr id="308" name="Google Shape;308;p25" title="截圖 2026-08-01 下午3.29.14.png"/>
          <p:cNvPicPr preferRelativeResize="0"/>
          <p:nvPr/>
        </p:nvPicPr>
        <p:blipFill>
          <a:blip r:embed="rId3">
            <a:alphaModFix/>
          </a:blip>
          <a:stretch>
            <a:fillRect/>
          </a:stretch>
        </p:blipFill>
        <p:spPr>
          <a:xfrm>
            <a:off x="152400" y="829077"/>
            <a:ext cx="2377501" cy="2640908"/>
          </a:xfrm>
          <a:prstGeom prst="rect">
            <a:avLst/>
          </a:prstGeom>
          <a:noFill/>
          <a:ln>
            <a:noFill/>
          </a:ln>
        </p:spPr>
      </p:pic>
      <p:pic>
        <p:nvPicPr>
          <p:cNvPr id="309" name="Google Shape;309;p25" title="截圖 2026-08-01 下午3.34.15.png"/>
          <p:cNvPicPr preferRelativeResize="0"/>
          <p:nvPr/>
        </p:nvPicPr>
        <p:blipFill>
          <a:blip r:embed="rId4">
            <a:alphaModFix/>
          </a:blip>
          <a:stretch>
            <a:fillRect/>
          </a:stretch>
        </p:blipFill>
        <p:spPr>
          <a:xfrm>
            <a:off x="2565062" y="865627"/>
            <a:ext cx="3239701" cy="1621525"/>
          </a:xfrm>
          <a:prstGeom prst="rect">
            <a:avLst/>
          </a:prstGeom>
          <a:noFill/>
          <a:ln>
            <a:noFill/>
          </a:ln>
        </p:spPr>
      </p:pic>
      <p:pic>
        <p:nvPicPr>
          <p:cNvPr id="310" name="Google Shape;310;p25" title="截圖 2026-08-01 下午3.40.33.png"/>
          <p:cNvPicPr preferRelativeResize="0"/>
          <p:nvPr/>
        </p:nvPicPr>
        <p:blipFill>
          <a:blip r:embed="rId5">
            <a:alphaModFix/>
          </a:blip>
          <a:stretch>
            <a:fillRect/>
          </a:stretch>
        </p:blipFill>
        <p:spPr>
          <a:xfrm>
            <a:off x="5839926" y="865625"/>
            <a:ext cx="3239700" cy="1141862"/>
          </a:xfrm>
          <a:prstGeom prst="rect">
            <a:avLst/>
          </a:prstGeom>
          <a:noFill/>
          <a:ln>
            <a:noFill/>
          </a:ln>
        </p:spPr>
      </p:pic>
      <p:pic>
        <p:nvPicPr>
          <p:cNvPr id="311" name="Google Shape;311;p25" title="截圖 2026-08-01 下午3.52.27.png"/>
          <p:cNvPicPr preferRelativeResize="0"/>
          <p:nvPr/>
        </p:nvPicPr>
        <p:blipFill>
          <a:blip r:embed="rId6">
            <a:alphaModFix/>
          </a:blip>
          <a:stretch>
            <a:fillRect/>
          </a:stretch>
        </p:blipFill>
        <p:spPr>
          <a:xfrm>
            <a:off x="5957163" y="2159887"/>
            <a:ext cx="1914830" cy="2831214"/>
          </a:xfrm>
          <a:prstGeom prst="rect">
            <a:avLst/>
          </a:prstGeom>
          <a:noFill/>
          <a:ln>
            <a:noFill/>
          </a:ln>
        </p:spPr>
      </p:pic>
      <p:pic>
        <p:nvPicPr>
          <p:cNvPr id="312" name="Google Shape;312;p25" title="chart_XLY_W31.png"/>
          <p:cNvPicPr preferRelativeResize="0"/>
          <p:nvPr/>
        </p:nvPicPr>
        <p:blipFill>
          <a:blip r:embed="rId7">
            <a:alphaModFix/>
          </a:blip>
          <a:stretch>
            <a:fillRect/>
          </a:stretch>
        </p:blipFill>
        <p:spPr>
          <a:xfrm>
            <a:off x="2871389" y="2676102"/>
            <a:ext cx="2627042" cy="2351547"/>
          </a:xfrm>
          <a:prstGeom prst="rect">
            <a:avLst/>
          </a:prstGeom>
          <a:noFill/>
          <a:ln>
            <a:noFill/>
          </a:ln>
        </p:spPr>
      </p:pic>
      <p:sp>
        <p:nvSpPr>
          <p:cNvPr id="313" name="Google Shape;313;p25"/>
          <p:cNvSpPr txBox="1"/>
          <p:nvPr/>
        </p:nvSpPr>
        <p:spPr>
          <a:xfrm>
            <a:off x="486650" y="3622375"/>
            <a:ext cx="2274900" cy="77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CN" sz="1800">
                <a:solidFill>
                  <a:schemeClr val="dk2"/>
                </a:solidFill>
              </a:rPr>
              <a:t>Orange=EMA 8</a:t>
            </a:r>
            <a:endParaRPr sz="1800">
              <a:solidFill>
                <a:schemeClr val="dk2"/>
              </a:solidFill>
            </a:endParaRPr>
          </a:p>
          <a:p>
            <a:pPr indent="0" lvl="0" marL="0" rtl="0" algn="l">
              <a:spcBef>
                <a:spcPts val="0"/>
              </a:spcBef>
              <a:spcAft>
                <a:spcPts val="0"/>
              </a:spcAft>
              <a:buNone/>
            </a:pPr>
            <a:r>
              <a:rPr lang="zh-CN" sz="1800">
                <a:solidFill>
                  <a:schemeClr val="dk2"/>
                </a:solidFill>
              </a:rPr>
              <a:t>Blue = EMA 21</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17" name="Shape 317"/>
        <p:cNvGrpSpPr/>
        <p:nvPr/>
      </p:nvGrpSpPr>
      <p:grpSpPr>
        <a:xfrm>
          <a:off x="0" y="0"/>
          <a:ext cx="0" cy="0"/>
          <a:chOff x="0" y="0"/>
          <a:chExt cx="0" cy="0"/>
        </a:xfrm>
      </p:grpSpPr>
      <p:sp>
        <p:nvSpPr>
          <p:cNvPr id="318" name="Google Shape;318;p26"/>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9" name="Google Shape;319;p26"/>
          <p:cNvSpPr/>
          <p:nvPr/>
        </p:nvSpPr>
        <p:spPr>
          <a:xfrm>
            <a:off x="0" y="640080"/>
            <a:ext cx="9144000" cy="36600"/>
          </a:xfrm>
          <a:prstGeom prst="rect">
            <a:avLst/>
          </a:prstGeom>
          <a:solidFill>
            <a:srgbClr val="5C6C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0" name="Google Shape;320;p26"/>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a:t>
            </a:r>
            <a:r>
              <a:rPr b="1" lang="zh-CN" sz="1500">
                <a:solidFill>
                  <a:srgbClr val="FFFFFF"/>
                </a:solidFill>
              </a:rPr>
              <a:t>8</a:t>
            </a:r>
            <a:r>
              <a:rPr b="1" lang="zh-CN" sz="1500">
                <a:solidFill>
                  <a:srgbClr val="FFFFFF"/>
                </a:solidFill>
                <a:latin typeface="Arial"/>
                <a:ea typeface="Arial"/>
                <a:cs typeface="Arial"/>
                <a:sym typeface="Arial"/>
              </a:rPr>
              <a:t> LLM Operator</a:t>
            </a:r>
            <a:endParaRPr/>
          </a:p>
        </p:txBody>
      </p:sp>
      <p:pic>
        <p:nvPicPr>
          <p:cNvPr id="321" name="Google Shape;321;p26"/>
          <p:cNvPicPr preferRelativeResize="0"/>
          <p:nvPr/>
        </p:nvPicPr>
        <p:blipFill>
          <a:blip r:embed="rId3">
            <a:alphaModFix/>
          </a:blip>
          <a:stretch>
            <a:fillRect/>
          </a:stretch>
        </p:blipFill>
        <p:spPr>
          <a:xfrm>
            <a:off x="0" y="676675"/>
            <a:ext cx="9143999" cy="44668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pic>
        <p:nvPicPr>
          <p:cNvPr descr="R7 human score w31.png" id="326" name="Google Shape;326;p27"/>
          <p:cNvPicPr preferRelativeResize="0"/>
          <p:nvPr/>
        </p:nvPicPr>
        <p:blipFill rotWithShape="1">
          <a:blip r:embed="rId3">
            <a:alphaModFix/>
          </a:blip>
          <a:srcRect b="0" l="0" r="0" t="0"/>
          <a:stretch/>
        </p:blipFill>
        <p:spPr>
          <a:xfrm>
            <a:off x="0" y="0"/>
            <a:ext cx="9143771"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pic>
        <p:nvPicPr>
          <p:cNvPr descr="R7 human override w31.png" id="331" name="Google Shape;331;p28"/>
          <p:cNvPicPr preferRelativeResize="0"/>
          <p:nvPr/>
        </p:nvPicPr>
        <p:blipFill rotWithShape="1">
          <a:blip r:embed="rId3">
            <a:alphaModFix/>
          </a:blip>
          <a:srcRect b="0" l="0" r="0" t="0"/>
          <a:stretch/>
        </p:blipFill>
        <p:spPr>
          <a:xfrm>
            <a:off x="0" y="0"/>
            <a:ext cx="9143771" cy="51435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35" name="Shape 335"/>
        <p:cNvGrpSpPr/>
        <p:nvPr/>
      </p:nvGrpSpPr>
      <p:grpSpPr>
        <a:xfrm>
          <a:off x="0" y="0"/>
          <a:ext cx="0" cy="0"/>
          <a:chOff x="0" y="0"/>
          <a:chExt cx="0" cy="0"/>
        </a:xfrm>
      </p:grpSpPr>
      <p:sp>
        <p:nvSpPr>
          <p:cNvPr id="336" name="Google Shape;336;p29"/>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7" name="Google Shape;337;p29"/>
          <p:cNvSpPr/>
          <p:nvPr/>
        </p:nvSpPr>
        <p:spPr>
          <a:xfrm>
            <a:off x="0" y="640080"/>
            <a:ext cx="9144000" cy="36600"/>
          </a:xfrm>
          <a:prstGeom prst="rect">
            <a:avLst/>
          </a:prstGeom>
          <a:solidFill>
            <a:srgbClr val="45818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8" name="Google Shape;338;p29"/>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R9 GitHub Lead</a:t>
            </a:r>
            <a:endParaRPr/>
          </a:p>
        </p:txBody>
      </p:sp>
      <p:sp>
        <p:nvSpPr>
          <p:cNvPr id="339" name="Google Shape;339;p29"/>
          <p:cNvSpPr txBox="1"/>
          <p:nvPr/>
        </p:nvSpPr>
        <p:spPr>
          <a:xfrm>
            <a:off x="227000" y="865625"/>
            <a:ext cx="87957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CN" sz="3200" u="sng">
                <a:solidFill>
                  <a:srgbClr val="0000FF"/>
                </a:solidFill>
                <a:latin typeface="Calibri"/>
                <a:ea typeface="Calibri"/>
                <a:cs typeface="Calibri"/>
                <a:sym typeface="Calibri"/>
                <a:hlinkClick r:id="rId3">
                  <a:extLst>
                    <a:ext uri="{A12FA001-AC4F-418D-AE19-62706E023703}">
                      <ahyp:hlinkClr val="tx"/>
                    </a:ext>
                  </a:extLst>
                </a:hlinkClick>
              </a:rPr>
              <a:t>https://github.com/LuJunwen212/CP3405-Project</a:t>
            </a:r>
            <a:endParaRPr sz="3200">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8FC"/>
        </a:solidFill>
      </p:bgPr>
    </p:bg>
    <p:spTree>
      <p:nvGrpSpPr>
        <p:cNvPr id="343" name="Shape 343"/>
        <p:cNvGrpSpPr/>
        <p:nvPr/>
      </p:nvGrpSpPr>
      <p:grpSpPr>
        <a:xfrm>
          <a:off x="0" y="0"/>
          <a:ext cx="0" cy="0"/>
          <a:chOff x="0" y="0"/>
          <a:chExt cx="0" cy="0"/>
        </a:xfrm>
      </p:grpSpPr>
      <p:sp>
        <p:nvSpPr>
          <p:cNvPr id="344" name="Google Shape;344;p30"/>
          <p:cNvSpPr/>
          <p:nvPr/>
        </p:nvSpPr>
        <p:spPr>
          <a:xfrm>
            <a:off x="0" y="0"/>
            <a:ext cx="9144000" cy="658500"/>
          </a:xfrm>
          <a:prstGeom prst="rect">
            <a:avLst/>
          </a:prstGeom>
          <a:solidFill>
            <a:srgbClr val="08172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5" name="Google Shape;345;p30"/>
          <p:cNvSpPr/>
          <p:nvPr/>
        </p:nvSpPr>
        <p:spPr>
          <a:xfrm>
            <a:off x="0" y="640080"/>
            <a:ext cx="9144000" cy="36600"/>
          </a:xfrm>
          <a:prstGeom prst="rect">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6" name="Google Shape;346;p30"/>
          <p:cNvSpPr txBox="1"/>
          <p:nvPr/>
        </p:nvSpPr>
        <p:spPr>
          <a:xfrm>
            <a:off x="384048" y="128016"/>
            <a:ext cx="2377500" cy="323100"/>
          </a:xfrm>
          <a:prstGeom prst="rect">
            <a:avLst/>
          </a:prstGeom>
          <a:noFill/>
          <a:ln>
            <a:noFill/>
          </a:ln>
        </p:spPr>
        <p:txBody>
          <a:bodyPr anchorCtr="0" anchor="ctr" bIns="45700" lIns="45700" spcFirstLastPara="1" rIns="45700" wrap="square" tIns="45700">
            <a:spAutoFit/>
          </a:bodyPr>
          <a:lstStyle/>
          <a:p>
            <a:pPr indent="0" lvl="0" marL="0" marR="0" rtl="0" algn="l">
              <a:spcBef>
                <a:spcPts val="0"/>
              </a:spcBef>
              <a:spcAft>
                <a:spcPts val="0"/>
              </a:spcAft>
              <a:buNone/>
            </a:pPr>
            <a:r>
              <a:rPr b="1" lang="zh-CN" sz="1500">
                <a:solidFill>
                  <a:srgbClr val="FFFFFF"/>
                </a:solidFill>
                <a:latin typeface="Arial"/>
                <a:ea typeface="Arial"/>
                <a:cs typeface="Arial"/>
                <a:sym typeface="Arial"/>
              </a:rPr>
              <a:t>R10 </a:t>
            </a:r>
            <a:r>
              <a:rPr b="1" lang="zh-CN" sz="1500">
                <a:solidFill>
                  <a:srgbClr val="FFFFFF"/>
                </a:solidFill>
              </a:rPr>
              <a:t>Calibration Lead</a:t>
            </a:r>
            <a:endParaRPr/>
          </a:p>
        </p:txBody>
      </p:sp>
      <p:pic>
        <p:nvPicPr>
          <p:cNvPr id="347" name="Google Shape;347;p30" title="R10.png"/>
          <p:cNvPicPr preferRelativeResize="0"/>
          <p:nvPr/>
        </p:nvPicPr>
        <p:blipFill>
          <a:blip r:embed="rId3">
            <a:alphaModFix/>
          </a:blip>
          <a:stretch>
            <a:fillRect/>
          </a:stretch>
        </p:blipFill>
        <p:spPr>
          <a:xfrm>
            <a:off x="0" y="-1"/>
            <a:ext cx="9144001" cy="514623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72E"/>
        </a:solidFill>
      </p:bgPr>
    </p:bg>
    <p:spTree>
      <p:nvGrpSpPr>
        <p:cNvPr id="351" name="Shape 351"/>
        <p:cNvGrpSpPr/>
        <p:nvPr/>
      </p:nvGrpSpPr>
      <p:grpSpPr>
        <a:xfrm>
          <a:off x="0" y="0"/>
          <a:ext cx="0" cy="0"/>
          <a:chOff x="0" y="0"/>
          <a:chExt cx="0" cy="0"/>
        </a:xfrm>
      </p:grpSpPr>
      <p:sp>
        <p:nvSpPr>
          <p:cNvPr id="352" name="Google Shape;352;p31"/>
          <p:cNvSpPr/>
          <p:nvPr/>
        </p:nvSpPr>
        <p:spPr>
          <a:xfrm>
            <a:off x="0" y="0"/>
            <a:ext cx="9144000" cy="91500"/>
          </a:xfrm>
          <a:prstGeom prst="rect">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3" name="Google Shape;353;p31"/>
          <p:cNvSpPr/>
          <p:nvPr/>
        </p:nvSpPr>
        <p:spPr>
          <a:xfrm>
            <a:off x="0" y="5047488"/>
            <a:ext cx="9144000" cy="91500"/>
          </a:xfrm>
          <a:prstGeom prst="rect">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4" name="Google Shape;354;p31"/>
          <p:cNvSpPr txBox="1"/>
          <p:nvPr/>
        </p:nvSpPr>
        <p:spPr>
          <a:xfrm>
            <a:off x="640080" y="1627632"/>
            <a:ext cx="3931800" cy="6771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1" lang="zh-CN" sz="3800">
                <a:solidFill>
                  <a:srgbClr val="FFFFFF"/>
                </a:solidFill>
                <a:latin typeface="Arial"/>
                <a:ea typeface="Arial"/>
                <a:cs typeface="Arial"/>
                <a:sym typeface="Arial"/>
              </a:rPr>
              <a:t>Thank you</a:t>
            </a:r>
            <a:endParaRPr/>
          </a:p>
        </p:txBody>
      </p:sp>
      <p:sp>
        <p:nvSpPr>
          <p:cNvPr id="355" name="Google Shape;355;p31"/>
          <p:cNvSpPr txBox="1"/>
          <p:nvPr/>
        </p:nvSpPr>
        <p:spPr>
          <a:xfrm>
            <a:off x="676656" y="2267712"/>
            <a:ext cx="4389000" cy="369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lang="zh-CN" sz="1800">
                <a:solidFill>
                  <a:srgbClr val="C8D4E3"/>
                </a:solidFill>
              </a:rPr>
              <a:t>Any </a:t>
            </a:r>
            <a:r>
              <a:rPr b="0" lang="zh-CN" sz="1800">
                <a:solidFill>
                  <a:srgbClr val="C8D4E3"/>
                </a:solidFill>
                <a:latin typeface="Arial"/>
                <a:ea typeface="Arial"/>
                <a:cs typeface="Arial"/>
                <a:sym typeface="Arial"/>
              </a:rPr>
              <a:t>Questions?</a:t>
            </a:r>
            <a:endParaRPr/>
          </a:p>
        </p:txBody>
      </p:sp>
      <p:sp>
        <p:nvSpPr>
          <p:cNvPr id="356" name="Google Shape;356;p31"/>
          <p:cNvSpPr/>
          <p:nvPr/>
        </p:nvSpPr>
        <p:spPr>
          <a:xfrm>
            <a:off x="3665950" y="2370455"/>
            <a:ext cx="201300" cy="201300"/>
          </a:xfrm>
          <a:prstGeom prst="ellipse">
            <a:avLst/>
          </a:prstGeom>
          <a:solidFill>
            <a:srgbClr val="7C4D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7" name="Google Shape;357;p31"/>
          <p:cNvSpPr/>
          <p:nvPr/>
        </p:nvSpPr>
        <p:spPr>
          <a:xfrm>
            <a:off x="676647" y="3733855"/>
            <a:ext cx="201300" cy="201300"/>
          </a:xfrm>
          <a:prstGeom prst="ellipse">
            <a:avLst/>
          </a:prstGeom>
          <a:solidFill>
            <a:srgbClr val="00B8A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8" name="Google Shape;358;p31"/>
          <p:cNvSpPr/>
          <p:nvPr/>
        </p:nvSpPr>
        <p:spPr>
          <a:xfrm>
            <a:off x="1030944" y="671680"/>
            <a:ext cx="201300" cy="201300"/>
          </a:xfrm>
          <a:prstGeom prst="ellipse">
            <a:avLst/>
          </a:prstGeom>
          <a:solidFill>
            <a:srgbClr val="F2B84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9" name="Google Shape;359;p31"/>
          <p:cNvSpPr/>
          <p:nvPr/>
        </p:nvSpPr>
        <p:spPr>
          <a:xfrm>
            <a:off x="676650" y="671677"/>
            <a:ext cx="201300" cy="201300"/>
          </a:xfrm>
          <a:prstGeom prst="ellipse">
            <a:avLst/>
          </a:prstGeom>
          <a:solidFill>
            <a:srgbClr val="2878E2"/>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0" name="Google Shape;360;p31"/>
          <p:cNvSpPr/>
          <p:nvPr/>
        </p:nvSpPr>
        <p:spPr>
          <a:xfrm>
            <a:off x="1385247" y="671677"/>
            <a:ext cx="201300" cy="201300"/>
          </a:xfrm>
          <a:prstGeom prst="ellipse">
            <a:avLst/>
          </a:prstGeom>
          <a:solidFill>
            <a:srgbClr val="2FB34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1" name="Google Shape;361;p31"/>
          <p:cNvSpPr/>
          <p:nvPr/>
        </p:nvSpPr>
        <p:spPr>
          <a:xfrm>
            <a:off x="1030944" y="3733852"/>
            <a:ext cx="201300" cy="201300"/>
          </a:xfrm>
          <a:prstGeom prst="ellipse">
            <a:avLst/>
          </a:prstGeom>
          <a:solidFill>
            <a:srgbClr val="5C6CFF"/>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2" name="Google Shape;362;p31"/>
          <p:cNvSpPr/>
          <p:nvPr/>
        </p:nvSpPr>
        <p:spPr>
          <a:xfrm>
            <a:off x="1385238" y="3733849"/>
            <a:ext cx="201300" cy="201300"/>
          </a:xfrm>
          <a:prstGeom prst="ellipse">
            <a:avLst/>
          </a:prstGeom>
          <a:solidFill>
            <a:srgbClr val="A64D79"/>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3" name="Google Shape;363;p31"/>
          <p:cNvSpPr/>
          <p:nvPr/>
        </p:nvSpPr>
        <p:spPr>
          <a:xfrm>
            <a:off x="4370575" y="1959674"/>
            <a:ext cx="201300" cy="201300"/>
          </a:xfrm>
          <a:prstGeom prst="ellipse">
            <a:avLst/>
          </a:prstGeom>
          <a:solidFill>
            <a:srgbClr val="45818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4" name="Google Shape;364;p31"/>
          <p:cNvSpPr/>
          <p:nvPr/>
        </p:nvSpPr>
        <p:spPr>
          <a:xfrm>
            <a:off x="4169263" y="2160974"/>
            <a:ext cx="201300" cy="201300"/>
          </a:xfrm>
          <a:prstGeom prst="ellipse">
            <a:avLst/>
          </a:prstGeom>
          <a:solidFill>
            <a:srgbClr val="F07C3E"/>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5" name="Google Shape;365;p31"/>
          <p:cNvSpPr/>
          <p:nvPr/>
        </p:nvSpPr>
        <p:spPr>
          <a:xfrm>
            <a:off x="3867250" y="2169149"/>
            <a:ext cx="201300" cy="201300"/>
          </a:xfrm>
          <a:prstGeom prst="ellipse">
            <a:avLst/>
          </a:prstGeom>
          <a:solidFill>
            <a:srgbClr val="D6454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