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210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68f0dbac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g3f968f0dbac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74c238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g3f974c238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28aef9be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g3f628aef9be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8172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0" y="640080"/>
            <a:ext cx="9144000" cy="36600"/>
          </a:xfrm>
          <a:prstGeom prst="rect">
            <a:avLst/>
          </a:prstGeom>
          <a:solidFill>
            <a:srgbClr val="D6454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84048" y="128016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zh-CN" sz="1500" b="1">
                <a:solidFill>
                  <a:srgbClr val="FFFFFF"/>
                </a:solidFill>
              </a:rPr>
              <a:t>2</a:t>
            </a:r>
            <a:r>
              <a:rPr lang="zh-CN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CN" sz="1500" b="1">
                <a:solidFill>
                  <a:srgbClr val="FFFFFF"/>
                </a:solidFill>
              </a:rPr>
              <a:t>Scrum Master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6907827" y="775381"/>
            <a:ext cx="2109600" cy="315600"/>
          </a:xfrm>
          <a:prstGeom prst="roundRect">
            <a:avLst>
              <a:gd name="adj" fmla="val 21053"/>
            </a:avLst>
          </a:prstGeom>
          <a:solidFill>
            <a:srgbClr val="2B7A55"/>
          </a:solidFill>
          <a:ln w="7875" cap="flat" cmpd="sng">
            <a:solidFill>
              <a:srgbClr val="2B7A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Arial"/>
              <a:buNone/>
            </a:pPr>
            <a:r>
              <a:rPr lang="zh-CN" sz="99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Wednesday test passed</a:t>
            </a:r>
            <a:endParaRPr sz="99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76925" y="775363"/>
            <a:ext cx="59661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21"/>
              <a:buFont typeface="Play"/>
              <a:buNone/>
            </a:pPr>
            <a:r>
              <a:rPr lang="zh-CN" sz="2321" b="1">
                <a:solidFill>
                  <a:srgbClr val="172033"/>
                </a:solidFill>
              </a:rPr>
              <a:t>Sprint control: surface risk before Sunday</a:t>
            </a:r>
            <a:endParaRPr sz="2321">
              <a:solidFill>
                <a:srgbClr val="000000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876891" y="1552451"/>
            <a:ext cx="19179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5C99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2F5C99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3876900" y="1818150"/>
            <a:ext cx="2012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43"/>
              <a:buFont typeface="Arial"/>
              <a:buNone/>
            </a:pPr>
            <a:r>
              <a:rPr lang="zh-CN" sz="124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standup_midweek_W</a:t>
            </a:r>
            <a:r>
              <a:rPr lang="zh-CN" sz="1243">
                <a:solidFill>
                  <a:srgbClr val="172033"/>
                </a:solidFill>
              </a:rPr>
              <a:t>31</a:t>
            </a:r>
            <a:r>
              <a:rPr lang="zh-CN" sz="124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.md</a:t>
            </a:r>
            <a:endParaRPr sz="124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43"/>
              <a:buFont typeface="Arial"/>
              <a:buNone/>
            </a:pPr>
            <a:r>
              <a:rPr lang="zh-CN" sz="124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committed by Wednesday</a:t>
            </a:r>
            <a:endParaRPr sz="124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150146" y="1552451"/>
            <a:ext cx="24933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5C99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2F5C99"/>
                </a:solidFill>
                <a:latin typeface="Arial"/>
                <a:ea typeface="Arial"/>
                <a:cs typeface="Arial"/>
                <a:sym typeface="Arial"/>
              </a:rPr>
              <a:t>SCRUM RESULT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150146" y="1818142"/>
            <a:ext cx="24933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43"/>
              <a:buFont typeface="Arial"/>
              <a:buNone/>
            </a:pPr>
            <a:r>
              <a:rPr lang="zh-CN" sz="1243">
                <a:solidFill>
                  <a:srgbClr val="172033"/>
                </a:solidFill>
              </a:rPr>
              <a:t>R</a:t>
            </a:r>
            <a:r>
              <a:rPr lang="zh-CN" sz="124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isks identified early; recovery task assigned before release day</a:t>
            </a:r>
            <a:endParaRPr sz="124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278450" y="1149174"/>
            <a:ext cx="2588700" cy="136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Mid-week check-in committed, 2-minute segment  and every role status was tracked with next actions.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11942"/>
            <a:ext cx="9144003" cy="2531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8172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0" y="640080"/>
            <a:ext cx="9144000" cy="36600"/>
          </a:xfrm>
          <a:prstGeom prst="rect">
            <a:avLst/>
          </a:prstGeom>
          <a:solidFill>
            <a:srgbClr val="D6454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384048" y="128016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zh-CN" sz="1500" b="1">
                <a:solidFill>
                  <a:srgbClr val="FFFFFF"/>
                </a:solidFill>
              </a:rPr>
              <a:t>2</a:t>
            </a:r>
            <a:r>
              <a:rPr lang="zh-CN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CN" sz="1500" b="1">
                <a:solidFill>
                  <a:srgbClr val="FFFFFF"/>
                </a:solidFill>
              </a:rPr>
              <a:t>Scrum Master</a:t>
            </a:r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316194" y="4684930"/>
            <a:ext cx="6580800" cy="0"/>
          </a:xfrm>
          <a:prstGeom prst="straightConnector1">
            <a:avLst/>
          </a:prstGeom>
          <a:noFill/>
          <a:ln w="14750" cap="flat" cmpd="sng">
            <a:solidFill>
              <a:srgbClr val="071A33">
                <a:alpha val="749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6" name="Google Shape;96;p15"/>
          <p:cNvSpPr/>
          <p:nvPr/>
        </p:nvSpPr>
        <p:spPr>
          <a:xfrm>
            <a:off x="150195" y="4469925"/>
            <a:ext cx="426900" cy="381900"/>
          </a:xfrm>
          <a:prstGeom prst="roundRect">
            <a:avLst>
              <a:gd name="adj" fmla="val 17391"/>
            </a:avLst>
          </a:prstGeom>
          <a:solidFill>
            <a:srgbClr val="071A33"/>
          </a:solidFill>
          <a:ln w="7875" cap="flat" cmpd="sng">
            <a:solidFill>
              <a:srgbClr val="071A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0" y="4891976"/>
            <a:ext cx="741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r>
              <a:rPr lang="zh-CN" sz="870">
                <a:solidFill>
                  <a:srgbClr val="5C6575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989279" y="4493975"/>
            <a:ext cx="743400" cy="381900"/>
          </a:xfrm>
          <a:prstGeom prst="roundRect">
            <a:avLst>
              <a:gd name="adj" fmla="val 17391"/>
            </a:avLst>
          </a:prstGeom>
          <a:solidFill>
            <a:schemeClr val="dk1"/>
          </a:solidFill>
          <a:ln w="7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Tue–Wed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019281" y="4891975"/>
            <a:ext cx="6834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r>
              <a:rPr lang="zh-CN" sz="870">
                <a:solidFill>
                  <a:srgbClr val="5C6575"/>
                </a:solidFill>
              </a:rPr>
              <a:t>1:1 checks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2256588" y="4493975"/>
            <a:ext cx="426900" cy="381900"/>
          </a:xfrm>
          <a:prstGeom prst="roundRect">
            <a:avLst>
              <a:gd name="adj" fmla="val 17391"/>
            </a:avLst>
          </a:prstGeom>
          <a:solidFill>
            <a:srgbClr val="071A33"/>
          </a:solidFill>
          <a:ln w="7875" cap="flat" cmpd="sng">
            <a:solidFill>
              <a:srgbClr val="071A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FFFFFF"/>
                </a:solidFill>
              </a:rPr>
              <a:t>Fri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2099557" y="4891976"/>
            <a:ext cx="741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r>
              <a:rPr lang="zh-CN" sz="870">
                <a:solidFill>
                  <a:srgbClr val="5C6575"/>
                </a:solidFill>
              </a:rPr>
              <a:t>Merge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078705" y="4469925"/>
            <a:ext cx="426900" cy="381900"/>
          </a:xfrm>
          <a:prstGeom prst="roundRect">
            <a:avLst>
              <a:gd name="adj" fmla="val 17391"/>
            </a:avLst>
          </a:prstGeom>
          <a:solidFill>
            <a:srgbClr val="071A33"/>
          </a:solidFill>
          <a:ln w="7875" cap="flat" cmpd="sng">
            <a:solidFill>
              <a:srgbClr val="071A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Sun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928509" y="4891976"/>
            <a:ext cx="741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r>
              <a:rPr lang="zh-CN" sz="870">
                <a:solidFill>
                  <a:srgbClr val="5C6575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077025" y="4469925"/>
            <a:ext cx="1703700" cy="381900"/>
          </a:xfrm>
          <a:prstGeom prst="roundRect">
            <a:avLst>
              <a:gd name="adj" fmla="val 17391"/>
            </a:avLst>
          </a:prstGeom>
          <a:solidFill>
            <a:srgbClr val="E84545"/>
          </a:solidFill>
          <a:ln w="7875" cap="flat" cmpd="sng">
            <a:solidFill>
              <a:srgbClr val="E8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FFFFFF"/>
                </a:solidFill>
              </a:rPr>
              <a:t>Saturday-Sunday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043725" y="4891975"/>
            <a:ext cx="17703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r>
              <a:rPr lang="zh-CN" sz="870">
                <a:solidFill>
                  <a:srgbClr val="5C6575"/>
                </a:solidFill>
              </a:rPr>
              <a:t>Track and handle sudden issues</a:t>
            </a:r>
            <a:endParaRPr sz="870">
              <a:solidFill>
                <a:srgbClr val="5C6575"/>
              </a:solidFill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6475" y="733525"/>
            <a:ext cx="68076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70"/>
              <a:buFont typeface="Play"/>
              <a:buNone/>
            </a:pPr>
            <a:r>
              <a:rPr lang="zh-CN" sz="2070" b="1">
                <a:solidFill>
                  <a:srgbClr val="172033"/>
                </a:solidFill>
              </a:rPr>
              <a:t>Dependency chain</a:t>
            </a:r>
            <a:endParaRPr sz="2070">
              <a:solidFill>
                <a:srgbClr val="000000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6474" y="1037325"/>
            <a:ext cx="50049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998"/>
              <a:buFont typeface="Arial"/>
              <a:buNone/>
            </a:pPr>
            <a:r>
              <a:rPr lang="zh-CN" sz="898">
                <a:solidFill>
                  <a:srgbClr val="5C6575"/>
                </a:solidFill>
                <a:latin typeface="Arial"/>
                <a:ea typeface="Arial"/>
                <a:cs typeface="Arial"/>
                <a:sym typeface="Arial"/>
              </a:rPr>
              <a:t>The sprint risk was not one person being late; it was one late link blocking every downstream role.</a:t>
            </a:r>
            <a:endParaRPr sz="89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2256606" y="2334191"/>
            <a:ext cx="290400" cy="0"/>
          </a:xfrm>
          <a:prstGeom prst="straightConnector1">
            <a:avLst/>
          </a:prstGeom>
          <a:noFill/>
          <a:ln w="10250" cap="flat" cmpd="sng">
            <a:solidFill>
              <a:srgbClr val="071A3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5"/>
          <p:cNvCxnSpPr/>
          <p:nvPr/>
        </p:nvCxnSpPr>
        <p:spPr>
          <a:xfrm>
            <a:off x="3728762" y="2328583"/>
            <a:ext cx="429600" cy="0"/>
          </a:xfrm>
          <a:prstGeom prst="straightConnector1">
            <a:avLst/>
          </a:prstGeom>
          <a:noFill/>
          <a:ln w="10250" cap="flat" cmpd="sng">
            <a:solidFill>
              <a:srgbClr val="071A3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5"/>
          <p:cNvCxnSpPr/>
          <p:nvPr/>
        </p:nvCxnSpPr>
        <p:spPr>
          <a:xfrm>
            <a:off x="5258736" y="2323932"/>
            <a:ext cx="436800" cy="0"/>
          </a:xfrm>
          <a:prstGeom prst="straightConnector1">
            <a:avLst/>
          </a:prstGeom>
          <a:noFill/>
          <a:ln w="10250" cap="flat" cmpd="sng">
            <a:solidFill>
              <a:srgbClr val="071A3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1" name="Google Shape;111;p15"/>
          <p:cNvSpPr/>
          <p:nvPr/>
        </p:nvSpPr>
        <p:spPr>
          <a:xfrm>
            <a:off x="66475" y="1507751"/>
            <a:ext cx="882300" cy="706500"/>
          </a:xfrm>
          <a:prstGeom prst="roundRect">
            <a:avLst>
              <a:gd name="adj" fmla="val 13333"/>
            </a:avLst>
          </a:prstGeom>
          <a:solidFill>
            <a:srgbClr val="F2B84B"/>
          </a:solidFill>
          <a:ln w="6425" cap="flat" cmpd="sng">
            <a:solidFill>
              <a:srgbClr val="F2B8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Almanac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08172E"/>
                </a:solidFill>
              </a:rPr>
              <a:t>Sat.</a:t>
            </a:r>
            <a:endParaRPr sz="876" b="1">
              <a:solidFill>
                <a:srgbClr val="08172E"/>
              </a:solidFill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6475" y="2522244"/>
            <a:ext cx="882300" cy="706500"/>
          </a:xfrm>
          <a:prstGeom prst="roundRect">
            <a:avLst>
              <a:gd name="adj" fmla="val 13333"/>
            </a:avLst>
          </a:prstGeom>
          <a:solidFill>
            <a:srgbClr val="2878E2"/>
          </a:solidFill>
          <a:ln w="6425" cap="flat" cmpd="sng">
            <a:solidFill>
              <a:srgbClr val="2878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Macro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Sat.</a:t>
            </a:r>
            <a:endParaRPr sz="876" b="1">
              <a:solidFill>
                <a:schemeClr val="dk1"/>
              </a:solidFill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301079" y="1990332"/>
            <a:ext cx="882300" cy="706500"/>
          </a:xfrm>
          <a:prstGeom prst="roundRect">
            <a:avLst>
              <a:gd name="adj" fmla="val 13333"/>
            </a:avLst>
          </a:prstGeom>
          <a:solidFill>
            <a:srgbClr val="2FB344"/>
          </a:solidFill>
          <a:ln w="6425" cap="flat" cmpd="sng">
            <a:solidFill>
              <a:srgbClr val="2FB3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Sat.</a:t>
            </a:r>
            <a:endParaRPr sz="876" b="1"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620654" y="1981003"/>
            <a:ext cx="1023300" cy="706500"/>
          </a:xfrm>
          <a:prstGeom prst="roundRect">
            <a:avLst>
              <a:gd name="adj" fmla="val 13333"/>
            </a:avLst>
          </a:prstGeom>
          <a:solidFill>
            <a:srgbClr val="5C6CFF"/>
          </a:solidFill>
          <a:ln w="6425" cap="flat" cmpd="sng">
            <a:solidFill>
              <a:srgbClr val="5C6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R8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synthesis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Sat.</a:t>
            </a:r>
            <a:endParaRPr sz="876" b="1">
              <a:solidFill>
                <a:schemeClr val="dk1"/>
              </a:solidFill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158274" y="1471000"/>
            <a:ext cx="1023300" cy="706500"/>
          </a:xfrm>
          <a:prstGeom prst="roundRect">
            <a:avLst>
              <a:gd name="adj" fmla="val 13333"/>
            </a:avLst>
          </a:prstGeom>
          <a:solidFill>
            <a:srgbClr val="A64D79"/>
          </a:solidFill>
          <a:ln w="64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endParaRPr sz="876" b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R7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score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Sun.</a:t>
            </a:r>
            <a:endParaRPr sz="876" b="1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endParaRPr sz="876" b="1">
              <a:solidFill>
                <a:srgbClr val="FFFFFF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158274" y="2470469"/>
            <a:ext cx="1023300" cy="706500"/>
          </a:xfrm>
          <a:prstGeom prst="roundRect">
            <a:avLst>
              <a:gd name="adj" fmla="val 13333"/>
            </a:avLst>
          </a:prstGeom>
          <a:solidFill>
            <a:srgbClr val="F07C3E"/>
          </a:solidFill>
          <a:ln w="6425" cap="flat" cmpd="sng">
            <a:solidFill>
              <a:srgbClr val="F07C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R10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Sun.</a:t>
            </a:r>
            <a:endParaRPr sz="876" b="1">
              <a:solidFill>
                <a:srgbClr val="FFFFFF"/>
              </a:solidFill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80867" y="1987489"/>
            <a:ext cx="1093200" cy="706500"/>
          </a:xfrm>
          <a:prstGeom prst="roundRect">
            <a:avLst>
              <a:gd name="adj" fmla="val 13333"/>
            </a:avLst>
          </a:prstGeom>
          <a:solidFill>
            <a:srgbClr val="45818E"/>
          </a:solidFill>
          <a:ln w="6425" cap="flat" cmpd="sng">
            <a:solidFill>
              <a:srgbClr val="4581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R9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Tag + release</a:t>
            </a:r>
            <a:endParaRPr sz="876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Sun.</a:t>
            </a:r>
            <a:endParaRPr sz="876" b="1">
              <a:solidFill>
                <a:schemeClr val="dk1"/>
              </a:solidFill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551714" y="2213256"/>
            <a:ext cx="216300" cy="221400"/>
          </a:xfrm>
          <a:prstGeom prst="mathPlus">
            <a:avLst>
              <a:gd name="adj1" fmla="val 23520"/>
            </a:avLst>
          </a:prstGeom>
          <a:solidFill>
            <a:srgbClr val="08172E"/>
          </a:solidFill>
          <a:ln w="8700" cap="flat" cmpd="sng">
            <a:solidFill>
              <a:srgbClr val="0817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50" tIns="83350" rIns="83350" bIns="8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/>
          </a:p>
        </p:txBody>
      </p:sp>
      <p:sp>
        <p:nvSpPr>
          <p:cNvPr id="119" name="Google Shape;119;p15"/>
          <p:cNvSpPr/>
          <p:nvPr/>
        </p:nvSpPr>
        <p:spPr>
          <a:xfrm>
            <a:off x="989269" y="2232863"/>
            <a:ext cx="216300" cy="221400"/>
          </a:xfrm>
          <a:prstGeom prst="mathPlus">
            <a:avLst>
              <a:gd name="adj1" fmla="val 23520"/>
            </a:avLst>
          </a:prstGeom>
          <a:solidFill>
            <a:srgbClr val="08172E"/>
          </a:solidFill>
          <a:ln w="8700" cap="flat" cmpd="sng">
            <a:solidFill>
              <a:srgbClr val="0817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350" tIns="83350" rIns="83350" bIns="8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77"/>
          </a:p>
        </p:txBody>
      </p:sp>
      <p:sp>
        <p:nvSpPr>
          <p:cNvPr id="120" name="Google Shape;120;p15"/>
          <p:cNvSpPr/>
          <p:nvPr/>
        </p:nvSpPr>
        <p:spPr>
          <a:xfrm>
            <a:off x="2256603" y="3228612"/>
            <a:ext cx="882300" cy="706500"/>
          </a:xfrm>
          <a:prstGeom prst="roundRect">
            <a:avLst>
              <a:gd name="adj" fmla="val 13333"/>
            </a:avLst>
          </a:prstGeom>
          <a:solidFill>
            <a:srgbClr val="00B8A9"/>
          </a:solidFill>
          <a:ln w="6425" cap="flat" cmpd="sng">
            <a:solidFill>
              <a:srgbClr val="00B8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5" tIns="325" rIns="325" bIns="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zh-CN" sz="876" b="1">
                <a:solidFill>
                  <a:srgbClr val="FFFFFF"/>
                </a:solidFill>
              </a:rPr>
              <a:t>6</a:t>
            </a:r>
            <a:endParaRPr sz="87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rgbClr val="FFFFFF"/>
                </a:solidFill>
              </a:rPr>
              <a:t>Data</a:t>
            </a:r>
            <a:endParaRPr sz="876" b="1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6"/>
              <a:buFont typeface="Arial"/>
              <a:buNone/>
            </a:pPr>
            <a:r>
              <a:rPr lang="zh-CN" sz="876" b="1">
                <a:solidFill>
                  <a:schemeClr val="dk1"/>
                </a:solidFill>
              </a:rPr>
              <a:t>Sat.</a:t>
            </a:r>
            <a:endParaRPr sz="876" b="1">
              <a:solidFill>
                <a:schemeClr val="dk1"/>
              </a:solidFill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>
            <a:off x="1147540" y="2836855"/>
            <a:ext cx="981600" cy="702900"/>
          </a:xfrm>
          <a:prstGeom prst="straightConnector1">
            <a:avLst/>
          </a:prstGeom>
          <a:noFill/>
          <a:ln w="10250" cap="flat" cmpd="sng">
            <a:solidFill>
              <a:srgbClr val="071A3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5"/>
          <p:cNvCxnSpPr/>
          <p:nvPr/>
        </p:nvCxnSpPr>
        <p:spPr>
          <a:xfrm rot="10800000" flipH="1">
            <a:off x="3195509" y="2999159"/>
            <a:ext cx="788400" cy="547800"/>
          </a:xfrm>
          <a:prstGeom prst="straightConnector1">
            <a:avLst/>
          </a:prstGeom>
          <a:noFill/>
          <a:ln w="10250" cap="flat" cmpd="sng">
            <a:solidFill>
              <a:srgbClr val="071A33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23" name="Google Shape;12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902" y="658500"/>
            <a:ext cx="2233749" cy="450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3256813" y="4493975"/>
            <a:ext cx="426900" cy="381900"/>
          </a:xfrm>
          <a:prstGeom prst="roundRect">
            <a:avLst>
              <a:gd name="adj" fmla="val 17391"/>
            </a:avLst>
          </a:prstGeom>
          <a:solidFill>
            <a:srgbClr val="071A33"/>
          </a:solidFill>
          <a:ln w="7875" cap="flat" cmpd="sng">
            <a:solidFill>
              <a:srgbClr val="071A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25" tIns="425" rIns="425" bIns="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"/>
              <a:buFont typeface="Arial"/>
              <a:buNone/>
            </a:pPr>
            <a:r>
              <a:rPr lang="zh-CN" sz="870" b="1">
                <a:solidFill>
                  <a:srgbClr val="FFFFFF"/>
                </a:solidFill>
              </a:rPr>
              <a:t>Sat</a:t>
            </a: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060000" y="4998975"/>
            <a:ext cx="10932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r>
              <a:rPr lang="zh-CN" sz="870">
                <a:solidFill>
                  <a:srgbClr val="5C6575"/>
                </a:solidFill>
              </a:rPr>
              <a:t>Final Team Sync </a:t>
            </a:r>
            <a:endParaRPr sz="87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C6575"/>
              </a:buClr>
              <a:buSzPts val="870"/>
              <a:buFont typeface="Arial"/>
              <a:buNone/>
            </a:pPr>
            <a:endParaRPr sz="870">
              <a:solidFill>
                <a:srgbClr val="5C657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8172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0" y="640080"/>
            <a:ext cx="9144000" cy="36600"/>
          </a:xfrm>
          <a:prstGeom prst="rect">
            <a:avLst/>
          </a:prstGeom>
          <a:solidFill>
            <a:srgbClr val="D6454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384048" y="128016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zh-CN" sz="1500" b="1">
                <a:solidFill>
                  <a:srgbClr val="FFFFFF"/>
                </a:solidFill>
              </a:rPr>
              <a:t>2</a:t>
            </a:r>
            <a:r>
              <a:rPr lang="zh-CN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CN" sz="1500" b="1">
                <a:solidFill>
                  <a:srgbClr val="FFFFFF"/>
                </a:solidFill>
              </a:rPr>
              <a:t>Scrum Master</a:t>
            </a: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3992" cy="5143500"/>
          </a:xfrm>
          <a:prstGeom prst="rect">
            <a:avLst/>
          </a:prstGeom>
          <a:solidFill>
            <a:srgbClr val="08172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全屏显示(16:9)</PresentationFormat>
  <Paragraphs>50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Calibri</vt:lpstr>
      <vt:lpstr>Arial</vt:lpstr>
      <vt:lpstr>Play</vt:lpstr>
      <vt:lpstr>Simple Light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冠宇 卢</cp:lastModifiedBy>
  <cp:revision>1</cp:revision>
  <dcterms:modified xsi:type="dcterms:W3CDTF">2026-08-02T09:13:20Z</dcterms:modified>
</cp:coreProperties>
</file>