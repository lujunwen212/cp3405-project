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Poppins"/>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5669abc70_2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f5669abc70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3b918ac8a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zh-CN">
                <a:solidFill>
                  <a:schemeClr val="dk1"/>
                </a:solidFill>
              </a:rPr>
              <a:t>Starting with Sprint Control, our core objective as R2 Scrum Master is to surface risks before Sunday. As highlighted in our commit history, we passed our Wednesday checkpoint by committing standup_midweek_W30.md on time. Following Monday's planning and Tuesday-to-Wednesday one-on-one checks, every role's status was actively tracked with clear next actions. Identifying these risks midweek allowed us to assign recovery tasks well before release day and effectively prepare for weekend execution.</a:t>
            </a:r>
            <a:endParaRPr>
              <a:solidFill>
                <a:schemeClr val="dk1"/>
              </a:solidFill>
            </a:endParaRPr>
          </a:p>
        </p:txBody>
      </p:sp>
      <p:sp>
        <p:nvSpPr>
          <p:cNvPr id="75" name="Google Shape;75;g3f3b918ac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5bac24f64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zh-CN">
                <a:solidFill>
                  <a:schemeClr val="dk1"/>
                </a:solidFill>
              </a:rPr>
              <a:t>Next is our Dependency Chain. The fundamental risk here isn't just one person being late, but one delayed link blocking every downstream role. As shown in the pipeline, R6 Data feeds into Macro and Calibration, while Almanac, Macro, and Technical feed directly into R8 LLM synthesis, leading to Human Score, Calibration, and finally R9 for release. To protect this chain, we enforced strict role deadlines from Saturday 2:00 PM through Sunday 8:00 PM, and implemented three key control actions: forcing workflow failures on NaN values, standardizing LLM outputs into plain text, and verifying that all expected artifacts are updated by the latest run.</a:t>
            </a:r>
            <a:endParaRPr>
              <a:solidFill>
                <a:schemeClr val="dk1"/>
              </a:solidFill>
            </a:endParaRPr>
          </a:p>
        </p:txBody>
      </p:sp>
      <p:sp>
        <p:nvSpPr>
          <p:cNvPr id="101" name="Google Shape;101;g3f5bac24f6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5bc0a10f3_1_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Finally, looking at our Retrospective, our main lesson is that a successful branch test does not guarantee safe execution on main. During Saturday’s pipeline, R5 failed to auto-generate results at 7:00 AM. At 9:30 AM, R2 detected the failure, and R2 Guanyu Lu alongside R1 Zaikun Zheng intervened to fix the code. By 11:10 AM, the issue was fully resolved, and results were automatically generated. For Sprint 9, our process changes focus on ensuring weekend automated outputs run reliably on main after week 9 branch tests, and finalizing our Demo Day task assignments.</a:t>
            </a:r>
            <a:endParaRPr>
              <a:solidFill>
                <a:schemeClr val="dk1"/>
              </a:solidFill>
            </a:endParaRPr>
          </a:p>
        </p:txBody>
      </p:sp>
      <p:sp>
        <p:nvSpPr>
          <p:cNvPr id="128" name="Google Shape;128;g3f5bc0a10f3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5bc0a10f3_1_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g3f5bc0a10f3_1_7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152" name="Google Shape;152;g3f5bc0a10f3_1_7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5bda5a8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f5bda5a8e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3b918ac8a_0_5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g3f3b918ac8a_0_5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219" name="Google Shape;219;g3f3b918ac8a_0_5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95631caf7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g3f95631caf7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230" name="Google Shape;230;g3f95631caf7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f3b918ac8a_0_5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g3f3b918ac8a_0_5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299" name="Google Shape;299;g3f3b918ac8a_0_5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f3b918ac8a_0_8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g3f3b918ac8a_0_8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313" name="Google Shape;313;g3f3b918ac8a_0_8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3b918ac8a_0_8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g3f3b918ac8a_0_88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339" name="Google Shape;339;g3f3b918ac8a_0_8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f3b918ac8a_0_5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g3f3b918ac8a_0_5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zh-CN">
                <a:solidFill>
                  <a:schemeClr val="dk1"/>
                </a:solidFill>
              </a:rPr>
              <a:t>This week, our macro outlook is </a:t>
            </a:r>
            <a:r>
              <a:rPr b="1" lang="zh-CN">
                <a:solidFill>
                  <a:schemeClr val="dk1"/>
                </a:solidFill>
              </a:rPr>
              <a:t>moderately bearish</a:t>
            </a:r>
            <a:r>
              <a:rPr lang="zh-CN">
                <a:solidFill>
                  <a:schemeClr val="dk1"/>
                </a:solidFill>
              </a:rPr>
              <a:t> with </a:t>
            </a:r>
            <a:r>
              <a:rPr b="1" lang="zh-CN">
                <a:solidFill>
                  <a:schemeClr val="dk1"/>
                </a:solidFill>
              </a:rPr>
              <a:t>medium confidence</a:t>
            </a:r>
            <a:r>
              <a:rPr lang="zh-CN">
                <a:solidFill>
                  <a:schemeClr val="dk1"/>
                </a:solidFill>
              </a:rPr>
              <a:t>. Treasury yields and oil prices both increased, while the SPX and NDX remained weak, suggesting market sentiment is still cautious. Looking ahead, the </a:t>
            </a:r>
            <a:r>
              <a:rPr b="1" lang="zh-CN">
                <a:solidFill>
                  <a:schemeClr val="dk1"/>
                </a:solidFill>
              </a:rPr>
              <a:t>FOMC meeting</a:t>
            </a:r>
            <a:r>
              <a:rPr lang="zh-CN">
                <a:solidFill>
                  <a:schemeClr val="dk1"/>
                </a:solidFill>
              </a:rPr>
              <a:t> will be the most important event, together with GDP and PCE data. Overall, we expect a cautious market and will continue to monitor these key economic events. </a:t>
            </a:r>
            <a:endParaRPr/>
          </a:p>
        </p:txBody>
      </p:sp>
      <p:sp>
        <p:nvSpPr>
          <p:cNvPr id="370" name="Google Shape;370;g3f3b918ac8a_0_59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3b918ac8a_0_2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g3f3b918ac8a_0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f3b918ac8a_0_6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"Hi everyone, here is the W30 Consensus Report from our </a:t>
            </a:r>
            <a:r>
              <a:rPr b="1" lang="zh-CN">
                <a:solidFill>
                  <a:schemeClr val="dk1"/>
                </a:solidFill>
              </a:rPr>
              <a:t>R8 LLM Operator</a:t>
            </a:r>
            <a:r>
              <a:rPr lang="zh-C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This week, we fully integrated upstream reports from </a:t>
            </a:r>
            <a:r>
              <a:rPr b="1" lang="zh-CN">
                <a:solidFill>
                  <a:schemeClr val="dk1"/>
                </a:solidFill>
              </a:rPr>
              <a:t>R3 Almanac</a:t>
            </a:r>
            <a:r>
              <a:rPr lang="zh-CN">
                <a:solidFill>
                  <a:schemeClr val="dk1"/>
                </a:solidFill>
              </a:rPr>
              <a:t> and </a:t>
            </a:r>
            <a:r>
              <a:rPr b="1" lang="zh-CN">
                <a:solidFill>
                  <a:schemeClr val="dk1"/>
                </a:solidFill>
              </a:rPr>
              <a:t>R5 Technical</a:t>
            </a:r>
            <a:r>
              <a:rPr lang="zh-CN">
                <a:solidFill>
                  <a:schemeClr val="dk1"/>
                </a:solidFill>
              </a:rPr>
              <a:t>, while enforcing strict NaN checks to ensure absolute data quality.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We optimized our pipeline to run on three flagship models: </a:t>
            </a:r>
            <a:r>
              <a:rPr b="1" lang="zh-CN">
                <a:solidFill>
                  <a:schemeClr val="dk1"/>
                </a:solidFill>
              </a:rPr>
              <a:t>ChatGPT-4o-mini</a:t>
            </a:r>
            <a:r>
              <a:rPr lang="zh-CN">
                <a:solidFill>
                  <a:schemeClr val="dk1"/>
                </a:solidFill>
              </a:rPr>
              <a:t>, </a:t>
            </a:r>
            <a:r>
              <a:rPr b="1" lang="zh-CN">
                <a:solidFill>
                  <a:schemeClr val="dk1"/>
                </a:solidFill>
              </a:rPr>
              <a:t>Llama 3.1</a:t>
            </a:r>
            <a:r>
              <a:rPr lang="zh-CN">
                <a:solidFill>
                  <a:schemeClr val="dk1"/>
                </a:solidFill>
              </a:rPr>
              <a:t>, and </a:t>
            </a:r>
            <a:r>
              <a:rPr b="1" lang="zh-CN">
                <a:solidFill>
                  <a:schemeClr val="dk1"/>
                </a:solidFill>
              </a:rPr>
              <a:t>Qwen 2.5</a:t>
            </a:r>
            <a:r>
              <a:rPr lang="zh-CN">
                <a:solidFill>
                  <a:schemeClr val="dk1"/>
                </a:solidFill>
              </a:rPr>
              <a:t>. By migrating Qwen to the high-speed paid tier and removing response character limits, all analyses are generated 100% complete and un-truncated.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For W30, the consensus converges on a </a:t>
            </a:r>
            <a:r>
              <a:rPr b="1" lang="zh-CN">
                <a:solidFill>
                  <a:schemeClr val="dk1"/>
                </a:solidFill>
              </a:rPr>
              <a:t>Neutral-Sideways bias</a:t>
            </a:r>
            <a:r>
              <a:rPr lang="zh-CN">
                <a:solidFill>
                  <a:schemeClr val="dk1"/>
                </a:solidFill>
              </a:rPr>
              <a:t> for SPX with medium confidence.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Our pipeline is fully automated and ready for deployment. Thank you!"</a:t>
            </a:r>
            <a:endParaRPr>
              <a:solidFill>
                <a:schemeClr val="dk1"/>
              </a:solidFill>
            </a:endParaRPr>
          </a:p>
          <a:p>
            <a:pPr indent="0" lvl="0" marL="0" rtl="0" algn="l">
              <a:spcBef>
                <a:spcPts val="1200"/>
              </a:spcBef>
              <a:spcAft>
                <a:spcPts val="0"/>
              </a:spcAft>
              <a:buNone/>
            </a:pPr>
            <a:r>
              <a:t/>
            </a:r>
            <a:endParaRPr/>
          </a:p>
        </p:txBody>
      </p:sp>
      <p:sp>
        <p:nvSpPr>
          <p:cNvPr id="406" name="Google Shape;406;g3f3b918ac8a_0_6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f5bb75a8b7_2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zh-CN">
                <a:solidFill>
                  <a:schemeClr val="dk1"/>
                </a:solidFill>
              </a:rPr>
              <a:t>This week, our Human Score decreased from </a:t>
            </a:r>
            <a:r>
              <a:rPr b="1" lang="zh-CN">
                <a:solidFill>
                  <a:schemeClr val="dk1"/>
                </a:solidFill>
              </a:rPr>
              <a:t>-3 to -5</a:t>
            </a:r>
            <a:r>
              <a:rPr lang="zh-CN">
                <a:solidFill>
                  <a:schemeClr val="dk1"/>
                </a:solidFill>
              </a:rPr>
              <a:t>, indicating that market conditions have become more bearish than last week. Rising Treasury yields, higher oil prices, weaker market momentum, and a bearish strategic Almanac outlook all contributed to the lower score. Although inflation continued to improve, the positive impact was outweighed by bearish technical signals and increasing macroeconomic risks. As a result, our team adopted a </a:t>
            </a:r>
            <a:r>
              <a:rPr b="1" lang="zh-CN">
                <a:solidFill>
                  <a:schemeClr val="dk1"/>
                </a:solidFill>
              </a:rPr>
              <a:t>Bearish</a:t>
            </a:r>
            <a:r>
              <a:rPr lang="zh-CN">
                <a:solidFill>
                  <a:schemeClr val="dk1"/>
                </a:solidFill>
              </a:rPr>
              <a:t> outlook for Week 30. </a:t>
            </a:r>
            <a:endParaRPr/>
          </a:p>
        </p:txBody>
      </p:sp>
      <p:sp>
        <p:nvSpPr>
          <p:cNvPr id="414" name="Google Shape;414;g3f5bb75a8b7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5bb75a8b7_2_5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zh-CN">
                <a:solidFill>
                  <a:schemeClr val="dk1"/>
                </a:solidFill>
              </a:rPr>
              <a:t>The AI models generally produced mixed Neutral or Sideways forecasts, mainly because they placed greater emphasis on July seasonality and stable monetary policy assumptions. However, our team identified several logical conflicts between the LLM outputs and the verified R5 Technical Agent report. All three major indices remain below their 8-day and 21-day EMAs, the Macro Agent maintains a Moderately Bearish outlook, and the Almanac Agent also assigns a Bearish strategic bias. Considering these factors together, we concluded that the downside risks outweigh the remaining positive signals and therefore adopted a </a:t>
            </a:r>
            <a:r>
              <a:rPr b="1" lang="zh-CN">
                <a:solidFill>
                  <a:schemeClr val="dk1"/>
                </a:solidFill>
              </a:rPr>
              <a:t>Bearish</a:t>
            </a:r>
            <a:r>
              <a:rPr lang="zh-CN">
                <a:solidFill>
                  <a:schemeClr val="dk1"/>
                </a:solidFill>
              </a:rPr>
              <a:t> outlook for Week 30. </a:t>
            </a:r>
            <a:endParaRPr>
              <a:solidFill>
                <a:schemeClr val="dk1"/>
              </a:solidFill>
            </a:endParaRPr>
          </a:p>
        </p:txBody>
      </p:sp>
      <p:sp>
        <p:nvSpPr>
          <p:cNvPr id="429" name="Google Shape;429;g3f5bb75a8b7_2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f3b918ac8a_0_28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3f3b918ac8a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3b918ac8a_0_28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a:t>This week, five of fourteen predictions were correct.</a:t>
            </a:r>
            <a:endParaRPr/>
          </a:p>
          <a:p>
            <a:pPr indent="0" lvl="0" marL="0" rtl="0" algn="l">
              <a:spcBef>
                <a:spcPts val="0"/>
              </a:spcBef>
              <a:spcAft>
                <a:spcPts val="0"/>
              </a:spcAft>
              <a:buClr>
                <a:schemeClr val="dk1"/>
              </a:buClr>
              <a:buSzPts val="1100"/>
              <a:buFont typeface="Arial"/>
              <a:buNone/>
            </a:pPr>
            <a:r>
              <a:rPr lang="zh-CN"/>
              <a:t>Our accuracy was 35.7 percent.</a:t>
            </a:r>
            <a:endParaRPr/>
          </a:p>
          <a:p>
            <a:pPr indent="0" lvl="0" marL="0" rtl="0" algn="l">
              <a:spcBef>
                <a:spcPts val="0"/>
              </a:spcBef>
              <a:spcAft>
                <a:spcPts val="0"/>
              </a:spcAft>
              <a:buClr>
                <a:schemeClr val="dk1"/>
              </a:buClr>
              <a:buSzPts val="1100"/>
              <a:buFont typeface="Arial"/>
              <a:buNone/>
            </a:pPr>
            <a:r>
              <a:rPr lang="zh-CN"/>
              <a:t>The main problem was that the major indices went up instead of down.</a:t>
            </a:r>
            <a:endParaRPr/>
          </a:p>
          <a:p>
            <a:pPr indent="0" lvl="0" marL="0" rtl="0" algn="l">
              <a:spcBef>
                <a:spcPts val="0"/>
              </a:spcBef>
              <a:spcAft>
                <a:spcPts val="0"/>
              </a:spcAft>
              <a:buClr>
                <a:schemeClr val="dk1"/>
              </a:buClr>
              <a:buSzPts val="1100"/>
              <a:buFont typeface="Arial"/>
              <a:buNone/>
            </a:pPr>
            <a:r>
              <a:rPr lang="zh-CN"/>
              <a:t>Technology was also much stronger than expected.</a:t>
            </a:r>
            <a:endParaRPr/>
          </a:p>
          <a:p>
            <a:pPr indent="0" lvl="0" marL="0" rtl="0" algn="l">
              <a:spcBef>
                <a:spcPts val="0"/>
              </a:spcBef>
              <a:spcAft>
                <a:spcPts val="0"/>
              </a:spcAft>
              <a:buNone/>
            </a:pPr>
            <a:r>
              <a:rPr lang="zh-CN"/>
              <a:t>These changes caused most of our misses. </a:t>
            </a:r>
            <a:endParaRPr/>
          </a:p>
        </p:txBody>
      </p:sp>
      <p:sp>
        <p:nvSpPr>
          <p:cNvPr id="448" name="Google Shape;448;g3f3b918ac8a_0_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f3b918ac8a_0_37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f3b918ac8a_0_3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hyperlink" Target="https://github.com/LuJunwen212/CP3405-Project/blob/main/r3_almanac_agent/README.m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hyperlink" Target="https://github.com/LuJunwen212/CP3405-Projec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53" name="Shape 53"/>
        <p:cNvGrpSpPr/>
        <p:nvPr/>
      </p:nvGrpSpPr>
      <p:grpSpPr>
        <a:xfrm>
          <a:off x="0" y="0"/>
          <a:ext cx="0" cy="0"/>
          <a:chOff x="0" y="0"/>
          <a:chExt cx="0" cy="0"/>
        </a:xfrm>
      </p:grpSpPr>
      <p:sp>
        <p:nvSpPr>
          <p:cNvPr id="54" name="Google Shape;54;p13"/>
          <p:cNvSpPr/>
          <p:nvPr/>
        </p:nvSpPr>
        <p:spPr>
          <a:xfrm>
            <a:off x="0" y="0"/>
            <a:ext cx="9144000" cy="1098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 name="Google Shape;55;p13"/>
          <p:cNvSpPr/>
          <p:nvPr/>
        </p:nvSpPr>
        <p:spPr>
          <a:xfrm>
            <a:off x="0" y="5010912"/>
            <a:ext cx="9144000" cy="1371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 name="Google Shape;56;p13"/>
          <p:cNvSpPr txBox="1"/>
          <p:nvPr/>
        </p:nvSpPr>
        <p:spPr>
          <a:xfrm>
            <a:off x="621811" y="1079000"/>
            <a:ext cx="3037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2000">
                <a:solidFill>
                  <a:srgbClr val="00B8A9"/>
                </a:solidFill>
                <a:latin typeface="Arial"/>
                <a:ea typeface="Arial"/>
                <a:cs typeface="Arial"/>
                <a:sym typeface="Arial"/>
              </a:rPr>
              <a:t>CP3405 TR2 2026 </a:t>
            </a:r>
            <a:endParaRPr b="1" sz="2000">
              <a:solidFill>
                <a:srgbClr val="00B8A9"/>
              </a:solidFill>
              <a:latin typeface="Arial"/>
              <a:ea typeface="Arial"/>
              <a:cs typeface="Arial"/>
              <a:sym typeface="Arial"/>
            </a:endParaRPr>
          </a:p>
        </p:txBody>
      </p:sp>
      <p:sp>
        <p:nvSpPr>
          <p:cNvPr id="57" name="Google Shape;57;p13"/>
          <p:cNvSpPr txBox="1"/>
          <p:nvPr/>
        </p:nvSpPr>
        <p:spPr>
          <a:xfrm>
            <a:off x="566928" y="1408176"/>
            <a:ext cx="15687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3000">
                <a:solidFill>
                  <a:srgbClr val="FFFFFF"/>
                </a:solidFill>
                <a:latin typeface="Arial"/>
                <a:ea typeface="Arial"/>
                <a:cs typeface="Arial"/>
                <a:sym typeface="Arial"/>
              </a:rPr>
              <a:t>Group 2</a:t>
            </a:r>
            <a:endParaRPr b="1" sz="3000">
              <a:solidFill>
                <a:srgbClr val="FFFFFF"/>
              </a:solidFill>
              <a:latin typeface="Arial"/>
              <a:ea typeface="Arial"/>
              <a:cs typeface="Arial"/>
              <a:sym typeface="Arial"/>
            </a:endParaRPr>
          </a:p>
        </p:txBody>
      </p:sp>
      <p:sp>
        <p:nvSpPr>
          <p:cNvPr id="58" name="Google Shape;58;p13"/>
          <p:cNvSpPr txBox="1"/>
          <p:nvPr/>
        </p:nvSpPr>
        <p:spPr>
          <a:xfrm>
            <a:off x="603497" y="2029975"/>
            <a:ext cx="13440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zh-CN" sz="1500">
                <a:solidFill>
                  <a:srgbClr val="C8D4E3"/>
                </a:solidFill>
                <a:latin typeface="Arial"/>
                <a:ea typeface="Arial"/>
                <a:cs typeface="Arial"/>
                <a:sym typeface="Arial"/>
              </a:rPr>
              <a:t>Sprint </a:t>
            </a:r>
            <a:r>
              <a:rPr lang="zh-CN" sz="1500">
                <a:solidFill>
                  <a:srgbClr val="C8D4E3"/>
                </a:solidFill>
              </a:rPr>
              <a:t>8</a:t>
            </a:r>
            <a:r>
              <a:rPr lang="zh-CN" sz="1500">
                <a:solidFill>
                  <a:srgbClr val="C8D4E3"/>
                </a:solidFill>
              </a:rPr>
              <a:t> - W30</a:t>
            </a:r>
            <a:r>
              <a:rPr b="0" lang="zh-CN" sz="1500">
                <a:solidFill>
                  <a:srgbClr val="C8D4E3"/>
                </a:solidFill>
                <a:latin typeface="Arial"/>
                <a:ea typeface="Arial"/>
                <a:cs typeface="Arial"/>
                <a:sym typeface="Arial"/>
              </a:rPr>
              <a:t> </a:t>
            </a:r>
            <a:endParaRPr b="0" sz="1500">
              <a:solidFill>
                <a:srgbClr val="C8D4E3"/>
              </a:solidFill>
              <a:latin typeface="Arial"/>
              <a:ea typeface="Arial"/>
              <a:cs typeface="Arial"/>
              <a:sym typeface="Arial"/>
            </a:endParaRPr>
          </a:p>
        </p:txBody>
      </p:sp>
      <p:sp>
        <p:nvSpPr>
          <p:cNvPr id="59" name="Google Shape;59;p13"/>
          <p:cNvSpPr/>
          <p:nvPr/>
        </p:nvSpPr>
        <p:spPr>
          <a:xfrm>
            <a:off x="621792" y="2642616"/>
            <a:ext cx="1783200" cy="210300"/>
          </a:xfrm>
          <a:prstGeom prst="roundRect">
            <a:avLst>
              <a:gd fmla="val 16667" name="adj"/>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Guanyu Lu</a:t>
            </a:r>
            <a:endParaRPr sz="1200">
              <a:solidFill>
                <a:schemeClr val="lt1"/>
              </a:solidFill>
              <a:latin typeface="Arial"/>
              <a:ea typeface="Arial"/>
              <a:cs typeface="Arial"/>
              <a:sym typeface="Arial"/>
            </a:endParaRPr>
          </a:p>
        </p:txBody>
      </p:sp>
      <p:sp>
        <p:nvSpPr>
          <p:cNvPr id="60" name="Google Shape;60;p13"/>
          <p:cNvSpPr/>
          <p:nvPr/>
        </p:nvSpPr>
        <p:spPr>
          <a:xfrm>
            <a:off x="4553702" y="3435854"/>
            <a:ext cx="1783200" cy="210300"/>
          </a:xfrm>
          <a:prstGeom prst="roundRect">
            <a:avLst>
              <a:gd fmla="val 16667" name="adj"/>
            </a:avLst>
          </a:prstGeom>
          <a:solidFill>
            <a:srgbClr val="A64D79"/>
          </a:solidFill>
          <a:ln cap="flat" cmpd="sng" w="12700">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Swan Htet Zaw</a:t>
            </a:r>
            <a:endParaRPr sz="1200">
              <a:solidFill>
                <a:schemeClr val="lt1"/>
              </a:solidFill>
              <a:latin typeface="Arial"/>
              <a:ea typeface="Arial"/>
              <a:cs typeface="Arial"/>
              <a:sym typeface="Arial"/>
            </a:endParaRPr>
          </a:p>
        </p:txBody>
      </p:sp>
      <p:sp>
        <p:nvSpPr>
          <p:cNvPr id="61" name="Google Shape;61;p13"/>
          <p:cNvSpPr/>
          <p:nvPr/>
        </p:nvSpPr>
        <p:spPr>
          <a:xfrm>
            <a:off x="4553712" y="3044941"/>
            <a:ext cx="1783200" cy="210300"/>
          </a:xfrm>
          <a:prstGeom prst="roundRect">
            <a:avLst>
              <a:gd fmla="val 16667" name="adj"/>
            </a:avLst>
          </a:prstGeom>
          <a:solidFill>
            <a:srgbClr val="2878E2"/>
          </a:solidFill>
          <a:ln cap="flat" cmpd="sng" w="12700">
            <a:solidFill>
              <a:srgbClr val="287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Hu Wenhan</a:t>
            </a:r>
            <a:endParaRPr sz="1200">
              <a:solidFill>
                <a:schemeClr val="lt1"/>
              </a:solidFill>
              <a:latin typeface="Arial"/>
              <a:ea typeface="Arial"/>
              <a:cs typeface="Arial"/>
              <a:sym typeface="Arial"/>
            </a:endParaRPr>
          </a:p>
        </p:txBody>
      </p:sp>
      <p:sp>
        <p:nvSpPr>
          <p:cNvPr id="62" name="Google Shape;62;p13"/>
          <p:cNvSpPr/>
          <p:nvPr/>
        </p:nvSpPr>
        <p:spPr>
          <a:xfrm>
            <a:off x="621792" y="3044952"/>
            <a:ext cx="1783200" cy="210300"/>
          </a:xfrm>
          <a:prstGeom prst="roundRect">
            <a:avLst>
              <a:gd fmla="val 16667" name="adj"/>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Hamzah Nutt</a:t>
            </a:r>
            <a:endParaRPr sz="1200">
              <a:solidFill>
                <a:schemeClr val="lt1"/>
              </a:solidFill>
              <a:latin typeface="Arial"/>
              <a:ea typeface="Arial"/>
              <a:cs typeface="Arial"/>
              <a:sym typeface="Arial"/>
            </a:endParaRPr>
          </a:p>
        </p:txBody>
      </p:sp>
      <p:sp>
        <p:nvSpPr>
          <p:cNvPr id="63" name="Google Shape;63;p13"/>
          <p:cNvSpPr/>
          <p:nvPr/>
        </p:nvSpPr>
        <p:spPr>
          <a:xfrm>
            <a:off x="4553702" y="2642602"/>
            <a:ext cx="17832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Zheng Zaikun</a:t>
            </a:r>
            <a:endParaRPr sz="1200">
              <a:solidFill>
                <a:schemeClr val="lt1"/>
              </a:solidFill>
              <a:latin typeface="Arial"/>
              <a:ea typeface="Arial"/>
              <a:cs typeface="Arial"/>
              <a:sym typeface="Arial"/>
            </a:endParaRPr>
          </a:p>
        </p:txBody>
      </p:sp>
      <p:sp>
        <p:nvSpPr>
          <p:cNvPr id="64" name="Google Shape;64;p13"/>
          <p:cNvSpPr/>
          <p:nvPr/>
        </p:nvSpPr>
        <p:spPr>
          <a:xfrm>
            <a:off x="621812" y="3826765"/>
            <a:ext cx="1783200" cy="210300"/>
          </a:xfrm>
          <a:prstGeom prst="roundRect">
            <a:avLst>
              <a:gd fmla="val 16667" name="adj"/>
            </a:avLst>
          </a:prstGeom>
          <a:solidFill>
            <a:srgbClr val="45818E"/>
          </a:solidFill>
          <a:ln cap="flat" cmpd="sng" w="12700">
            <a:solidFill>
              <a:srgbClr val="45818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Junwen Lu</a:t>
            </a:r>
            <a:endParaRPr sz="1200">
              <a:solidFill>
                <a:schemeClr val="lt1"/>
              </a:solidFill>
              <a:latin typeface="Arial"/>
              <a:ea typeface="Arial"/>
              <a:cs typeface="Arial"/>
              <a:sym typeface="Arial"/>
            </a:endParaRPr>
          </a:p>
        </p:txBody>
      </p:sp>
      <p:sp>
        <p:nvSpPr>
          <p:cNvPr id="65" name="Google Shape;65;p13"/>
          <p:cNvSpPr/>
          <p:nvPr/>
        </p:nvSpPr>
        <p:spPr>
          <a:xfrm>
            <a:off x="2587742" y="3043801"/>
            <a:ext cx="1783200" cy="2103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The Bao Le</a:t>
            </a:r>
            <a:endParaRPr sz="1200">
              <a:solidFill>
                <a:schemeClr val="lt1"/>
              </a:solidFill>
              <a:latin typeface="Arial"/>
              <a:ea typeface="Arial"/>
              <a:cs typeface="Arial"/>
              <a:sym typeface="Arial"/>
            </a:endParaRPr>
          </a:p>
        </p:txBody>
      </p:sp>
      <p:sp>
        <p:nvSpPr>
          <p:cNvPr id="66" name="Google Shape;66;p13"/>
          <p:cNvSpPr/>
          <p:nvPr/>
        </p:nvSpPr>
        <p:spPr>
          <a:xfrm>
            <a:off x="2587752" y="2642613"/>
            <a:ext cx="1783200" cy="210300"/>
          </a:xfrm>
          <a:prstGeom prst="roundRect">
            <a:avLst>
              <a:gd fmla="val 16667" name="adj"/>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Qinyang Wu</a:t>
            </a:r>
            <a:endParaRPr sz="1200">
              <a:solidFill>
                <a:schemeClr val="lt1"/>
              </a:solidFill>
              <a:latin typeface="Arial"/>
              <a:ea typeface="Arial"/>
              <a:cs typeface="Arial"/>
              <a:sym typeface="Arial"/>
            </a:endParaRPr>
          </a:p>
        </p:txBody>
      </p:sp>
      <p:sp>
        <p:nvSpPr>
          <p:cNvPr id="67" name="Google Shape;67;p13"/>
          <p:cNvSpPr/>
          <p:nvPr/>
        </p:nvSpPr>
        <p:spPr>
          <a:xfrm>
            <a:off x="2587762" y="3435275"/>
            <a:ext cx="1783200" cy="210300"/>
          </a:xfrm>
          <a:prstGeom prst="roundRect">
            <a:avLst>
              <a:gd fmla="val 16667" name="adj"/>
            </a:avLst>
          </a:prstGeom>
          <a:solidFill>
            <a:srgbClr val="5C6CFF"/>
          </a:solidFill>
          <a:ln cap="flat" cmpd="sng" w="12700">
            <a:solidFill>
              <a:srgbClr val="5C6C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Kan Yijie</a:t>
            </a:r>
            <a:endParaRPr sz="1200">
              <a:solidFill>
                <a:schemeClr val="lt1"/>
              </a:solidFill>
              <a:latin typeface="Arial"/>
              <a:ea typeface="Arial"/>
              <a:cs typeface="Arial"/>
              <a:sym typeface="Arial"/>
            </a:endParaRPr>
          </a:p>
        </p:txBody>
      </p:sp>
      <p:sp>
        <p:nvSpPr>
          <p:cNvPr id="68" name="Google Shape;68;p13"/>
          <p:cNvSpPr/>
          <p:nvPr/>
        </p:nvSpPr>
        <p:spPr>
          <a:xfrm>
            <a:off x="621792" y="3435852"/>
            <a:ext cx="1783200" cy="210300"/>
          </a:xfrm>
          <a:prstGeom prst="roundRect">
            <a:avLst>
              <a:gd fmla="val 16667" name="adj"/>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CN" sz="1200">
                <a:solidFill>
                  <a:schemeClr val="lt1"/>
                </a:solidFill>
              </a:rPr>
              <a:t>Yuchu Lin</a:t>
            </a:r>
            <a:endParaRPr sz="1200">
              <a:solidFill>
                <a:schemeClr val="lt1"/>
              </a:solidFill>
              <a:latin typeface="Arial"/>
              <a:ea typeface="Arial"/>
              <a:cs typeface="Arial"/>
              <a:sym typeface="Arial"/>
            </a:endParaRPr>
          </a:p>
        </p:txBody>
      </p:sp>
      <p:sp>
        <p:nvSpPr>
          <p:cNvPr id="69" name="Google Shape;69;p13"/>
          <p:cNvSpPr/>
          <p:nvPr/>
        </p:nvSpPr>
        <p:spPr>
          <a:xfrm>
            <a:off x="2587752" y="3826752"/>
            <a:ext cx="1783200" cy="2103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lang="zh-CN" sz="1200">
                <a:solidFill>
                  <a:schemeClr val="lt1"/>
                </a:solidFill>
              </a:rPr>
              <a:t>Wang Hao</a:t>
            </a:r>
            <a:endParaRPr sz="1200">
              <a:solidFill>
                <a:schemeClr val="lt1"/>
              </a:solidFill>
            </a:endParaRPr>
          </a:p>
        </p:txBody>
      </p:sp>
      <p:grpSp>
        <p:nvGrpSpPr>
          <p:cNvPr id="70" name="Google Shape;70;p13"/>
          <p:cNvGrpSpPr/>
          <p:nvPr/>
        </p:nvGrpSpPr>
        <p:grpSpPr>
          <a:xfrm>
            <a:off x="6931235" y="388848"/>
            <a:ext cx="1986795" cy="1019329"/>
            <a:chOff x="6392111" y="726475"/>
            <a:chExt cx="2408529" cy="1235700"/>
          </a:xfrm>
        </p:grpSpPr>
        <p:sp>
          <p:nvSpPr>
            <p:cNvPr id="71" name="Google Shape;71;p13"/>
            <p:cNvSpPr/>
            <p:nvPr/>
          </p:nvSpPr>
          <p:spPr>
            <a:xfrm>
              <a:off x="6392175" y="726475"/>
              <a:ext cx="2408400" cy="1235700"/>
            </a:xfrm>
            <a:prstGeom prst="roundRect">
              <a:avLst>
                <a:gd fmla="val 16667" name="adj"/>
              </a:avLst>
            </a:prstGeom>
            <a:solidFill>
              <a:srgbClr val="F4F8FC"/>
            </a:solidFill>
            <a:ln cap="flat" cmpd="sng" w="7850">
              <a:solidFill>
                <a:schemeClr val="dk2"/>
              </a:solidFill>
              <a:prstDash val="solid"/>
              <a:round/>
              <a:headEnd len="sm" w="sm" type="none"/>
              <a:tailEnd len="sm" w="sm" type="none"/>
            </a:ln>
          </p:spPr>
          <p:txBody>
            <a:bodyPr anchorCtr="0" anchor="ctr" bIns="75425" lIns="75425" spcFirstLastPara="1" rIns="75425" wrap="square" tIns="75425">
              <a:noAutofit/>
            </a:bodyPr>
            <a:lstStyle/>
            <a:p>
              <a:pPr indent="0" lvl="0" marL="0" rtl="0" algn="ctr">
                <a:spcBef>
                  <a:spcPts val="0"/>
                </a:spcBef>
                <a:spcAft>
                  <a:spcPts val="0"/>
                </a:spcAft>
                <a:buNone/>
              </a:pPr>
              <a:r>
                <a:t/>
              </a:r>
              <a:endParaRPr sz="1155">
                <a:latin typeface="Calibri"/>
                <a:ea typeface="Calibri"/>
                <a:cs typeface="Calibri"/>
                <a:sym typeface="Calibri"/>
              </a:endParaRPr>
            </a:p>
          </p:txBody>
        </p:sp>
        <p:pic>
          <p:nvPicPr>
            <p:cNvPr id="72" name="Google Shape;72;p13" title="JCU-SINGAPORE-Logo-Horizontal-CMYK-768x394-1.png"/>
            <p:cNvPicPr preferRelativeResize="0"/>
            <p:nvPr/>
          </p:nvPicPr>
          <p:blipFill>
            <a:blip r:embed="rId3">
              <a:alphaModFix/>
            </a:blip>
            <a:stretch>
              <a:fillRect/>
            </a:stretch>
          </p:blipFill>
          <p:spPr>
            <a:xfrm>
              <a:off x="6392111" y="726514"/>
              <a:ext cx="2408529" cy="12356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76" name="Shape 76"/>
        <p:cNvGrpSpPr/>
        <p:nvPr/>
      </p:nvGrpSpPr>
      <p:grpSpPr>
        <a:xfrm>
          <a:off x="0" y="0"/>
          <a:ext cx="0" cy="0"/>
          <a:chOff x="0" y="0"/>
          <a:chExt cx="0" cy="0"/>
        </a:xfrm>
      </p:grpSpPr>
      <p:sp>
        <p:nvSpPr>
          <p:cNvPr id="77" name="Google Shape;77;p14"/>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 name="Google Shape;78;p14"/>
          <p:cNvSpPr/>
          <p:nvPr/>
        </p:nvSpPr>
        <p:spPr>
          <a:xfrm>
            <a:off x="0" y="640080"/>
            <a:ext cx="9144000" cy="36600"/>
          </a:xfrm>
          <a:prstGeom prst="rect">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 name="Google Shape;79;p14"/>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a:t>
            </a:r>
            <a:r>
              <a:rPr b="1" lang="zh-CN" sz="1500">
                <a:solidFill>
                  <a:srgbClr val="FFFFFF"/>
                </a:solidFill>
              </a:rPr>
              <a:t>2</a:t>
            </a:r>
            <a:r>
              <a:rPr b="1" lang="zh-CN" sz="1500">
                <a:solidFill>
                  <a:srgbClr val="FFFFFF"/>
                </a:solidFill>
                <a:latin typeface="Arial"/>
                <a:ea typeface="Arial"/>
                <a:cs typeface="Arial"/>
                <a:sym typeface="Arial"/>
              </a:rPr>
              <a:t> </a:t>
            </a:r>
            <a:r>
              <a:rPr b="1" lang="zh-CN" sz="1500">
                <a:solidFill>
                  <a:srgbClr val="FFFFFF"/>
                </a:solidFill>
              </a:rPr>
              <a:t>Scrum Master</a:t>
            </a:r>
            <a:endParaRPr/>
          </a:p>
        </p:txBody>
      </p:sp>
      <p:cxnSp>
        <p:nvCxnSpPr>
          <p:cNvPr id="80" name="Google Shape;80;p14"/>
          <p:cNvCxnSpPr/>
          <p:nvPr/>
        </p:nvCxnSpPr>
        <p:spPr>
          <a:xfrm>
            <a:off x="475612" y="4636276"/>
            <a:ext cx="8514900" cy="0"/>
          </a:xfrm>
          <a:prstGeom prst="straightConnector1">
            <a:avLst/>
          </a:prstGeom>
          <a:noFill/>
          <a:ln cap="flat" cmpd="sng" w="14750">
            <a:solidFill>
              <a:srgbClr val="071A33">
                <a:alpha val="74900"/>
              </a:srgbClr>
            </a:solidFill>
            <a:prstDash val="solid"/>
            <a:round/>
            <a:headEnd len="sm" w="sm" type="none"/>
            <a:tailEnd len="med" w="med" type="triangle"/>
          </a:ln>
        </p:spPr>
      </p:cxnSp>
      <p:sp>
        <p:nvSpPr>
          <p:cNvPr id="81" name="Google Shape;81;p14"/>
          <p:cNvSpPr/>
          <p:nvPr/>
        </p:nvSpPr>
        <p:spPr>
          <a:xfrm>
            <a:off x="260819"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zh-CN" sz="870">
                <a:solidFill>
                  <a:srgbClr val="FFFFFF"/>
                </a:solidFill>
                <a:latin typeface="Arial"/>
                <a:ea typeface="Arial"/>
                <a:cs typeface="Arial"/>
                <a:sym typeface="Arial"/>
              </a:rPr>
              <a:t>Mon</a:t>
            </a:r>
            <a:endParaRPr sz="870">
              <a:solidFill>
                <a:srgbClr val="000000"/>
              </a:solidFill>
              <a:latin typeface="Arial"/>
              <a:ea typeface="Arial"/>
              <a:cs typeface="Arial"/>
              <a:sym typeface="Arial"/>
            </a:endParaRPr>
          </a:p>
        </p:txBody>
      </p:sp>
      <p:sp>
        <p:nvSpPr>
          <p:cNvPr id="82" name="Google Shape;82;p14"/>
          <p:cNvSpPr/>
          <p:nvPr/>
        </p:nvSpPr>
        <p:spPr>
          <a:xfrm>
            <a:off x="66475"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zh-CN" sz="870">
                <a:solidFill>
                  <a:srgbClr val="5C6575"/>
                </a:solidFill>
                <a:latin typeface="Arial"/>
                <a:ea typeface="Arial"/>
                <a:cs typeface="Arial"/>
                <a:sym typeface="Arial"/>
              </a:rPr>
              <a:t>Planning</a:t>
            </a:r>
            <a:endParaRPr sz="870">
              <a:solidFill>
                <a:srgbClr val="000000"/>
              </a:solidFill>
              <a:latin typeface="Arial"/>
              <a:ea typeface="Arial"/>
              <a:cs typeface="Arial"/>
              <a:sym typeface="Arial"/>
            </a:endParaRPr>
          </a:p>
        </p:txBody>
      </p:sp>
      <p:sp>
        <p:nvSpPr>
          <p:cNvPr id="83" name="Google Shape;83;p14"/>
          <p:cNvSpPr/>
          <p:nvPr/>
        </p:nvSpPr>
        <p:spPr>
          <a:xfrm>
            <a:off x="2384408" y="4445313"/>
            <a:ext cx="552300" cy="381900"/>
          </a:xfrm>
          <a:prstGeom prst="roundRect">
            <a:avLst>
              <a:gd fmla="val 17391" name="adj"/>
            </a:avLst>
          </a:prstGeom>
          <a:solidFill>
            <a:schemeClr val="dk1"/>
          </a:solidFill>
          <a:ln cap="flat" cmpd="sng" w="7875">
            <a:solidFill>
              <a:schemeClr val="dk1"/>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zh-CN" sz="870">
                <a:solidFill>
                  <a:srgbClr val="FFFFFF"/>
                </a:solidFill>
                <a:latin typeface="Arial"/>
                <a:ea typeface="Arial"/>
                <a:cs typeface="Arial"/>
                <a:sym typeface="Arial"/>
              </a:rPr>
              <a:t>Tue–Wed</a:t>
            </a:r>
            <a:endParaRPr sz="870">
              <a:solidFill>
                <a:srgbClr val="000000"/>
              </a:solidFill>
              <a:latin typeface="Arial"/>
              <a:ea typeface="Arial"/>
              <a:cs typeface="Arial"/>
              <a:sym typeface="Arial"/>
            </a:endParaRPr>
          </a:p>
        </p:txBody>
      </p:sp>
      <p:sp>
        <p:nvSpPr>
          <p:cNvPr id="84" name="Google Shape;84;p14"/>
          <p:cNvSpPr/>
          <p:nvPr/>
        </p:nvSpPr>
        <p:spPr>
          <a:xfrm>
            <a:off x="2384400" y="4843325"/>
            <a:ext cx="5523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zh-CN" sz="870">
                <a:solidFill>
                  <a:srgbClr val="5C6575"/>
                </a:solidFill>
              </a:rPr>
              <a:t>1:1 checks</a:t>
            </a:r>
            <a:endParaRPr sz="870">
              <a:solidFill>
                <a:srgbClr val="000000"/>
              </a:solidFill>
              <a:latin typeface="Arial"/>
              <a:ea typeface="Arial"/>
              <a:cs typeface="Arial"/>
              <a:sym typeface="Arial"/>
            </a:endParaRPr>
          </a:p>
        </p:txBody>
      </p:sp>
      <p:sp>
        <p:nvSpPr>
          <p:cNvPr id="85" name="Google Shape;85;p14"/>
          <p:cNvSpPr/>
          <p:nvPr/>
        </p:nvSpPr>
        <p:spPr>
          <a:xfrm>
            <a:off x="4295860"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zh-CN" sz="870">
                <a:solidFill>
                  <a:srgbClr val="FFFFFF"/>
                </a:solidFill>
              </a:rPr>
              <a:t>Fri</a:t>
            </a:r>
            <a:endParaRPr sz="870">
              <a:solidFill>
                <a:srgbClr val="000000"/>
              </a:solidFill>
              <a:latin typeface="Arial"/>
              <a:ea typeface="Arial"/>
              <a:cs typeface="Arial"/>
              <a:sym typeface="Arial"/>
            </a:endParaRPr>
          </a:p>
        </p:txBody>
      </p:sp>
      <p:sp>
        <p:nvSpPr>
          <p:cNvPr id="86" name="Google Shape;86;p14"/>
          <p:cNvSpPr/>
          <p:nvPr/>
        </p:nvSpPr>
        <p:spPr>
          <a:xfrm>
            <a:off x="4092591" y="4843331"/>
            <a:ext cx="958800" cy="23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5C6575"/>
              </a:buClr>
              <a:buSzPts val="870"/>
              <a:buFont typeface="Arial"/>
              <a:buNone/>
            </a:pPr>
            <a:r>
              <a:rPr lang="zh-CN" sz="870">
                <a:solidFill>
                  <a:srgbClr val="5C6575"/>
                </a:solidFill>
              </a:rPr>
              <a:t>Merge</a:t>
            </a:r>
            <a:endParaRPr sz="870">
              <a:solidFill>
                <a:srgbClr val="000000"/>
              </a:solidFill>
              <a:latin typeface="Arial"/>
              <a:ea typeface="Arial"/>
              <a:cs typeface="Arial"/>
              <a:sym typeface="Arial"/>
            </a:endParaRPr>
          </a:p>
        </p:txBody>
      </p:sp>
      <p:sp>
        <p:nvSpPr>
          <p:cNvPr id="87" name="Google Shape;87;p14"/>
          <p:cNvSpPr/>
          <p:nvPr/>
        </p:nvSpPr>
        <p:spPr>
          <a:xfrm>
            <a:off x="7931978" y="4421263"/>
            <a:ext cx="552300" cy="381900"/>
          </a:xfrm>
          <a:prstGeom prst="roundRect">
            <a:avLst>
              <a:gd fmla="val 17391" name="adj"/>
            </a:avLst>
          </a:prstGeom>
          <a:solidFill>
            <a:srgbClr val="071A33"/>
          </a:solidFill>
          <a:ln cap="flat" cmpd="sng" w="7875">
            <a:solidFill>
              <a:srgbClr val="071A33"/>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zh-CN" sz="870">
                <a:solidFill>
                  <a:srgbClr val="FFFFFF"/>
                </a:solidFill>
                <a:latin typeface="Arial"/>
                <a:ea typeface="Arial"/>
                <a:cs typeface="Arial"/>
                <a:sym typeface="Arial"/>
              </a:rPr>
              <a:t>Sun</a:t>
            </a:r>
            <a:endParaRPr sz="870">
              <a:solidFill>
                <a:srgbClr val="000000"/>
              </a:solidFill>
              <a:latin typeface="Arial"/>
              <a:ea typeface="Arial"/>
              <a:cs typeface="Arial"/>
              <a:sym typeface="Arial"/>
            </a:endParaRPr>
          </a:p>
        </p:txBody>
      </p:sp>
      <p:sp>
        <p:nvSpPr>
          <p:cNvPr id="88" name="Google Shape;88;p14"/>
          <p:cNvSpPr/>
          <p:nvPr/>
        </p:nvSpPr>
        <p:spPr>
          <a:xfrm>
            <a:off x="7737633" y="4843331"/>
            <a:ext cx="9588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575"/>
              </a:buClr>
              <a:buSzPts val="870"/>
              <a:buFont typeface="Arial"/>
              <a:buNone/>
            </a:pPr>
            <a:r>
              <a:rPr lang="zh-CN" sz="870">
                <a:solidFill>
                  <a:srgbClr val="5C6575"/>
                </a:solidFill>
                <a:latin typeface="Arial"/>
                <a:ea typeface="Arial"/>
                <a:cs typeface="Arial"/>
                <a:sym typeface="Arial"/>
              </a:rPr>
              <a:t>Tag</a:t>
            </a:r>
            <a:endParaRPr sz="870">
              <a:solidFill>
                <a:srgbClr val="000000"/>
              </a:solidFill>
              <a:latin typeface="Arial"/>
              <a:ea typeface="Arial"/>
              <a:cs typeface="Arial"/>
              <a:sym typeface="Arial"/>
            </a:endParaRPr>
          </a:p>
        </p:txBody>
      </p:sp>
      <p:sp>
        <p:nvSpPr>
          <p:cNvPr id="89" name="Google Shape;89;p14"/>
          <p:cNvSpPr/>
          <p:nvPr/>
        </p:nvSpPr>
        <p:spPr>
          <a:xfrm>
            <a:off x="6927952" y="171456"/>
            <a:ext cx="2109600" cy="315600"/>
          </a:xfrm>
          <a:prstGeom prst="roundRect">
            <a:avLst>
              <a:gd fmla="val 21053" name="adj"/>
            </a:avLst>
          </a:prstGeom>
          <a:solidFill>
            <a:srgbClr val="2B7A55"/>
          </a:solidFill>
          <a:ln cap="flat" cmpd="sng" w="7875">
            <a:solidFill>
              <a:srgbClr val="2B7A55">
                <a:alpha val="0"/>
              </a:srgbClr>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995"/>
              <a:buFont typeface="Arial"/>
              <a:buNone/>
            </a:pPr>
            <a:r>
              <a:rPr b="1" lang="zh-CN" sz="995">
                <a:solidFill>
                  <a:srgbClr val="FFFFFF"/>
                </a:solidFill>
                <a:latin typeface="Arial"/>
                <a:ea typeface="Arial"/>
                <a:cs typeface="Arial"/>
                <a:sym typeface="Arial"/>
              </a:rPr>
              <a:t>Wednesday test passed</a:t>
            </a:r>
            <a:endParaRPr sz="995">
              <a:solidFill>
                <a:srgbClr val="000000"/>
              </a:solidFill>
              <a:latin typeface="Arial"/>
              <a:ea typeface="Arial"/>
              <a:cs typeface="Arial"/>
              <a:sym typeface="Arial"/>
            </a:endParaRPr>
          </a:p>
        </p:txBody>
      </p:sp>
      <p:sp>
        <p:nvSpPr>
          <p:cNvPr id="90" name="Google Shape;90;p14"/>
          <p:cNvSpPr/>
          <p:nvPr/>
        </p:nvSpPr>
        <p:spPr>
          <a:xfrm>
            <a:off x="5834108" y="4421275"/>
            <a:ext cx="1500000" cy="381900"/>
          </a:xfrm>
          <a:prstGeom prst="roundRect">
            <a:avLst>
              <a:gd fmla="val 17391" name="adj"/>
            </a:avLst>
          </a:prstGeom>
          <a:solidFill>
            <a:srgbClr val="E84545"/>
          </a:solidFill>
          <a:ln cap="flat" cmpd="sng" w="7875">
            <a:solidFill>
              <a:srgbClr val="E84545"/>
            </a:solidFill>
            <a:prstDash val="solid"/>
            <a:round/>
            <a:headEnd len="sm" w="sm" type="none"/>
            <a:tailEnd len="sm" w="sm" type="none"/>
          </a:ln>
        </p:spPr>
        <p:txBody>
          <a:bodyPr anchorCtr="0" anchor="ctr" bIns="425" lIns="425" spcFirstLastPara="1" rIns="425" wrap="square" tIns="425">
            <a:noAutofit/>
          </a:bodyPr>
          <a:lstStyle/>
          <a:p>
            <a:pPr indent="0" lvl="0" marL="0" marR="0" rtl="0" algn="ctr">
              <a:spcBef>
                <a:spcPts val="0"/>
              </a:spcBef>
              <a:spcAft>
                <a:spcPts val="0"/>
              </a:spcAft>
              <a:buClr>
                <a:srgbClr val="FFFFFF"/>
              </a:buClr>
              <a:buSzPts val="870"/>
              <a:buFont typeface="Arial"/>
              <a:buNone/>
            </a:pPr>
            <a:r>
              <a:rPr b="1" lang="zh-CN" sz="870">
                <a:solidFill>
                  <a:srgbClr val="FFFFFF"/>
                </a:solidFill>
              </a:rPr>
              <a:t>Saturday-Sunday</a:t>
            </a:r>
            <a:endParaRPr sz="870">
              <a:solidFill>
                <a:srgbClr val="000000"/>
              </a:solidFill>
              <a:latin typeface="Arial"/>
              <a:ea typeface="Arial"/>
              <a:cs typeface="Arial"/>
              <a:sym typeface="Arial"/>
            </a:endParaRPr>
          </a:p>
        </p:txBody>
      </p:sp>
      <p:sp>
        <p:nvSpPr>
          <p:cNvPr id="91" name="Google Shape;91;p14"/>
          <p:cNvSpPr/>
          <p:nvPr/>
        </p:nvSpPr>
        <p:spPr>
          <a:xfrm>
            <a:off x="5712150" y="4843325"/>
            <a:ext cx="1743900" cy="23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5C6575"/>
              </a:buClr>
              <a:buSzPts val="870"/>
              <a:buFont typeface="Arial"/>
              <a:buNone/>
            </a:pPr>
            <a:r>
              <a:rPr lang="zh-CN" sz="870">
                <a:solidFill>
                  <a:srgbClr val="5C6575"/>
                </a:solidFill>
              </a:rPr>
              <a:t>Track and handle sudden issues</a:t>
            </a:r>
            <a:endParaRPr sz="870">
              <a:solidFill>
                <a:srgbClr val="5C6575"/>
              </a:solidFill>
            </a:endParaRPr>
          </a:p>
        </p:txBody>
      </p:sp>
      <p:pic>
        <p:nvPicPr>
          <p:cNvPr id="92" name="Google Shape;92;p14"/>
          <p:cNvPicPr preferRelativeResize="0"/>
          <p:nvPr/>
        </p:nvPicPr>
        <p:blipFill>
          <a:blip r:embed="rId3">
            <a:alphaModFix/>
          </a:blip>
          <a:stretch>
            <a:fillRect/>
          </a:stretch>
        </p:blipFill>
        <p:spPr>
          <a:xfrm>
            <a:off x="4848150" y="1245162"/>
            <a:ext cx="4080251" cy="3029679"/>
          </a:xfrm>
          <a:prstGeom prst="rect">
            <a:avLst/>
          </a:prstGeom>
          <a:noFill/>
          <a:ln>
            <a:noFill/>
          </a:ln>
        </p:spPr>
      </p:pic>
      <p:sp>
        <p:nvSpPr>
          <p:cNvPr id="93" name="Google Shape;93;p14"/>
          <p:cNvSpPr/>
          <p:nvPr/>
        </p:nvSpPr>
        <p:spPr>
          <a:xfrm>
            <a:off x="66466" y="3041451"/>
            <a:ext cx="1917900" cy="19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99"/>
              </a:buClr>
              <a:buSzPts val="870"/>
              <a:buFont typeface="Arial"/>
              <a:buNone/>
            </a:pPr>
            <a:r>
              <a:rPr b="1" lang="zh-CN" sz="870">
                <a:solidFill>
                  <a:srgbClr val="2F5C99"/>
                </a:solidFill>
                <a:latin typeface="Arial"/>
                <a:ea typeface="Arial"/>
                <a:cs typeface="Arial"/>
                <a:sym typeface="Arial"/>
              </a:rPr>
              <a:t>EVIDENCE</a:t>
            </a:r>
            <a:endParaRPr sz="870">
              <a:solidFill>
                <a:srgbClr val="000000"/>
              </a:solidFill>
              <a:latin typeface="Arial"/>
              <a:ea typeface="Arial"/>
              <a:cs typeface="Arial"/>
              <a:sym typeface="Arial"/>
            </a:endParaRPr>
          </a:p>
        </p:txBody>
      </p:sp>
      <p:sp>
        <p:nvSpPr>
          <p:cNvPr id="94" name="Google Shape;94;p14"/>
          <p:cNvSpPr/>
          <p:nvPr/>
        </p:nvSpPr>
        <p:spPr>
          <a:xfrm>
            <a:off x="66475" y="3307150"/>
            <a:ext cx="2012700" cy="49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243"/>
              <a:buFont typeface="Arial"/>
              <a:buNone/>
            </a:pPr>
            <a:r>
              <a:rPr lang="zh-CN" sz="1243">
                <a:solidFill>
                  <a:srgbClr val="172033"/>
                </a:solidFill>
                <a:latin typeface="Arial"/>
                <a:ea typeface="Arial"/>
                <a:cs typeface="Arial"/>
                <a:sym typeface="Arial"/>
              </a:rPr>
              <a:t>standup_midweek_W</a:t>
            </a:r>
            <a:r>
              <a:rPr lang="zh-CN" sz="1243">
                <a:solidFill>
                  <a:srgbClr val="172033"/>
                </a:solidFill>
              </a:rPr>
              <a:t>30</a:t>
            </a:r>
            <a:r>
              <a:rPr lang="zh-CN" sz="1243">
                <a:solidFill>
                  <a:srgbClr val="172033"/>
                </a:solidFill>
                <a:latin typeface="Arial"/>
                <a:ea typeface="Arial"/>
                <a:cs typeface="Arial"/>
                <a:sym typeface="Arial"/>
              </a:rPr>
              <a:t>.md</a:t>
            </a:r>
            <a:endParaRPr sz="1243">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243"/>
              <a:buFont typeface="Arial"/>
              <a:buNone/>
            </a:pPr>
            <a:r>
              <a:rPr lang="zh-CN" sz="1243">
                <a:solidFill>
                  <a:srgbClr val="172033"/>
                </a:solidFill>
                <a:latin typeface="Arial"/>
                <a:ea typeface="Arial"/>
                <a:cs typeface="Arial"/>
                <a:sym typeface="Arial"/>
              </a:rPr>
              <a:t>committed by Wednesday</a:t>
            </a:r>
            <a:endParaRPr sz="1243">
              <a:solidFill>
                <a:srgbClr val="000000"/>
              </a:solidFill>
              <a:latin typeface="Arial"/>
              <a:ea typeface="Arial"/>
              <a:cs typeface="Arial"/>
              <a:sym typeface="Arial"/>
            </a:endParaRPr>
          </a:p>
        </p:txBody>
      </p:sp>
      <p:sp>
        <p:nvSpPr>
          <p:cNvPr id="95" name="Google Shape;95;p14"/>
          <p:cNvSpPr/>
          <p:nvPr/>
        </p:nvSpPr>
        <p:spPr>
          <a:xfrm>
            <a:off x="2339721" y="3041451"/>
            <a:ext cx="2493300" cy="19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99"/>
              </a:buClr>
              <a:buSzPts val="870"/>
              <a:buFont typeface="Arial"/>
              <a:buNone/>
            </a:pPr>
            <a:r>
              <a:rPr b="1" lang="zh-CN" sz="870">
                <a:solidFill>
                  <a:srgbClr val="2F5C99"/>
                </a:solidFill>
                <a:latin typeface="Arial"/>
                <a:ea typeface="Arial"/>
                <a:cs typeface="Arial"/>
                <a:sym typeface="Arial"/>
              </a:rPr>
              <a:t>SCRUM RESULT</a:t>
            </a:r>
            <a:endParaRPr sz="870">
              <a:solidFill>
                <a:srgbClr val="000000"/>
              </a:solidFill>
              <a:latin typeface="Arial"/>
              <a:ea typeface="Arial"/>
              <a:cs typeface="Arial"/>
              <a:sym typeface="Arial"/>
            </a:endParaRPr>
          </a:p>
        </p:txBody>
      </p:sp>
      <p:sp>
        <p:nvSpPr>
          <p:cNvPr id="96" name="Google Shape;96;p14"/>
          <p:cNvSpPr/>
          <p:nvPr/>
        </p:nvSpPr>
        <p:spPr>
          <a:xfrm>
            <a:off x="2339721" y="3307142"/>
            <a:ext cx="2493300" cy="49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243"/>
              <a:buFont typeface="Arial"/>
              <a:buNone/>
            </a:pPr>
            <a:r>
              <a:rPr lang="zh-CN" sz="1243">
                <a:solidFill>
                  <a:srgbClr val="172033"/>
                </a:solidFill>
              </a:rPr>
              <a:t>R</a:t>
            </a:r>
            <a:r>
              <a:rPr lang="zh-CN" sz="1243">
                <a:solidFill>
                  <a:srgbClr val="172033"/>
                </a:solidFill>
                <a:latin typeface="Arial"/>
                <a:ea typeface="Arial"/>
                <a:cs typeface="Arial"/>
                <a:sym typeface="Arial"/>
              </a:rPr>
              <a:t>isks identified early; recovery task assigned before release day</a:t>
            </a:r>
            <a:endParaRPr sz="1243">
              <a:solidFill>
                <a:srgbClr val="000000"/>
              </a:solidFill>
              <a:latin typeface="Arial"/>
              <a:ea typeface="Arial"/>
              <a:cs typeface="Arial"/>
              <a:sym typeface="Arial"/>
            </a:endParaRPr>
          </a:p>
        </p:txBody>
      </p:sp>
      <p:sp>
        <p:nvSpPr>
          <p:cNvPr id="97" name="Google Shape;97;p14"/>
          <p:cNvSpPr/>
          <p:nvPr/>
        </p:nvSpPr>
        <p:spPr>
          <a:xfrm>
            <a:off x="66475" y="1297088"/>
            <a:ext cx="2868600" cy="15951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100"/>
              <a:buFont typeface="Arial"/>
              <a:buNone/>
            </a:pPr>
            <a:r>
              <a:rPr lang="zh-CN" sz="1800">
                <a:solidFill>
                  <a:srgbClr val="000000"/>
                </a:solidFill>
                <a:latin typeface="Calibri"/>
                <a:ea typeface="Calibri"/>
                <a:cs typeface="Calibri"/>
                <a:sym typeface="Calibri"/>
              </a:rPr>
              <a:t>Mid-week check-in committed and every role status was tracked with next actions.</a:t>
            </a:r>
            <a:endParaRPr sz="1800">
              <a:solidFill>
                <a:srgbClr val="000000"/>
              </a:solidFill>
              <a:latin typeface="Calibri"/>
              <a:ea typeface="Calibri"/>
              <a:cs typeface="Calibri"/>
              <a:sym typeface="Calibri"/>
            </a:endParaRPr>
          </a:p>
        </p:txBody>
      </p:sp>
      <p:sp>
        <p:nvSpPr>
          <p:cNvPr id="98" name="Google Shape;98;p14"/>
          <p:cNvSpPr/>
          <p:nvPr/>
        </p:nvSpPr>
        <p:spPr>
          <a:xfrm>
            <a:off x="1165700" y="774013"/>
            <a:ext cx="5966100" cy="37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321"/>
              <a:buFont typeface="Play"/>
              <a:buNone/>
            </a:pPr>
            <a:r>
              <a:rPr b="1" lang="zh-CN" sz="2321">
                <a:solidFill>
                  <a:srgbClr val="172033"/>
                </a:solidFill>
              </a:rPr>
              <a:t>Sprint control: surface risk before Sunday</a:t>
            </a:r>
            <a:endParaRPr sz="2321">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02" name="Shape 102"/>
        <p:cNvGrpSpPr/>
        <p:nvPr/>
      </p:nvGrpSpPr>
      <p:grpSpPr>
        <a:xfrm>
          <a:off x="0" y="0"/>
          <a:ext cx="0" cy="0"/>
          <a:chOff x="0" y="0"/>
          <a:chExt cx="0" cy="0"/>
        </a:xfrm>
      </p:grpSpPr>
      <p:sp>
        <p:nvSpPr>
          <p:cNvPr id="103" name="Google Shape;103;p15"/>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15"/>
          <p:cNvSpPr/>
          <p:nvPr/>
        </p:nvSpPr>
        <p:spPr>
          <a:xfrm>
            <a:off x="0" y="640080"/>
            <a:ext cx="9144000" cy="36600"/>
          </a:xfrm>
          <a:prstGeom prst="rect">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15"/>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a:t>
            </a:r>
            <a:r>
              <a:rPr b="1" lang="zh-CN" sz="1500">
                <a:solidFill>
                  <a:srgbClr val="FFFFFF"/>
                </a:solidFill>
              </a:rPr>
              <a:t>2</a:t>
            </a:r>
            <a:r>
              <a:rPr b="1" lang="zh-CN" sz="1500">
                <a:solidFill>
                  <a:srgbClr val="FFFFFF"/>
                </a:solidFill>
                <a:latin typeface="Arial"/>
                <a:ea typeface="Arial"/>
                <a:cs typeface="Arial"/>
                <a:sym typeface="Arial"/>
              </a:rPr>
              <a:t> </a:t>
            </a:r>
            <a:r>
              <a:rPr b="1" lang="zh-CN" sz="1500">
                <a:solidFill>
                  <a:srgbClr val="FFFFFF"/>
                </a:solidFill>
              </a:rPr>
              <a:t>Scrum Master</a:t>
            </a:r>
            <a:endParaRPr/>
          </a:p>
        </p:txBody>
      </p:sp>
      <p:sp>
        <p:nvSpPr>
          <p:cNvPr id="106" name="Google Shape;106;p15"/>
          <p:cNvSpPr/>
          <p:nvPr/>
        </p:nvSpPr>
        <p:spPr>
          <a:xfrm>
            <a:off x="160975" y="689100"/>
            <a:ext cx="6807600" cy="38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070"/>
              <a:buFont typeface="Play"/>
              <a:buNone/>
            </a:pPr>
            <a:r>
              <a:rPr b="1" lang="zh-CN" sz="2070">
                <a:solidFill>
                  <a:srgbClr val="172033"/>
                </a:solidFill>
              </a:rPr>
              <a:t>Dependency chain</a:t>
            </a:r>
            <a:endParaRPr sz="2070">
              <a:solidFill>
                <a:srgbClr val="000000"/>
              </a:solidFill>
            </a:endParaRPr>
          </a:p>
        </p:txBody>
      </p:sp>
      <p:sp>
        <p:nvSpPr>
          <p:cNvPr id="107" name="Google Shape;107;p15"/>
          <p:cNvSpPr/>
          <p:nvPr/>
        </p:nvSpPr>
        <p:spPr>
          <a:xfrm>
            <a:off x="160974" y="992900"/>
            <a:ext cx="5004900" cy="30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575"/>
              </a:buClr>
              <a:buSzPts val="998"/>
              <a:buFont typeface="Arial"/>
              <a:buNone/>
            </a:pPr>
            <a:r>
              <a:rPr lang="zh-CN" sz="898">
                <a:solidFill>
                  <a:srgbClr val="5C6575"/>
                </a:solidFill>
                <a:latin typeface="Arial"/>
                <a:ea typeface="Arial"/>
                <a:cs typeface="Arial"/>
                <a:sym typeface="Arial"/>
              </a:rPr>
              <a:t>The sprint risk was not one person being late; it was one late link blocking every downstream role.</a:t>
            </a:r>
            <a:endParaRPr sz="898">
              <a:solidFill>
                <a:srgbClr val="000000"/>
              </a:solidFill>
              <a:latin typeface="Arial"/>
              <a:ea typeface="Arial"/>
              <a:cs typeface="Arial"/>
              <a:sym typeface="Arial"/>
            </a:endParaRPr>
          </a:p>
        </p:txBody>
      </p:sp>
      <p:cxnSp>
        <p:nvCxnSpPr>
          <p:cNvPr id="108" name="Google Shape;108;p15"/>
          <p:cNvCxnSpPr/>
          <p:nvPr/>
        </p:nvCxnSpPr>
        <p:spPr>
          <a:xfrm>
            <a:off x="2226079" y="2240489"/>
            <a:ext cx="273900" cy="0"/>
          </a:xfrm>
          <a:prstGeom prst="straightConnector1">
            <a:avLst/>
          </a:prstGeom>
          <a:noFill/>
          <a:ln cap="flat" cmpd="sng" w="9675">
            <a:solidFill>
              <a:srgbClr val="071A33"/>
            </a:solidFill>
            <a:prstDash val="solid"/>
            <a:round/>
            <a:headEnd len="sm" w="sm" type="none"/>
            <a:tailEnd len="med" w="med" type="triangle"/>
          </a:ln>
        </p:spPr>
      </p:cxnSp>
      <p:cxnSp>
        <p:nvCxnSpPr>
          <p:cNvPr id="109" name="Google Shape;109;p15"/>
          <p:cNvCxnSpPr/>
          <p:nvPr/>
        </p:nvCxnSpPr>
        <p:spPr>
          <a:xfrm>
            <a:off x="3614195" y="2235201"/>
            <a:ext cx="405000" cy="0"/>
          </a:xfrm>
          <a:prstGeom prst="straightConnector1">
            <a:avLst/>
          </a:prstGeom>
          <a:noFill/>
          <a:ln cap="flat" cmpd="sng" w="9675">
            <a:solidFill>
              <a:srgbClr val="071A33"/>
            </a:solidFill>
            <a:prstDash val="solid"/>
            <a:round/>
            <a:headEnd len="sm" w="sm" type="none"/>
            <a:tailEnd len="med" w="med" type="triangle"/>
          </a:ln>
        </p:spPr>
      </p:cxnSp>
      <p:cxnSp>
        <p:nvCxnSpPr>
          <p:cNvPr id="110" name="Google Shape;110;p15"/>
          <p:cNvCxnSpPr/>
          <p:nvPr/>
        </p:nvCxnSpPr>
        <p:spPr>
          <a:xfrm>
            <a:off x="5056827" y="2230815"/>
            <a:ext cx="411900" cy="0"/>
          </a:xfrm>
          <a:prstGeom prst="straightConnector1">
            <a:avLst/>
          </a:prstGeom>
          <a:noFill/>
          <a:ln cap="flat" cmpd="sng" w="9675">
            <a:solidFill>
              <a:srgbClr val="071A33"/>
            </a:solidFill>
            <a:prstDash val="solid"/>
            <a:round/>
            <a:headEnd len="sm" w="sm" type="none"/>
            <a:tailEnd len="med" w="med" type="triangle"/>
          </a:ln>
        </p:spPr>
      </p:cxnSp>
      <p:sp>
        <p:nvSpPr>
          <p:cNvPr id="111" name="Google Shape;111;p15"/>
          <p:cNvSpPr/>
          <p:nvPr/>
        </p:nvSpPr>
        <p:spPr>
          <a:xfrm>
            <a:off x="160975" y="1461228"/>
            <a:ext cx="831900" cy="666300"/>
          </a:xfrm>
          <a:prstGeom prst="roundRect">
            <a:avLst>
              <a:gd fmla="val 13333" name="adj"/>
            </a:avLst>
          </a:prstGeom>
          <a:solidFill>
            <a:srgbClr val="F2B84B"/>
          </a:solidFill>
          <a:ln cap="flat" cmpd="sng" w="6050">
            <a:solidFill>
              <a:srgbClr val="F2B84B"/>
            </a:solidFill>
            <a:prstDash val="solid"/>
            <a:round/>
            <a:headEnd len="sm" w="sm" type="none"/>
            <a:tailEnd len="sm" w="sm" type="none"/>
          </a:ln>
        </p:spPr>
        <p:txBody>
          <a:bodyPr anchorCtr="0" anchor="ctr" bIns="300" lIns="300" spcFirstLastPara="1" rIns="300" wrap="square" tIns="300">
            <a:noAutofit/>
          </a:bodyPr>
          <a:lstStyle/>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R3</a:t>
            </a:r>
            <a:endParaRPr sz="826">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Almanac</a:t>
            </a:r>
            <a:endParaRPr sz="826">
              <a:solidFill>
                <a:srgbClr val="000000"/>
              </a:solidFill>
              <a:latin typeface="Arial"/>
              <a:ea typeface="Arial"/>
              <a:cs typeface="Arial"/>
              <a:sym typeface="Arial"/>
            </a:endParaRPr>
          </a:p>
        </p:txBody>
      </p:sp>
      <p:sp>
        <p:nvSpPr>
          <p:cNvPr id="112" name="Google Shape;112;p15"/>
          <p:cNvSpPr/>
          <p:nvPr/>
        </p:nvSpPr>
        <p:spPr>
          <a:xfrm>
            <a:off x="160975" y="2417807"/>
            <a:ext cx="831900" cy="666300"/>
          </a:xfrm>
          <a:prstGeom prst="roundRect">
            <a:avLst>
              <a:gd fmla="val 13333" name="adj"/>
            </a:avLst>
          </a:prstGeom>
          <a:solidFill>
            <a:srgbClr val="2878E2"/>
          </a:solidFill>
          <a:ln cap="flat" cmpd="sng" w="6050">
            <a:solidFill>
              <a:srgbClr val="2878E2"/>
            </a:solidFill>
            <a:prstDash val="solid"/>
            <a:round/>
            <a:headEnd len="sm" w="sm" type="none"/>
            <a:tailEnd len="sm" w="sm" type="none"/>
          </a:ln>
        </p:spPr>
        <p:txBody>
          <a:bodyPr anchorCtr="0" anchor="ctr" bIns="300" lIns="300" spcFirstLastPara="1" rIns="300" wrap="square" tIns="300">
            <a:noAutofit/>
          </a:bodyPr>
          <a:lstStyle/>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R4</a:t>
            </a:r>
            <a:endParaRPr sz="826">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Macro</a:t>
            </a:r>
            <a:endParaRPr sz="826">
              <a:solidFill>
                <a:srgbClr val="000000"/>
              </a:solidFill>
              <a:latin typeface="Arial"/>
              <a:ea typeface="Arial"/>
              <a:cs typeface="Arial"/>
              <a:sym typeface="Arial"/>
            </a:endParaRPr>
          </a:p>
        </p:txBody>
      </p:sp>
      <p:sp>
        <p:nvSpPr>
          <p:cNvPr id="113" name="Google Shape;113;p15"/>
          <p:cNvSpPr/>
          <p:nvPr/>
        </p:nvSpPr>
        <p:spPr>
          <a:xfrm>
            <a:off x="1325100" y="1916260"/>
            <a:ext cx="831900" cy="666300"/>
          </a:xfrm>
          <a:prstGeom prst="roundRect">
            <a:avLst>
              <a:gd fmla="val 13333" name="adj"/>
            </a:avLst>
          </a:prstGeom>
          <a:solidFill>
            <a:srgbClr val="2FB344"/>
          </a:solidFill>
          <a:ln cap="flat" cmpd="sng" w="6050">
            <a:solidFill>
              <a:srgbClr val="2FB344"/>
            </a:solidFill>
            <a:prstDash val="solid"/>
            <a:round/>
            <a:headEnd len="sm" w="sm" type="none"/>
            <a:tailEnd len="sm" w="sm" type="none"/>
          </a:ln>
        </p:spPr>
        <p:txBody>
          <a:bodyPr anchorCtr="0" anchor="ctr" bIns="300" lIns="300" spcFirstLastPara="1" rIns="300" wrap="square" tIns="300">
            <a:noAutofit/>
          </a:bodyPr>
          <a:lstStyle/>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R5</a:t>
            </a:r>
            <a:endParaRPr sz="826">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Technical</a:t>
            </a:r>
            <a:endParaRPr sz="826">
              <a:solidFill>
                <a:srgbClr val="000000"/>
              </a:solidFill>
              <a:latin typeface="Arial"/>
              <a:ea typeface="Arial"/>
              <a:cs typeface="Arial"/>
              <a:sym typeface="Arial"/>
            </a:endParaRPr>
          </a:p>
        </p:txBody>
      </p:sp>
      <p:sp>
        <p:nvSpPr>
          <p:cNvPr id="114" name="Google Shape;114;p15"/>
          <p:cNvSpPr/>
          <p:nvPr/>
        </p:nvSpPr>
        <p:spPr>
          <a:xfrm>
            <a:off x="2569345" y="1907463"/>
            <a:ext cx="964800" cy="666300"/>
          </a:xfrm>
          <a:prstGeom prst="roundRect">
            <a:avLst>
              <a:gd fmla="val 13333" name="adj"/>
            </a:avLst>
          </a:prstGeom>
          <a:solidFill>
            <a:srgbClr val="5C6CFF"/>
          </a:solidFill>
          <a:ln cap="flat" cmpd="sng" w="6050">
            <a:solidFill>
              <a:srgbClr val="5C6CFF"/>
            </a:solidFill>
            <a:prstDash val="solid"/>
            <a:round/>
            <a:headEnd len="sm" w="sm" type="none"/>
            <a:tailEnd len="sm" w="sm" type="none"/>
          </a:ln>
        </p:spPr>
        <p:txBody>
          <a:bodyPr anchorCtr="0" anchor="ctr" bIns="300" lIns="300" spcFirstLastPara="1" rIns="300" wrap="square" tIns="300">
            <a:noAutofit/>
          </a:bodyPr>
          <a:lstStyle/>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R8</a:t>
            </a:r>
            <a:endParaRPr sz="826">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LLM synthesis</a:t>
            </a:r>
            <a:endParaRPr sz="826">
              <a:solidFill>
                <a:srgbClr val="000000"/>
              </a:solidFill>
              <a:latin typeface="Arial"/>
              <a:ea typeface="Arial"/>
              <a:cs typeface="Arial"/>
              <a:sym typeface="Arial"/>
            </a:endParaRPr>
          </a:p>
        </p:txBody>
      </p:sp>
      <p:sp>
        <p:nvSpPr>
          <p:cNvPr id="115" name="Google Shape;115;p15"/>
          <p:cNvSpPr/>
          <p:nvPr/>
        </p:nvSpPr>
        <p:spPr>
          <a:xfrm>
            <a:off x="4019187" y="1426575"/>
            <a:ext cx="964800" cy="666300"/>
          </a:xfrm>
          <a:prstGeom prst="roundRect">
            <a:avLst>
              <a:gd fmla="val 13333" name="adj"/>
            </a:avLst>
          </a:prstGeom>
          <a:solidFill>
            <a:srgbClr val="A64D79"/>
          </a:solidFill>
          <a:ln cap="flat" cmpd="sng" w="6050">
            <a:solidFill>
              <a:srgbClr val="A64D79"/>
            </a:solidFill>
            <a:prstDash val="solid"/>
            <a:round/>
            <a:headEnd len="sm" w="sm" type="none"/>
            <a:tailEnd len="sm" w="sm" type="none"/>
          </a:ln>
        </p:spPr>
        <p:txBody>
          <a:bodyPr anchorCtr="0" anchor="ctr" bIns="300" lIns="300" spcFirstLastPara="1" rIns="300" wrap="square" tIns="300">
            <a:noAutofit/>
          </a:bodyPr>
          <a:lstStyle/>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R7</a:t>
            </a:r>
            <a:endParaRPr sz="826">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Human score</a:t>
            </a:r>
            <a:endParaRPr sz="826">
              <a:solidFill>
                <a:srgbClr val="000000"/>
              </a:solidFill>
              <a:latin typeface="Arial"/>
              <a:ea typeface="Arial"/>
              <a:cs typeface="Arial"/>
              <a:sym typeface="Arial"/>
            </a:endParaRPr>
          </a:p>
        </p:txBody>
      </p:sp>
      <p:sp>
        <p:nvSpPr>
          <p:cNvPr id="116" name="Google Shape;116;p15"/>
          <p:cNvSpPr/>
          <p:nvPr/>
        </p:nvSpPr>
        <p:spPr>
          <a:xfrm>
            <a:off x="4019187" y="2368987"/>
            <a:ext cx="964800" cy="666300"/>
          </a:xfrm>
          <a:prstGeom prst="roundRect">
            <a:avLst>
              <a:gd fmla="val 13333" name="adj"/>
            </a:avLst>
          </a:prstGeom>
          <a:solidFill>
            <a:srgbClr val="F07C3E"/>
          </a:solidFill>
          <a:ln cap="flat" cmpd="sng" w="6050">
            <a:solidFill>
              <a:srgbClr val="F07C3E"/>
            </a:solidFill>
            <a:prstDash val="solid"/>
            <a:round/>
            <a:headEnd len="sm" w="sm" type="none"/>
            <a:tailEnd len="sm" w="sm" type="none"/>
          </a:ln>
        </p:spPr>
        <p:txBody>
          <a:bodyPr anchorCtr="0" anchor="ctr" bIns="300" lIns="300" spcFirstLastPara="1" rIns="300" wrap="square" tIns="300">
            <a:noAutofit/>
          </a:bodyPr>
          <a:lstStyle/>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R10</a:t>
            </a:r>
            <a:endParaRPr sz="826">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Calibration</a:t>
            </a:r>
            <a:endParaRPr sz="826">
              <a:solidFill>
                <a:srgbClr val="000000"/>
              </a:solidFill>
              <a:latin typeface="Arial"/>
              <a:ea typeface="Arial"/>
              <a:cs typeface="Arial"/>
              <a:sym typeface="Arial"/>
            </a:endParaRPr>
          </a:p>
        </p:txBody>
      </p:sp>
      <p:sp>
        <p:nvSpPr>
          <p:cNvPr id="117" name="Google Shape;117;p15"/>
          <p:cNvSpPr/>
          <p:nvPr/>
        </p:nvSpPr>
        <p:spPr>
          <a:xfrm>
            <a:off x="5549152" y="1913579"/>
            <a:ext cx="1030800" cy="666300"/>
          </a:xfrm>
          <a:prstGeom prst="roundRect">
            <a:avLst>
              <a:gd fmla="val 13333" name="adj"/>
            </a:avLst>
          </a:prstGeom>
          <a:solidFill>
            <a:srgbClr val="45818E"/>
          </a:solidFill>
          <a:ln cap="flat" cmpd="sng" w="6050">
            <a:solidFill>
              <a:srgbClr val="45818E"/>
            </a:solidFill>
            <a:prstDash val="solid"/>
            <a:round/>
            <a:headEnd len="sm" w="sm" type="none"/>
            <a:tailEnd len="sm" w="sm" type="none"/>
          </a:ln>
        </p:spPr>
        <p:txBody>
          <a:bodyPr anchorCtr="0" anchor="ctr" bIns="300" lIns="300" spcFirstLastPara="1" rIns="300" wrap="square" tIns="300">
            <a:noAutofit/>
          </a:bodyPr>
          <a:lstStyle/>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R9</a:t>
            </a:r>
            <a:endParaRPr sz="826">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Tag + release</a:t>
            </a:r>
            <a:endParaRPr sz="826">
              <a:solidFill>
                <a:srgbClr val="000000"/>
              </a:solidFill>
              <a:latin typeface="Arial"/>
              <a:ea typeface="Arial"/>
              <a:cs typeface="Arial"/>
              <a:sym typeface="Arial"/>
            </a:endParaRPr>
          </a:p>
        </p:txBody>
      </p:sp>
      <p:sp>
        <p:nvSpPr>
          <p:cNvPr id="118" name="Google Shape;118;p15"/>
          <p:cNvSpPr/>
          <p:nvPr/>
        </p:nvSpPr>
        <p:spPr>
          <a:xfrm>
            <a:off x="4390167" y="2126458"/>
            <a:ext cx="204000" cy="208800"/>
          </a:xfrm>
          <a:prstGeom prst="mathPlus">
            <a:avLst>
              <a:gd fmla="val 23520" name="adj1"/>
            </a:avLst>
          </a:prstGeom>
          <a:solidFill>
            <a:srgbClr val="08172E"/>
          </a:solidFill>
          <a:ln cap="flat" cmpd="sng" w="8200">
            <a:solidFill>
              <a:srgbClr val="08172E"/>
            </a:solidFill>
            <a:prstDash val="solid"/>
            <a:round/>
            <a:headEnd len="sm" w="sm" type="none"/>
            <a:tailEnd len="sm" w="sm" type="none"/>
          </a:ln>
        </p:spPr>
        <p:txBody>
          <a:bodyPr anchorCtr="0" anchor="ctr" bIns="78600" lIns="78600" spcFirstLastPara="1" rIns="78600" wrap="square" tIns="78600">
            <a:noAutofit/>
          </a:bodyPr>
          <a:lstStyle/>
          <a:p>
            <a:pPr indent="0" lvl="0" marL="0" rtl="0" algn="ctr">
              <a:spcBef>
                <a:spcPts val="0"/>
              </a:spcBef>
              <a:spcAft>
                <a:spcPts val="0"/>
              </a:spcAft>
              <a:buNone/>
            </a:pPr>
            <a:r>
              <a:t/>
            </a:r>
            <a:endParaRPr sz="1204"/>
          </a:p>
        </p:txBody>
      </p:sp>
      <p:sp>
        <p:nvSpPr>
          <p:cNvPr id="119" name="Google Shape;119;p15"/>
          <p:cNvSpPr/>
          <p:nvPr/>
        </p:nvSpPr>
        <p:spPr>
          <a:xfrm>
            <a:off x="1031090" y="2144946"/>
            <a:ext cx="204000" cy="208800"/>
          </a:xfrm>
          <a:prstGeom prst="mathPlus">
            <a:avLst>
              <a:gd fmla="val 23520" name="adj1"/>
            </a:avLst>
          </a:prstGeom>
          <a:solidFill>
            <a:srgbClr val="08172E"/>
          </a:solidFill>
          <a:ln cap="flat" cmpd="sng" w="8200">
            <a:solidFill>
              <a:srgbClr val="08172E"/>
            </a:solidFill>
            <a:prstDash val="solid"/>
            <a:round/>
            <a:headEnd len="sm" w="sm" type="none"/>
            <a:tailEnd len="sm" w="sm" type="none"/>
          </a:ln>
        </p:spPr>
        <p:txBody>
          <a:bodyPr anchorCtr="0" anchor="ctr" bIns="78600" lIns="78600" spcFirstLastPara="1" rIns="78600" wrap="square" tIns="78600">
            <a:noAutofit/>
          </a:bodyPr>
          <a:lstStyle/>
          <a:p>
            <a:pPr indent="0" lvl="0" marL="0" rtl="0" algn="ctr">
              <a:spcBef>
                <a:spcPts val="0"/>
              </a:spcBef>
              <a:spcAft>
                <a:spcPts val="0"/>
              </a:spcAft>
              <a:buNone/>
            </a:pPr>
            <a:r>
              <a:t/>
            </a:r>
            <a:endParaRPr sz="1204"/>
          </a:p>
        </p:txBody>
      </p:sp>
      <p:sp>
        <p:nvSpPr>
          <p:cNvPr id="120" name="Google Shape;120;p15"/>
          <p:cNvSpPr/>
          <p:nvPr/>
        </p:nvSpPr>
        <p:spPr>
          <a:xfrm>
            <a:off x="2226076" y="3083850"/>
            <a:ext cx="831900" cy="666300"/>
          </a:xfrm>
          <a:prstGeom prst="roundRect">
            <a:avLst>
              <a:gd fmla="val 13333" name="adj"/>
            </a:avLst>
          </a:prstGeom>
          <a:solidFill>
            <a:srgbClr val="00B8A9"/>
          </a:solidFill>
          <a:ln cap="flat" cmpd="sng" w="6050">
            <a:solidFill>
              <a:srgbClr val="00B8A9"/>
            </a:solidFill>
            <a:prstDash val="solid"/>
            <a:round/>
            <a:headEnd len="sm" w="sm" type="none"/>
            <a:tailEnd len="sm" w="sm" type="none"/>
          </a:ln>
        </p:spPr>
        <p:txBody>
          <a:bodyPr anchorCtr="0" anchor="ctr" bIns="300" lIns="300" spcFirstLastPara="1" rIns="300" wrap="square" tIns="300">
            <a:noAutofit/>
          </a:bodyPr>
          <a:lstStyle/>
          <a:p>
            <a:pPr indent="0" lvl="0" marL="0" marR="0" rtl="0" algn="ctr">
              <a:spcBef>
                <a:spcPts val="0"/>
              </a:spcBef>
              <a:spcAft>
                <a:spcPts val="0"/>
              </a:spcAft>
              <a:buClr>
                <a:srgbClr val="FFFFFF"/>
              </a:buClr>
              <a:buSzPts val="826"/>
              <a:buFont typeface="Arial"/>
              <a:buNone/>
            </a:pPr>
            <a:r>
              <a:rPr b="1" lang="zh-CN" sz="826">
                <a:solidFill>
                  <a:srgbClr val="FFFFFF"/>
                </a:solidFill>
                <a:latin typeface="Arial"/>
                <a:ea typeface="Arial"/>
                <a:cs typeface="Arial"/>
                <a:sym typeface="Arial"/>
              </a:rPr>
              <a:t>R</a:t>
            </a:r>
            <a:r>
              <a:rPr b="1" lang="zh-CN" sz="826">
                <a:solidFill>
                  <a:srgbClr val="FFFFFF"/>
                </a:solidFill>
              </a:rPr>
              <a:t>6</a:t>
            </a:r>
            <a:endParaRPr sz="826">
              <a:solidFill>
                <a:srgbClr val="000000"/>
              </a:solidFill>
              <a:latin typeface="Arial"/>
              <a:ea typeface="Arial"/>
              <a:cs typeface="Arial"/>
              <a:sym typeface="Arial"/>
            </a:endParaRPr>
          </a:p>
          <a:p>
            <a:pPr indent="0" lvl="0" marL="0" marR="0" rtl="0" algn="ctr">
              <a:spcBef>
                <a:spcPts val="0"/>
              </a:spcBef>
              <a:spcAft>
                <a:spcPts val="0"/>
              </a:spcAft>
              <a:buClr>
                <a:srgbClr val="FFFFFF"/>
              </a:buClr>
              <a:buSzPts val="826"/>
              <a:buFont typeface="Arial"/>
              <a:buNone/>
            </a:pPr>
            <a:r>
              <a:rPr b="1" lang="zh-CN" sz="826">
                <a:solidFill>
                  <a:srgbClr val="FFFFFF"/>
                </a:solidFill>
              </a:rPr>
              <a:t>Data</a:t>
            </a:r>
            <a:endParaRPr sz="826">
              <a:solidFill>
                <a:srgbClr val="000000"/>
              </a:solidFill>
              <a:latin typeface="Arial"/>
              <a:ea typeface="Arial"/>
              <a:cs typeface="Arial"/>
              <a:sym typeface="Arial"/>
            </a:endParaRPr>
          </a:p>
        </p:txBody>
      </p:sp>
      <p:cxnSp>
        <p:nvCxnSpPr>
          <p:cNvPr id="121" name="Google Shape;121;p15"/>
          <p:cNvCxnSpPr/>
          <p:nvPr/>
        </p:nvCxnSpPr>
        <p:spPr>
          <a:xfrm rot="10800000">
            <a:off x="1180390" y="2714531"/>
            <a:ext cx="925500" cy="662700"/>
          </a:xfrm>
          <a:prstGeom prst="straightConnector1">
            <a:avLst/>
          </a:prstGeom>
          <a:noFill/>
          <a:ln cap="flat" cmpd="sng" w="9675">
            <a:solidFill>
              <a:srgbClr val="071A33"/>
            </a:solidFill>
            <a:prstDash val="solid"/>
            <a:round/>
            <a:headEnd len="sm" w="sm" type="none"/>
            <a:tailEnd len="med" w="med" type="triangle"/>
          </a:ln>
        </p:spPr>
      </p:cxnSp>
      <p:cxnSp>
        <p:nvCxnSpPr>
          <p:cNvPr id="122" name="Google Shape;122;p15"/>
          <p:cNvCxnSpPr/>
          <p:nvPr/>
        </p:nvCxnSpPr>
        <p:spPr>
          <a:xfrm flipH="1" rot="10800000">
            <a:off x="3111384" y="2867424"/>
            <a:ext cx="743400" cy="516600"/>
          </a:xfrm>
          <a:prstGeom prst="straightConnector1">
            <a:avLst/>
          </a:prstGeom>
          <a:noFill/>
          <a:ln cap="flat" cmpd="sng" w="9675">
            <a:solidFill>
              <a:srgbClr val="071A33"/>
            </a:solidFill>
            <a:prstDash val="solid"/>
            <a:round/>
            <a:headEnd len="sm" w="sm" type="none"/>
            <a:tailEnd len="med" w="med" type="triangle"/>
          </a:ln>
        </p:spPr>
      </p:cxnSp>
      <p:pic>
        <p:nvPicPr>
          <p:cNvPr id="123" name="Google Shape;123;p15"/>
          <p:cNvPicPr preferRelativeResize="0"/>
          <p:nvPr/>
        </p:nvPicPr>
        <p:blipFill>
          <a:blip r:embed="rId3">
            <a:alphaModFix/>
          </a:blip>
          <a:stretch>
            <a:fillRect/>
          </a:stretch>
        </p:blipFill>
        <p:spPr>
          <a:xfrm>
            <a:off x="6647242" y="689100"/>
            <a:ext cx="2491762" cy="4454401"/>
          </a:xfrm>
          <a:prstGeom prst="rect">
            <a:avLst/>
          </a:prstGeom>
          <a:noFill/>
          <a:ln>
            <a:noFill/>
          </a:ln>
        </p:spPr>
      </p:pic>
      <p:sp>
        <p:nvSpPr>
          <p:cNvPr id="124" name="Google Shape;124;p15"/>
          <p:cNvSpPr/>
          <p:nvPr/>
        </p:nvSpPr>
        <p:spPr>
          <a:xfrm>
            <a:off x="221025" y="4154825"/>
            <a:ext cx="6358800" cy="929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72033"/>
              </a:buClr>
              <a:buSzPts val="1070"/>
              <a:buFont typeface="Arial"/>
              <a:buNone/>
            </a:pPr>
            <a:r>
              <a:rPr lang="zh-CN" sz="1070">
                <a:solidFill>
                  <a:srgbClr val="172033"/>
                </a:solidFill>
                <a:latin typeface="Arial"/>
                <a:ea typeface="Arial"/>
                <a:cs typeface="Arial"/>
                <a:sym typeface="Arial"/>
              </a:rPr>
              <a:t>• </a:t>
            </a:r>
            <a:r>
              <a:rPr lang="zh-CN" sz="1070">
                <a:solidFill>
                  <a:srgbClr val="172033"/>
                </a:solidFill>
              </a:rPr>
              <a:t>Force Workflow Failures on NaN Values </a:t>
            </a:r>
            <a:r>
              <a:rPr lang="zh-CN" sz="1070">
                <a:solidFill>
                  <a:srgbClr val="172033"/>
                </a:solidFill>
              </a:rPr>
              <a:t>instead of publishing them.</a:t>
            </a:r>
            <a:endParaRPr sz="1070">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0"/>
              <a:buFont typeface="Arial"/>
              <a:buNone/>
            </a:pPr>
            <a:r>
              <a:rPr lang="zh-CN" sz="1070">
                <a:solidFill>
                  <a:srgbClr val="172033"/>
                </a:solidFill>
                <a:latin typeface="Arial"/>
                <a:ea typeface="Arial"/>
                <a:cs typeface="Arial"/>
                <a:sym typeface="Arial"/>
              </a:rPr>
              <a:t>• </a:t>
            </a:r>
            <a:r>
              <a:rPr lang="zh-CN" sz="1070">
                <a:solidFill>
                  <a:srgbClr val="172033"/>
                </a:solidFill>
              </a:rPr>
              <a:t>Standardize LLM output formats via automatic plain-text conversion. </a:t>
            </a:r>
            <a:endParaRPr sz="1070">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0"/>
              <a:buFont typeface="Arial"/>
              <a:buNone/>
            </a:pPr>
            <a:r>
              <a:rPr lang="zh-CN" sz="1070">
                <a:solidFill>
                  <a:srgbClr val="172033"/>
                </a:solidFill>
                <a:latin typeface="Arial"/>
                <a:ea typeface="Arial"/>
                <a:cs typeface="Arial"/>
                <a:sym typeface="Arial"/>
              </a:rPr>
              <a:t>• </a:t>
            </a:r>
            <a:r>
              <a:rPr lang="zh-CN" sz="1070">
                <a:solidFill>
                  <a:srgbClr val="172033"/>
                </a:solidFill>
              </a:rPr>
              <a:t>Confirm all expected artifacts were modified by the latest workflow run.</a:t>
            </a:r>
            <a:endParaRPr sz="1070">
              <a:solidFill>
                <a:srgbClr val="000000"/>
              </a:solidFill>
              <a:latin typeface="Arial"/>
              <a:ea typeface="Arial"/>
              <a:cs typeface="Arial"/>
              <a:sym typeface="Arial"/>
            </a:endParaRPr>
          </a:p>
        </p:txBody>
      </p:sp>
      <p:sp>
        <p:nvSpPr>
          <p:cNvPr id="125" name="Google Shape;125;p15"/>
          <p:cNvSpPr/>
          <p:nvPr/>
        </p:nvSpPr>
        <p:spPr>
          <a:xfrm>
            <a:off x="221028" y="4047676"/>
            <a:ext cx="1702200" cy="27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545"/>
              </a:buClr>
              <a:buSzPts val="961"/>
              <a:buFont typeface="Arial"/>
              <a:buNone/>
            </a:pPr>
            <a:r>
              <a:rPr b="1" lang="zh-CN" sz="1200">
                <a:solidFill>
                  <a:srgbClr val="E84545"/>
                </a:solidFill>
                <a:latin typeface="Arial"/>
                <a:ea typeface="Arial"/>
                <a:cs typeface="Arial"/>
                <a:sym typeface="Arial"/>
              </a:rPr>
              <a:t>Control actions</a:t>
            </a:r>
            <a:endParaRPr sz="12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29" name="Shape 129"/>
        <p:cNvGrpSpPr/>
        <p:nvPr/>
      </p:nvGrpSpPr>
      <p:grpSpPr>
        <a:xfrm>
          <a:off x="0" y="0"/>
          <a:ext cx="0" cy="0"/>
          <a:chOff x="0" y="0"/>
          <a:chExt cx="0" cy="0"/>
        </a:xfrm>
      </p:grpSpPr>
      <p:sp>
        <p:nvSpPr>
          <p:cNvPr id="130" name="Google Shape;130;p1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 name="Google Shape;131;p16"/>
          <p:cNvSpPr/>
          <p:nvPr/>
        </p:nvSpPr>
        <p:spPr>
          <a:xfrm>
            <a:off x="0" y="640080"/>
            <a:ext cx="9144000" cy="36600"/>
          </a:xfrm>
          <a:prstGeom prst="rect">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1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a:t>
            </a:r>
            <a:r>
              <a:rPr b="1" lang="zh-CN" sz="1500">
                <a:solidFill>
                  <a:srgbClr val="FFFFFF"/>
                </a:solidFill>
              </a:rPr>
              <a:t>2</a:t>
            </a:r>
            <a:r>
              <a:rPr b="1" lang="zh-CN" sz="1500">
                <a:solidFill>
                  <a:srgbClr val="FFFFFF"/>
                </a:solidFill>
                <a:latin typeface="Arial"/>
                <a:ea typeface="Arial"/>
                <a:cs typeface="Arial"/>
                <a:sym typeface="Arial"/>
              </a:rPr>
              <a:t> </a:t>
            </a:r>
            <a:r>
              <a:rPr b="1" lang="zh-CN" sz="1500">
                <a:solidFill>
                  <a:srgbClr val="FFFFFF"/>
                </a:solidFill>
              </a:rPr>
              <a:t>Scrum Master</a:t>
            </a:r>
            <a:endParaRPr/>
          </a:p>
        </p:txBody>
      </p:sp>
      <p:sp>
        <p:nvSpPr>
          <p:cNvPr id="133" name="Google Shape;133;p16"/>
          <p:cNvSpPr/>
          <p:nvPr/>
        </p:nvSpPr>
        <p:spPr>
          <a:xfrm>
            <a:off x="139175" y="696463"/>
            <a:ext cx="7203900" cy="35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111"/>
              <a:buFont typeface="Play"/>
              <a:buNone/>
            </a:pPr>
            <a:r>
              <a:rPr b="1" lang="zh-CN" sz="2111">
                <a:solidFill>
                  <a:srgbClr val="172033"/>
                </a:solidFill>
              </a:rPr>
              <a:t>Retrospective: </a:t>
            </a:r>
            <a:r>
              <a:rPr b="1" lang="zh-CN" sz="2100">
                <a:solidFill>
                  <a:srgbClr val="172033"/>
                </a:solidFill>
              </a:rPr>
              <a:t>Sprint 9 Review</a:t>
            </a:r>
            <a:r>
              <a:rPr lang="zh-CN" sz="1100">
                <a:solidFill>
                  <a:schemeClr val="dk1"/>
                </a:solidFill>
              </a:rPr>
              <a:t> </a:t>
            </a:r>
            <a:endParaRPr sz="2111">
              <a:solidFill>
                <a:srgbClr val="000000"/>
              </a:solidFill>
            </a:endParaRPr>
          </a:p>
        </p:txBody>
      </p:sp>
      <p:sp>
        <p:nvSpPr>
          <p:cNvPr id="134" name="Google Shape;134;p16"/>
          <p:cNvSpPr/>
          <p:nvPr/>
        </p:nvSpPr>
        <p:spPr>
          <a:xfrm>
            <a:off x="139172" y="1072678"/>
            <a:ext cx="7695000" cy="27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575"/>
              </a:buClr>
              <a:buSzPts val="1018"/>
              <a:buFont typeface="Arial"/>
              <a:buNone/>
            </a:pPr>
            <a:r>
              <a:rPr lang="zh-CN" sz="1018">
                <a:solidFill>
                  <a:srgbClr val="5C6575"/>
                </a:solidFill>
                <a:latin typeface="Arial"/>
                <a:ea typeface="Arial"/>
                <a:cs typeface="Arial"/>
                <a:sym typeface="Arial"/>
              </a:rPr>
              <a:t>Sunday</a:t>
            </a:r>
            <a:r>
              <a:rPr lang="zh-CN" sz="1018">
                <a:solidFill>
                  <a:srgbClr val="5C6575"/>
                </a:solidFill>
              </a:rPr>
              <a:t> lesson: </a:t>
            </a:r>
            <a:r>
              <a:rPr lang="zh-CN" sz="1018">
                <a:solidFill>
                  <a:srgbClr val="5C6575"/>
                </a:solidFill>
              </a:rPr>
              <a:t>A successful branch test is not a guarantee of safe execution on main.</a:t>
            </a:r>
            <a:r>
              <a:rPr lang="zh-CN" sz="1100">
                <a:solidFill>
                  <a:schemeClr val="dk1"/>
                </a:solidFill>
              </a:rPr>
              <a:t> </a:t>
            </a:r>
            <a:endParaRPr sz="1018">
              <a:solidFill>
                <a:srgbClr val="000000"/>
              </a:solidFill>
              <a:latin typeface="Arial"/>
              <a:ea typeface="Arial"/>
              <a:cs typeface="Arial"/>
              <a:sym typeface="Arial"/>
            </a:endParaRPr>
          </a:p>
        </p:txBody>
      </p:sp>
      <p:sp>
        <p:nvSpPr>
          <p:cNvPr id="135" name="Google Shape;135;p16"/>
          <p:cNvSpPr/>
          <p:nvPr/>
        </p:nvSpPr>
        <p:spPr>
          <a:xfrm>
            <a:off x="151747" y="1802325"/>
            <a:ext cx="2333100" cy="2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545"/>
              </a:buClr>
              <a:buSzPts val="980"/>
              <a:buFont typeface="Arial"/>
              <a:buNone/>
            </a:pPr>
            <a:r>
              <a:rPr b="1" lang="zh-CN">
                <a:solidFill>
                  <a:srgbClr val="E84545"/>
                </a:solidFill>
                <a:latin typeface="Arial"/>
                <a:ea typeface="Arial"/>
                <a:cs typeface="Arial"/>
                <a:sym typeface="Arial"/>
              </a:rPr>
              <a:t>S</a:t>
            </a:r>
            <a:r>
              <a:rPr b="1" lang="zh-CN">
                <a:solidFill>
                  <a:srgbClr val="E84545"/>
                </a:solidFill>
              </a:rPr>
              <a:t>aturda</a:t>
            </a:r>
            <a:r>
              <a:rPr b="1" lang="zh-CN">
                <a:solidFill>
                  <a:srgbClr val="E84545"/>
                </a:solidFill>
                <a:latin typeface="Arial"/>
                <a:ea typeface="Arial"/>
                <a:cs typeface="Arial"/>
                <a:sym typeface="Arial"/>
              </a:rPr>
              <a:t>y incident path</a:t>
            </a:r>
            <a:endParaRPr>
              <a:solidFill>
                <a:srgbClr val="000000"/>
              </a:solidFill>
              <a:latin typeface="Arial"/>
              <a:ea typeface="Arial"/>
              <a:cs typeface="Arial"/>
              <a:sym typeface="Arial"/>
            </a:endParaRPr>
          </a:p>
        </p:txBody>
      </p:sp>
      <p:sp>
        <p:nvSpPr>
          <p:cNvPr id="136" name="Google Shape;136;p16"/>
          <p:cNvSpPr/>
          <p:nvPr/>
        </p:nvSpPr>
        <p:spPr>
          <a:xfrm>
            <a:off x="151740" y="2374312"/>
            <a:ext cx="1269000" cy="411900"/>
          </a:xfrm>
          <a:prstGeom prst="roundRect">
            <a:avLst>
              <a:gd fmla="val 15385" name="adj"/>
            </a:avLst>
          </a:prstGeom>
          <a:solidFill>
            <a:srgbClr val="E84545"/>
          </a:solidFill>
          <a:ln cap="flat" cmpd="sng" w="7175">
            <a:solidFill>
              <a:srgbClr val="E84545"/>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zh-CN" sz="892">
                <a:solidFill>
                  <a:srgbClr val="FFFFFF"/>
                </a:solidFill>
              </a:rPr>
              <a:t>7:00 AM</a:t>
            </a:r>
            <a:endParaRPr sz="892">
              <a:solidFill>
                <a:srgbClr val="000000"/>
              </a:solidFill>
              <a:latin typeface="Arial"/>
              <a:ea typeface="Arial"/>
              <a:cs typeface="Arial"/>
              <a:sym typeface="Arial"/>
            </a:endParaRPr>
          </a:p>
        </p:txBody>
      </p:sp>
      <p:sp>
        <p:nvSpPr>
          <p:cNvPr id="137" name="Google Shape;137;p16"/>
          <p:cNvSpPr/>
          <p:nvPr/>
        </p:nvSpPr>
        <p:spPr>
          <a:xfrm>
            <a:off x="69878"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zh-CN" sz="969">
                <a:solidFill>
                  <a:srgbClr val="172033"/>
                </a:solidFill>
              </a:rPr>
              <a:t>R5 failed to auto-generate expected results.</a:t>
            </a:r>
            <a:endParaRPr sz="969">
              <a:solidFill>
                <a:srgbClr val="000000"/>
              </a:solidFill>
              <a:latin typeface="Arial"/>
              <a:ea typeface="Arial"/>
              <a:cs typeface="Arial"/>
              <a:sym typeface="Arial"/>
            </a:endParaRPr>
          </a:p>
        </p:txBody>
      </p:sp>
      <p:sp>
        <p:nvSpPr>
          <p:cNvPr id="138" name="Google Shape;138;p16"/>
          <p:cNvSpPr/>
          <p:nvPr/>
        </p:nvSpPr>
        <p:spPr>
          <a:xfrm>
            <a:off x="2566655" y="2374312"/>
            <a:ext cx="1269000" cy="411900"/>
          </a:xfrm>
          <a:prstGeom prst="roundRect">
            <a:avLst>
              <a:gd fmla="val 15385" name="adj"/>
            </a:avLst>
          </a:prstGeom>
          <a:solidFill>
            <a:srgbClr val="071A33"/>
          </a:solidFill>
          <a:ln cap="flat" cmpd="sng" w="7175">
            <a:solidFill>
              <a:srgbClr val="071A33"/>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zh-CN" sz="892">
                <a:solidFill>
                  <a:srgbClr val="FFFFFF"/>
                </a:solidFill>
              </a:rPr>
              <a:t>9:30 AM</a:t>
            </a:r>
            <a:endParaRPr sz="892">
              <a:solidFill>
                <a:srgbClr val="000000"/>
              </a:solidFill>
              <a:latin typeface="Arial"/>
              <a:ea typeface="Arial"/>
              <a:cs typeface="Arial"/>
              <a:sym typeface="Arial"/>
            </a:endParaRPr>
          </a:p>
        </p:txBody>
      </p:sp>
      <p:sp>
        <p:nvSpPr>
          <p:cNvPr id="139" name="Google Shape;139;p16"/>
          <p:cNvSpPr/>
          <p:nvPr/>
        </p:nvSpPr>
        <p:spPr>
          <a:xfrm>
            <a:off x="2484800" y="2944524"/>
            <a:ext cx="1432800" cy="411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zh-CN" sz="969">
                <a:solidFill>
                  <a:srgbClr val="172033"/>
                </a:solidFill>
              </a:rPr>
              <a:t>R2 detected that R5 did not generate the results automatically.</a:t>
            </a:r>
            <a:endParaRPr sz="969">
              <a:solidFill>
                <a:srgbClr val="000000"/>
              </a:solidFill>
              <a:latin typeface="Arial"/>
              <a:ea typeface="Arial"/>
              <a:cs typeface="Arial"/>
              <a:sym typeface="Arial"/>
            </a:endParaRPr>
          </a:p>
        </p:txBody>
      </p:sp>
      <p:sp>
        <p:nvSpPr>
          <p:cNvPr id="140" name="Google Shape;140;p16"/>
          <p:cNvSpPr/>
          <p:nvPr/>
        </p:nvSpPr>
        <p:spPr>
          <a:xfrm>
            <a:off x="4981570" y="2374312"/>
            <a:ext cx="1269000" cy="411900"/>
          </a:xfrm>
          <a:prstGeom prst="roundRect">
            <a:avLst>
              <a:gd fmla="val 15385" name="adj"/>
            </a:avLst>
          </a:prstGeom>
          <a:solidFill>
            <a:srgbClr val="071A33"/>
          </a:solidFill>
          <a:ln cap="flat" cmpd="sng" w="7175">
            <a:solidFill>
              <a:srgbClr val="071A33"/>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zh-CN" sz="892">
                <a:solidFill>
                  <a:srgbClr val="FFFFFF"/>
                </a:solidFill>
                <a:latin typeface="Arial"/>
                <a:ea typeface="Arial"/>
                <a:cs typeface="Arial"/>
                <a:sym typeface="Arial"/>
              </a:rPr>
              <a:t>Action</a:t>
            </a:r>
            <a:endParaRPr sz="892">
              <a:solidFill>
                <a:srgbClr val="000000"/>
              </a:solidFill>
              <a:latin typeface="Arial"/>
              <a:ea typeface="Arial"/>
              <a:cs typeface="Arial"/>
              <a:sym typeface="Arial"/>
            </a:endParaRPr>
          </a:p>
        </p:txBody>
      </p:sp>
      <p:sp>
        <p:nvSpPr>
          <p:cNvPr id="141" name="Google Shape;141;p16"/>
          <p:cNvSpPr/>
          <p:nvPr/>
        </p:nvSpPr>
        <p:spPr>
          <a:xfrm>
            <a:off x="4899708"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zh-CN" sz="969">
                <a:solidFill>
                  <a:srgbClr val="172033"/>
                </a:solidFill>
              </a:rPr>
              <a:t>Guanyu Lu (R2) and Zaikun Zheng (R1) fixed the code.</a:t>
            </a:r>
            <a:endParaRPr sz="969">
              <a:solidFill>
                <a:srgbClr val="000000"/>
              </a:solidFill>
              <a:latin typeface="Arial"/>
              <a:ea typeface="Arial"/>
              <a:cs typeface="Arial"/>
              <a:sym typeface="Arial"/>
            </a:endParaRPr>
          </a:p>
        </p:txBody>
      </p:sp>
      <p:sp>
        <p:nvSpPr>
          <p:cNvPr id="142" name="Google Shape;142;p16"/>
          <p:cNvSpPr/>
          <p:nvPr/>
        </p:nvSpPr>
        <p:spPr>
          <a:xfrm>
            <a:off x="7396485" y="2374312"/>
            <a:ext cx="1269000" cy="411900"/>
          </a:xfrm>
          <a:prstGeom prst="roundRect">
            <a:avLst>
              <a:gd fmla="val 15385" name="adj"/>
            </a:avLst>
          </a:prstGeom>
          <a:solidFill>
            <a:srgbClr val="2B7A55"/>
          </a:solidFill>
          <a:ln cap="flat" cmpd="sng" w="7175">
            <a:solidFill>
              <a:srgbClr val="2B7A55"/>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FFFFFF"/>
              </a:buClr>
              <a:buSzPts val="792"/>
              <a:buFont typeface="Arial"/>
              <a:buNone/>
            </a:pPr>
            <a:r>
              <a:rPr b="1" lang="zh-CN" sz="892">
                <a:solidFill>
                  <a:srgbClr val="FFFFFF"/>
                </a:solidFill>
              </a:rPr>
              <a:t>11:10 AM</a:t>
            </a:r>
            <a:endParaRPr sz="892">
              <a:solidFill>
                <a:srgbClr val="000000"/>
              </a:solidFill>
              <a:latin typeface="Arial"/>
              <a:ea typeface="Arial"/>
              <a:cs typeface="Arial"/>
              <a:sym typeface="Arial"/>
            </a:endParaRPr>
          </a:p>
        </p:txBody>
      </p:sp>
      <p:sp>
        <p:nvSpPr>
          <p:cNvPr id="143" name="Google Shape;143;p16"/>
          <p:cNvSpPr/>
          <p:nvPr/>
        </p:nvSpPr>
        <p:spPr>
          <a:xfrm>
            <a:off x="7314623" y="2944521"/>
            <a:ext cx="1432800" cy="5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033"/>
              </a:buClr>
              <a:buSzPts val="769"/>
              <a:buFont typeface="Arial"/>
              <a:buNone/>
            </a:pPr>
            <a:r>
              <a:rPr lang="zh-CN" sz="869">
                <a:solidFill>
                  <a:srgbClr val="172033"/>
                </a:solidFill>
              </a:rPr>
              <a:t>The problem was resolved and the result was automatically generated.</a:t>
            </a:r>
            <a:endParaRPr sz="869">
              <a:solidFill>
                <a:srgbClr val="000000"/>
              </a:solidFill>
              <a:latin typeface="Arial"/>
              <a:ea typeface="Arial"/>
              <a:cs typeface="Arial"/>
              <a:sym typeface="Arial"/>
            </a:endParaRPr>
          </a:p>
        </p:txBody>
      </p:sp>
      <p:sp>
        <p:nvSpPr>
          <p:cNvPr id="144" name="Google Shape;144;p16"/>
          <p:cNvSpPr/>
          <p:nvPr/>
        </p:nvSpPr>
        <p:spPr>
          <a:xfrm>
            <a:off x="221112" y="4167248"/>
            <a:ext cx="2456100" cy="2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545"/>
              </a:buClr>
              <a:buSzPts val="980"/>
              <a:buFont typeface="Arial"/>
              <a:buNone/>
            </a:pPr>
            <a:r>
              <a:rPr b="1" lang="zh-CN">
                <a:solidFill>
                  <a:srgbClr val="E84545"/>
                </a:solidFill>
                <a:latin typeface="Arial"/>
                <a:ea typeface="Arial"/>
                <a:cs typeface="Arial"/>
                <a:sym typeface="Arial"/>
              </a:rPr>
              <a:t>Sprint </a:t>
            </a:r>
            <a:r>
              <a:rPr b="1" lang="zh-CN">
                <a:solidFill>
                  <a:srgbClr val="E84545"/>
                </a:solidFill>
              </a:rPr>
              <a:t>9</a:t>
            </a:r>
            <a:r>
              <a:rPr b="1" lang="zh-CN">
                <a:solidFill>
                  <a:srgbClr val="E84545"/>
                </a:solidFill>
                <a:latin typeface="Arial"/>
                <a:ea typeface="Arial"/>
                <a:cs typeface="Arial"/>
                <a:sym typeface="Arial"/>
              </a:rPr>
              <a:t> process change</a:t>
            </a:r>
            <a:endParaRPr>
              <a:solidFill>
                <a:srgbClr val="000000"/>
              </a:solidFill>
              <a:latin typeface="Arial"/>
              <a:ea typeface="Arial"/>
              <a:cs typeface="Arial"/>
              <a:sym typeface="Arial"/>
            </a:endParaRPr>
          </a:p>
        </p:txBody>
      </p:sp>
      <p:sp>
        <p:nvSpPr>
          <p:cNvPr id="145" name="Google Shape;145;p16"/>
          <p:cNvSpPr/>
          <p:nvPr/>
        </p:nvSpPr>
        <p:spPr>
          <a:xfrm>
            <a:off x="221100" y="4483827"/>
            <a:ext cx="8922900" cy="4737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72033"/>
              </a:buClr>
              <a:buSzPts val="1070"/>
              <a:buFont typeface="Arial"/>
              <a:buNone/>
            </a:pPr>
            <a:r>
              <a:rPr lang="zh-CN" sz="1200">
                <a:solidFill>
                  <a:srgbClr val="172033"/>
                </a:solidFill>
                <a:latin typeface="Arial"/>
                <a:ea typeface="Arial"/>
                <a:cs typeface="Arial"/>
                <a:sym typeface="Arial"/>
              </a:rPr>
              <a:t>• Ensure weekend automated output on main, following successful automated tests on week 9.</a:t>
            </a:r>
            <a:endParaRPr sz="1200">
              <a:solidFill>
                <a:srgbClr val="000000"/>
              </a:solidFill>
              <a:latin typeface="Arial"/>
              <a:ea typeface="Arial"/>
              <a:cs typeface="Arial"/>
              <a:sym typeface="Arial"/>
            </a:endParaRPr>
          </a:p>
          <a:p>
            <a:pPr indent="0" lvl="0" marL="0" marR="0" rtl="0" algn="l">
              <a:spcBef>
                <a:spcPts val="0"/>
              </a:spcBef>
              <a:spcAft>
                <a:spcPts val="0"/>
              </a:spcAft>
              <a:buClr>
                <a:srgbClr val="172033"/>
              </a:buClr>
              <a:buSzPts val="1070"/>
              <a:buFont typeface="Arial"/>
              <a:buNone/>
            </a:pPr>
            <a:r>
              <a:rPr lang="zh-CN" sz="1200">
                <a:solidFill>
                  <a:srgbClr val="172033"/>
                </a:solidFill>
              </a:rPr>
              <a:t>•.</a:t>
            </a:r>
            <a:r>
              <a:rPr lang="zh-CN" sz="1200">
                <a:solidFill>
                  <a:srgbClr val="172033"/>
                </a:solidFill>
                <a:latin typeface="Arial"/>
                <a:ea typeface="Arial"/>
                <a:cs typeface="Arial"/>
                <a:sym typeface="Arial"/>
              </a:rPr>
              <a:t>Finalize Demo Day task Assignments</a:t>
            </a:r>
            <a:endParaRPr sz="1200">
              <a:solidFill>
                <a:srgbClr val="000000"/>
              </a:solidFill>
              <a:latin typeface="Arial"/>
              <a:ea typeface="Arial"/>
              <a:cs typeface="Arial"/>
              <a:sym typeface="Arial"/>
            </a:endParaRPr>
          </a:p>
        </p:txBody>
      </p:sp>
      <p:cxnSp>
        <p:nvCxnSpPr>
          <p:cNvPr id="146" name="Google Shape;146;p16"/>
          <p:cNvCxnSpPr>
            <a:stCxn id="136" idx="3"/>
            <a:endCxn id="138" idx="1"/>
          </p:cNvCxnSpPr>
          <p:nvPr/>
        </p:nvCxnSpPr>
        <p:spPr>
          <a:xfrm>
            <a:off x="1420740" y="2580262"/>
            <a:ext cx="1146000" cy="0"/>
          </a:xfrm>
          <a:prstGeom prst="straightConnector1">
            <a:avLst/>
          </a:prstGeom>
          <a:noFill/>
          <a:ln cap="flat" cmpd="sng" w="9525">
            <a:solidFill>
              <a:schemeClr val="dk2"/>
            </a:solidFill>
            <a:prstDash val="solid"/>
            <a:round/>
            <a:headEnd len="med" w="med" type="none"/>
            <a:tailEnd len="med" w="med" type="triangle"/>
          </a:ln>
        </p:spPr>
      </p:cxnSp>
      <p:cxnSp>
        <p:nvCxnSpPr>
          <p:cNvPr id="147" name="Google Shape;147;p16"/>
          <p:cNvCxnSpPr>
            <a:stCxn id="140" idx="3"/>
            <a:endCxn id="142" idx="1"/>
          </p:cNvCxnSpPr>
          <p:nvPr/>
        </p:nvCxnSpPr>
        <p:spPr>
          <a:xfrm>
            <a:off x="6250570" y="2580262"/>
            <a:ext cx="1146000" cy="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p16"/>
          <p:cNvCxnSpPr>
            <a:stCxn id="138" idx="3"/>
            <a:endCxn id="140" idx="1"/>
          </p:cNvCxnSpPr>
          <p:nvPr/>
        </p:nvCxnSpPr>
        <p:spPr>
          <a:xfrm>
            <a:off x="3835655" y="2580262"/>
            <a:ext cx="11460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53" name="Shape 153"/>
        <p:cNvGrpSpPr/>
        <p:nvPr/>
      </p:nvGrpSpPr>
      <p:grpSpPr>
        <a:xfrm>
          <a:off x="0" y="0"/>
          <a:ext cx="0" cy="0"/>
          <a:chOff x="0" y="0"/>
          <a:chExt cx="0" cy="0"/>
        </a:xfrm>
      </p:grpSpPr>
      <p:sp>
        <p:nvSpPr>
          <p:cNvPr id="154" name="Google Shape;154;p17"/>
          <p:cNvSpPr/>
          <p:nvPr/>
        </p:nvSpPr>
        <p:spPr>
          <a:xfrm>
            <a:off x="384050" y="1573375"/>
            <a:ext cx="2377500" cy="13719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7"/>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6" name="Google Shape;156;p17"/>
          <p:cNvSpPr/>
          <p:nvPr/>
        </p:nvSpPr>
        <p:spPr>
          <a:xfrm>
            <a:off x="0" y="640080"/>
            <a:ext cx="9144000" cy="366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7" name="Google Shape;157;p17"/>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Clr>
                <a:srgbClr val="FFFFFF"/>
              </a:buClr>
              <a:buSzPts val="1500"/>
              <a:buFont typeface="Arial"/>
              <a:buNone/>
            </a:pPr>
            <a:r>
              <a:rPr b="1" lang="zh-CN" sz="1500">
                <a:solidFill>
                  <a:srgbClr val="FFFFFF"/>
                </a:solidFill>
                <a:latin typeface="Arial"/>
                <a:ea typeface="Arial"/>
                <a:cs typeface="Arial"/>
                <a:sym typeface="Arial"/>
              </a:rPr>
              <a:t>R1 Product Owner</a:t>
            </a:r>
            <a:endParaRPr/>
          </a:p>
        </p:txBody>
      </p:sp>
      <p:sp>
        <p:nvSpPr>
          <p:cNvPr id="158" name="Google Shape;158;p17"/>
          <p:cNvSpPr txBox="1"/>
          <p:nvPr/>
        </p:nvSpPr>
        <p:spPr>
          <a:xfrm>
            <a:off x="384050" y="676675"/>
            <a:ext cx="8517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b="1" lang="zh-CN" sz="2400">
                <a:solidFill>
                  <a:srgbClr val="0F172A"/>
                </a:solidFill>
                <a:latin typeface="Poppins"/>
                <a:ea typeface="Poppins"/>
                <a:cs typeface="Poppins"/>
                <a:sym typeface="Poppins"/>
              </a:rPr>
              <a:t>Sprint goal statement</a:t>
            </a:r>
            <a:endParaRPr sz="2400">
              <a:solidFill>
                <a:schemeClr val="dk2"/>
              </a:solidFill>
            </a:endParaRPr>
          </a:p>
        </p:txBody>
      </p:sp>
      <p:sp>
        <p:nvSpPr>
          <p:cNvPr id="159" name="Google Shape;159;p17"/>
          <p:cNvSpPr txBox="1"/>
          <p:nvPr/>
        </p:nvSpPr>
        <p:spPr>
          <a:xfrm>
            <a:off x="384050" y="1122725"/>
            <a:ext cx="8789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zh-CN" sz="1000">
                <a:solidFill>
                  <a:srgbClr val="64748B"/>
                </a:solidFill>
                <a:latin typeface="Lato"/>
                <a:ea typeface="Lato"/>
                <a:cs typeface="Lato"/>
                <a:sym typeface="Lato"/>
              </a:rPr>
              <a:t>One slide for definition of done, calibration context, and the weekly decision question.</a:t>
            </a:r>
            <a:endParaRPr sz="1000">
              <a:solidFill>
                <a:schemeClr val="dk2"/>
              </a:solidFill>
            </a:endParaRPr>
          </a:p>
        </p:txBody>
      </p:sp>
      <p:sp>
        <p:nvSpPr>
          <p:cNvPr id="160" name="Google Shape;160;p17"/>
          <p:cNvSpPr txBox="1"/>
          <p:nvPr/>
        </p:nvSpPr>
        <p:spPr>
          <a:xfrm>
            <a:off x="461950" y="1683875"/>
            <a:ext cx="166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a:solidFill>
                  <a:schemeClr val="dk1"/>
                </a:solidFill>
                <a:highlight>
                  <a:srgbClr val="FFFFFF"/>
                </a:highlight>
                <a:latin typeface="Lato"/>
                <a:ea typeface="Lato"/>
                <a:cs typeface="Lato"/>
                <a:sym typeface="Lato"/>
              </a:rPr>
              <a:t>Last Week Score</a:t>
            </a:r>
            <a:r>
              <a:rPr lang="zh-CN" sz="1100">
                <a:solidFill>
                  <a:schemeClr val="dk1"/>
                </a:solidFill>
              </a:rPr>
              <a:t> </a:t>
            </a:r>
            <a:endParaRPr sz="1800">
              <a:solidFill>
                <a:schemeClr val="dk2"/>
              </a:solidFill>
            </a:endParaRPr>
          </a:p>
        </p:txBody>
      </p:sp>
      <p:sp>
        <p:nvSpPr>
          <p:cNvPr id="161" name="Google Shape;161;p17"/>
          <p:cNvSpPr/>
          <p:nvPr/>
        </p:nvSpPr>
        <p:spPr>
          <a:xfrm>
            <a:off x="6013400" y="1573375"/>
            <a:ext cx="2377500" cy="13719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7"/>
          <p:cNvSpPr/>
          <p:nvPr/>
        </p:nvSpPr>
        <p:spPr>
          <a:xfrm>
            <a:off x="3198725" y="1573375"/>
            <a:ext cx="2377500" cy="13719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17"/>
          <p:cNvSpPr txBox="1"/>
          <p:nvPr/>
        </p:nvSpPr>
        <p:spPr>
          <a:xfrm>
            <a:off x="461950" y="2037875"/>
            <a:ext cx="1396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3600">
                <a:solidFill>
                  <a:srgbClr val="8B5CF6"/>
                </a:solidFill>
                <a:highlight>
                  <a:srgbClr val="FFFFFF"/>
                </a:highlight>
                <a:latin typeface="Poppins"/>
                <a:ea typeface="Poppins"/>
                <a:cs typeface="Poppins"/>
                <a:sym typeface="Poppins"/>
              </a:rPr>
              <a:t>-5</a:t>
            </a:r>
            <a:r>
              <a:rPr lang="zh-CN" sz="1100">
                <a:solidFill>
                  <a:schemeClr val="dk1"/>
                </a:solidFill>
              </a:rPr>
              <a:t> </a:t>
            </a:r>
            <a:endParaRPr sz="1800">
              <a:solidFill>
                <a:schemeClr val="dk2"/>
              </a:solidFill>
            </a:endParaRPr>
          </a:p>
        </p:txBody>
      </p:sp>
      <p:sp>
        <p:nvSpPr>
          <p:cNvPr id="164" name="Google Shape;164;p17"/>
          <p:cNvSpPr txBox="1"/>
          <p:nvPr/>
        </p:nvSpPr>
        <p:spPr>
          <a:xfrm>
            <a:off x="3360725" y="1683875"/>
            <a:ext cx="205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a:solidFill>
                  <a:schemeClr val="dk1"/>
                </a:solidFill>
                <a:highlight>
                  <a:srgbClr val="FFFFFF"/>
                </a:highlight>
                <a:latin typeface="Lato"/>
                <a:ea typeface="Lato"/>
                <a:cs typeface="Lato"/>
                <a:sym typeface="Lato"/>
              </a:rPr>
              <a:t>Primary Question</a:t>
            </a:r>
            <a:r>
              <a:rPr b="1" lang="zh-CN">
                <a:solidFill>
                  <a:schemeClr val="dk1"/>
                </a:solidFill>
              </a:rPr>
              <a:t> </a:t>
            </a:r>
            <a:endParaRPr b="1">
              <a:solidFill>
                <a:schemeClr val="dk1"/>
              </a:solidFill>
            </a:endParaRPr>
          </a:p>
        </p:txBody>
      </p:sp>
      <p:sp>
        <p:nvSpPr>
          <p:cNvPr id="165" name="Google Shape;165;p17"/>
          <p:cNvSpPr txBox="1"/>
          <p:nvPr/>
        </p:nvSpPr>
        <p:spPr>
          <a:xfrm>
            <a:off x="3198725" y="2037875"/>
            <a:ext cx="2474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3600">
                <a:solidFill>
                  <a:srgbClr val="3B82F6"/>
                </a:solidFill>
                <a:highlight>
                  <a:srgbClr val="FFFFFF"/>
                </a:highlight>
                <a:latin typeface="Poppins"/>
                <a:ea typeface="Poppins"/>
                <a:cs typeface="Poppins"/>
                <a:sym typeface="Poppins"/>
              </a:rPr>
              <a:t>[Bearish]</a:t>
            </a:r>
            <a:r>
              <a:rPr lang="zh-CN" sz="1100">
                <a:solidFill>
                  <a:schemeClr val="dk1"/>
                </a:solidFill>
              </a:rPr>
              <a:t> </a:t>
            </a:r>
            <a:endParaRPr sz="1800">
              <a:solidFill>
                <a:schemeClr val="dk2"/>
              </a:solidFill>
            </a:endParaRPr>
          </a:p>
        </p:txBody>
      </p:sp>
      <p:sp>
        <p:nvSpPr>
          <p:cNvPr id="166" name="Google Shape;166;p17"/>
          <p:cNvSpPr txBox="1"/>
          <p:nvPr/>
        </p:nvSpPr>
        <p:spPr>
          <a:xfrm>
            <a:off x="6259500" y="1683875"/>
            <a:ext cx="166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a:solidFill>
                  <a:schemeClr val="dk1"/>
                </a:solidFill>
                <a:highlight>
                  <a:srgbClr val="FFFFFF"/>
                </a:highlight>
                <a:latin typeface="Lato"/>
                <a:ea typeface="Lato"/>
                <a:cs typeface="Lato"/>
                <a:sym typeface="Lato"/>
              </a:rPr>
              <a:t>Release no.</a:t>
            </a:r>
            <a:r>
              <a:rPr b="1" lang="zh-CN" sz="1200">
                <a:solidFill>
                  <a:schemeClr val="dk1"/>
                </a:solidFill>
              </a:rPr>
              <a:t> </a:t>
            </a:r>
            <a:endParaRPr b="1" sz="1200">
              <a:solidFill>
                <a:schemeClr val="dk1"/>
              </a:solidFill>
            </a:endParaRPr>
          </a:p>
        </p:txBody>
      </p:sp>
      <p:sp>
        <p:nvSpPr>
          <p:cNvPr id="167" name="Google Shape;167;p17"/>
          <p:cNvSpPr txBox="1"/>
          <p:nvPr/>
        </p:nvSpPr>
        <p:spPr>
          <a:xfrm>
            <a:off x="6259500" y="2037875"/>
            <a:ext cx="1254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3600">
                <a:solidFill>
                  <a:srgbClr val="10B981"/>
                </a:solidFill>
                <a:highlight>
                  <a:srgbClr val="FFFFFF"/>
                </a:highlight>
                <a:latin typeface="Poppins"/>
                <a:ea typeface="Poppins"/>
                <a:cs typeface="Poppins"/>
                <a:sym typeface="Poppins"/>
              </a:rPr>
              <a:t>W30</a:t>
            </a:r>
            <a:r>
              <a:rPr lang="zh-CN" sz="1100">
                <a:solidFill>
                  <a:schemeClr val="dk1"/>
                </a:solidFill>
              </a:rPr>
              <a:t> </a:t>
            </a:r>
            <a:endParaRPr sz="1800">
              <a:solidFill>
                <a:schemeClr val="dk2"/>
              </a:solidFill>
            </a:endParaRPr>
          </a:p>
        </p:txBody>
      </p:sp>
      <p:sp>
        <p:nvSpPr>
          <p:cNvPr id="168" name="Google Shape;168;p17"/>
          <p:cNvSpPr/>
          <p:nvPr/>
        </p:nvSpPr>
        <p:spPr>
          <a:xfrm>
            <a:off x="384050" y="3109450"/>
            <a:ext cx="3789600" cy="18444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10560000" dist="76200">
              <a:srgbClr val="0000FF">
                <a:alpha val="5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17"/>
          <p:cNvSpPr txBox="1"/>
          <p:nvPr/>
        </p:nvSpPr>
        <p:spPr>
          <a:xfrm>
            <a:off x="461950" y="3109450"/>
            <a:ext cx="3588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zh-CN">
                <a:solidFill>
                  <a:srgbClr val="0F172A"/>
                </a:solidFill>
                <a:latin typeface="Poppins"/>
                <a:ea typeface="Poppins"/>
                <a:cs typeface="Poppins"/>
                <a:sym typeface="Poppins"/>
              </a:rPr>
              <a:t>Sprint Goal</a:t>
            </a:r>
            <a:endParaRPr>
              <a:solidFill>
                <a:schemeClr val="dk2"/>
              </a:solidFill>
            </a:endParaRPr>
          </a:p>
        </p:txBody>
      </p:sp>
      <p:sp>
        <p:nvSpPr>
          <p:cNvPr id="170" name="Google Shape;170;p17"/>
          <p:cNvSpPr txBox="1"/>
          <p:nvPr/>
        </p:nvSpPr>
        <p:spPr>
          <a:xfrm>
            <a:off x="461950" y="3509650"/>
            <a:ext cx="3588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000">
                <a:solidFill>
                  <a:schemeClr val="dk1"/>
                </a:solidFill>
                <a:latin typeface="Poppins"/>
                <a:ea typeface="Poppins"/>
                <a:cs typeface="Poppins"/>
                <a:sym typeface="Poppins"/>
              </a:rPr>
              <a:t>Deliver a reliable, clean, and properly synchronized W30 forecasting pipeline covering SPX, NDX, IWM, and all 11 sector ETFs. Fix R8/R7 logical conflicts and enforce hard NaN validation to ensure data integrity</a:t>
            </a:r>
            <a:r>
              <a:rPr lang="zh-CN" sz="1000">
                <a:solidFill>
                  <a:schemeClr val="dk1"/>
                </a:solidFill>
                <a:highlight>
                  <a:srgbClr val="FFFFFF"/>
                </a:highlight>
                <a:latin typeface="Lato"/>
                <a:ea typeface="Lato"/>
                <a:cs typeface="Lato"/>
                <a:sym typeface="Lato"/>
              </a:rPr>
              <a:t>.</a:t>
            </a:r>
            <a:r>
              <a:rPr lang="zh-CN" sz="1000">
                <a:solidFill>
                  <a:schemeClr val="dk1"/>
                </a:solidFill>
              </a:rPr>
              <a:t> </a:t>
            </a:r>
            <a:endParaRPr sz="1000">
              <a:solidFill>
                <a:schemeClr val="dk1"/>
              </a:solidFill>
            </a:endParaRPr>
          </a:p>
        </p:txBody>
      </p:sp>
      <p:sp>
        <p:nvSpPr>
          <p:cNvPr id="171" name="Google Shape;171;p17"/>
          <p:cNvSpPr/>
          <p:nvPr/>
        </p:nvSpPr>
        <p:spPr>
          <a:xfrm>
            <a:off x="4572000" y="3109450"/>
            <a:ext cx="3789600" cy="18444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10560000" dist="76200">
              <a:srgbClr val="2FB344">
                <a:alpha val="5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17"/>
          <p:cNvSpPr txBox="1"/>
          <p:nvPr/>
        </p:nvSpPr>
        <p:spPr>
          <a:xfrm>
            <a:off x="4668675" y="3091275"/>
            <a:ext cx="3429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100"/>
              </a:spcAft>
              <a:buNone/>
            </a:pPr>
            <a:r>
              <a:rPr b="1" lang="zh-CN">
                <a:solidFill>
                  <a:srgbClr val="0F172A"/>
                </a:solidFill>
                <a:latin typeface="Poppins"/>
                <a:ea typeface="Poppins"/>
                <a:cs typeface="Poppins"/>
                <a:sym typeface="Poppins"/>
              </a:rPr>
              <a:t>Done Means</a:t>
            </a:r>
            <a:endParaRPr sz="1800">
              <a:solidFill>
                <a:schemeClr val="dk2"/>
              </a:solidFill>
            </a:endParaRPr>
          </a:p>
        </p:txBody>
      </p:sp>
      <p:pic>
        <p:nvPicPr>
          <p:cNvPr descr="image.png" id="173" name="Google Shape;173;p17"/>
          <p:cNvPicPr preferRelativeResize="0"/>
          <p:nvPr/>
        </p:nvPicPr>
        <p:blipFill rotWithShape="1">
          <a:blip r:embed="rId3">
            <a:alphaModFix/>
          </a:blip>
          <a:srcRect b="0" l="0" r="0" t="0"/>
          <a:stretch/>
        </p:blipFill>
        <p:spPr>
          <a:xfrm>
            <a:off x="4668676" y="3491475"/>
            <a:ext cx="229775" cy="242525"/>
          </a:xfrm>
          <a:prstGeom prst="rect">
            <a:avLst/>
          </a:prstGeom>
          <a:noFill/>
          <a:ln>
            <a:noFill/>
          </a:ln>
        </p:spPr>
      </p:pic>
      <p:pic>
        <p:nvPicPr>
          <p:cNvPr descr="image.png" id="174" name="Google Shape;174;p17"/>
          <p:cNvPicPr preferRelativeResize="0"/>
          <p:nvPr/>
        </p:nvPicPr>
        <p:blipFill rotWithShape="1">
          <a:blip r:embed="rId3">
            <a:alphaModFix/>
          </a:blip>
          <a:srcRect b="0" l="0" r="0" t="0"/>
          <a:stretch/>
        </p:blipFill>
        <p:spPr>
          <a:xfrm>
            <a:off x="4668676" y="3805975"/>
            <a:ext cx="229775" cy="242525"/>
          </a:xfrm>
          <a:prstGeom prst="rect">
            <a:avLst/>
          </a:prstGeom>
          <a:noFill/>
          <a:ln>
            <a:noFill/>
          </a:ln>
        </p:spPr>
      </p:pic>
      <p:pic>
        <p:nvPicPr>
          <p:cNvPr descr="image.png" id="175" name="Google Shape;175;p17"/>
          <p:cNvPicPr preferRelativeResize="0"/>
          <p:nvPr/>
        </p:nvPicPr>
        <p:blipFill rotWithShape="1">
          <a:blip r:embed="rId3">
            <a:alphaModFix/>
          </a:blip>
          <a:srcRect b="0" l="0" r="0" t="0"/>
          <a:stretch/>
        </p:blipFill>
        <p:spPr>
          <a:xfrm>
            <a:off x="4668676" y="4120475"/>
            <a:ext cx="229775" cy="242525"/>
          </a:xfrm>
          <a:prstGeom prst="rect">
            <a:avLst/>
          </a:prstGeom>
          <a:noFill/>
          <a:ln>
            <a:noFill/>
          </a:ln>
        </p:spPr>
      </p:pic>
      <p:pic>
        <p:nvPicPr>
          <p:cNvPr descr="image.png" id="176" name="Google Shape;176;p17"/>
          <p:cNvPicPr preferRelativeResize="0"/>
          <p:nvPr/>
        </p:nvPicPr>
        <p:blipFill rotWithShape="1">
          <a:blip r:embed="rId3">
            <a:alphaModFix/>
          </a:blip>
          <a:srcRect b="0" l="0" r="0" t="0"/>
          <a:stretch/>
        </p:blipFill>
        <p:spPr>
          <a:xfrm>
            <a:off x="4668676" y="4434975"/>
            <a:ext cx="229775" cy="242525"/>
          </a:xfrm>
          <a:prstGeom prst="rect">
            <a:avLst/>
          </a:prstGeom>
          <a:noFill/>
          <a:ln>
            <a:noFill/>
          </a:ln>
        </p:spPr>
      </p:pic>
      <p:sp>
        <p:nvSpPr>
          <p:cNvPr id="177" name="Google Shape;177;p17"/>
          <p:cNvSpPr txBox="1"/>
          <p:nvPr/>
        </p:nvSpPr>
        <p:spPr>
          <a:xfrm>
            <a:off x="4960275" y="3435737"/>
            <a:ext cx="2845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100">
                <a:solidFill>
                  <a:schemeClr val="dk1"/>
                </a:solidFill>
                <a:latin typeface="Lato"/>
                <a:ea typeface="Lato"/>
                <a:cs typeface="Lato"/>
                <a:sym typeface="Lato"/>
              </a:rPr>
              <a:t> R3-R8 evidence submitted &amp; labelled</a:t>
            </a:r>
            <a:r>
              <a:rPr b="1" lang="zh-CN" sz="1100">
                <a:solidFill>
                  <a:schemeClr val="dk1"/>
                </a:solidFill>
                <a:highlight>
                  <a:srgbClr val="FFFFFF"/>
                </a:highlight>
                <a:latin typeface="Lato"/>
                <a:ea typeface="Lato"/>
                <a:cs typeface="Lato"/>
                <a:sym typeface="Lato"/>
              </a:rPr>
              <a:t>.</a:t>
            </a:r>
            <a:r>
              <a:rPr b="1" lang="zh-CN" sz="1100">
                <a:solidFill>
                  <a:schemeClr val="dk1"/>
                </a:solidFill>
              </a:rPr>
              <a:t> </a:t>
            </a:r>
            <a:endParaRPr b="1" sz="1100">
              <a:solidFill>
                <a:schemeClr val="dk1"/>
              </a:solidFill>
            </a:endParaRPr>
          </a:p>
        </p:txBody>
      </p:sp>
      <p:sp>
        <p:nvSpPr>
          <p:cNvPr id="178" name="Google Shape;178;p17"/>
          <p:cNvSpPr txBox="1"/>
          <p:nvPr/>
        </p:nvSpPr>
        <p:spPr>
          <a:xfrm>
            <a:off x="4960275" y="3732850"/>
            <a:ext cx="2554200" cy="3540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0"/>
              </a:spcBef>
              <a:spcAft>
                <a:spcPts val="0"/>
              </a:spcAft>
              <a:buNone/>
            </a:pPr>
            <a:r>
              <a:rPr b="1" lang="zh-CN" sz="1100">
                <a:solidFill>
                  <a:schemeClr val="dk1"/>
                </a:solidFill>
                <a:latin typeface="Lato"/>
                <a:ea typeface="Lato"/>
                <a:cs typeface="Lato"/>
                <a:sym typeface="Lato"/>
              </a:rPr>
              <a:t>All NaN values strictly fail workflow.</a:t>
            </a:r>
            <a:endParaRPr b="1" sz="1100">
              <a:solidFill>
                <a:schemeClr val="dk1"/>
              </a:solidFill>
            </a:endParaRPr>
          </a:p>
        </p:txBody>
      </p:sp>
      <p:sp>
        <p:nvSpPr>
          <p:cNvPr id="179" name="Google Shape;179;p17"/>
          <p:cNvSpPr txBox="1"/>
          <p:nvPr/>
        </p:nvSpPr>
        <p:spPr>
          <a:xfrm>
            <a:off x="4960275" y="4045525"/>
            <a:ext cx="3137400" cy="3924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0"/>
              </a:spcBef>
              <a:spcAft>
                <a:spcPts val="0"/>
              </a:spcAft>
              <a:buNone/>
            </a:pPr>
            <a:r>
              <a:rPr b="1" lang="zh-CN" sz="1100">
                <a:solidFill>
                  <a:schemeClr val="dk1"/>
                </a:solidFill>
                <a:latin typeface="Lato"/>
                <a:ea typeface="Lato"/>
                <a:cs typeface="Lato"/>
                <a:sym typeface="Lato"/>
              </a:rPr>
              <a:t>R8 synthesis template standardized</a:t>
            </a:r>
            <a:r>
              <a:rPr lang="zh-CN" sz="1350">
                <a:solidFill>
                  <a:srgbClr val="334155"/>
                </a:solidFill>
                <a:latin typeface="Lato"/>
                <a:ea typeface="Lato"/>
                <a:cs typeface="Lato"/>
                <a:sym typeface="Lato"/>
              </a:rPr>
              <a:t>.</a:t>
            </a:r>
            <a:endParaRPr sz="1800">
              <a:solidFill>
                <a:schemeClr val="dk2"/>
              </a:solidFill>
            </a:endParaRPr>
          </a:p>
        </p:txBody>
      </p:sp>
      <p:sp>
        <p:nvSpPr>
          <p:cNvPr id="180" name="Google Shape;180;p17"/>
          <p:cNvSpPr txBox="1"/>
          <p:nvPr/>
        </p:nvSpPr>
        <p:spPr>
          <a:xfrm>
            <a:off x="4960275" y="4328225"/>
            <a:ext cx="2845800" cy="3924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0"/>
              </a:spcBef>
              <a:spcAft>
                <a:spcPts val="0"/>
              </a:spcAft>
              <a:buNone/>
            </a:pPr>
            <a:r>
              <a:rPr b="1" lang="zh-CN" sz="1100">
                <a:solidFill>
                  <a:schemeClr val="dk1"/>
                </a:solidFill>
                <a:latin typeface="Lato"/>
                <a:ea typeface="Lato"/>
                <a:cs typeface="Lato"/>
                <a:sym typeface="Lato"/>
              </a:rPr>
              <a:t> Human override confirmed by PO</a:t>
            </a:r>
            <a:r>
              <a:rPr lang="zh-CN" sz="1350">
                <a:solidFill>
                  <a:srgbClr val="334155"/>
                </a:solidFill>
                <a:latin typeface="Lato"/>
                <a:ea typeface="Lato"/>
                <a:cs typeface="Lato"/>
                <a:sym typeface="Lato"/>
              </a:rPr>
              <a:t>.</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DFE"/>
        </a:solidFill>
      </p:bgPr>
    </p:bg>
    <p:spTree>
      <p:nvGrpSpPr>
        <p:cNvPr id="184" name="Shape 184"/>
        <p:cNvGrpSpPr/>
        <p:nvPr/>
      </p:nvGrpSpPr>
      <p:grpSpPr>
        <a:xfrm>
          <a:off x="0" y="0"/>
          <a:ext cx="0" cy="0"/>
          <a:chOff x="0" y="0"/>
          <a:chExt cx="0" cy="0"/>
        </a:xfrm>
      </p:grpSpPr>
      <p:sp>
        <p:nvSpPr>
          <p:cNvPr id="185" name="Google Shape;185;p18"/>
          <p:cNvSpPr/>
          <p:nvPr/>
        </p:nvSpPr>
        <p:spPr>
          <a:xfrm>
            <a:off x="4803400" y="3500475"/>
            <a:ext cx="3803100" cy="13716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10800000" dist="76200">
              <a:srgbClr val="2E7D32">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18"/>
          <p:cNvSpPr/>
          <p:nvPr/>
        </p:nvSpPr>
        <p:spPr>
          <a:xfrm>
            <a:off x="532675" y="3500425"/>
            <a:ext cx="3621900" cy="13716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10800000" dist="76200">
              <a:srgbClr val="0000FF">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18"/>
          <p:cNvSpPr/>
          <p:nvPr/>
        </p:nvSpPr>
        <p:spPr>
          <a:xfrm>
            <a:off x="6072175" y="1913413"/>
            <a:ext cx="2385300" cy="1371600"/>
          </a:xfrm>
          <a:prstGeom prst="roundRect">
            <a:avLst>
              <a:gd fmla="val 16667" name="adj"/>
            </a:avLst>
          </a:prstGeom>
          <a:solidFill>
            <a:schemeClr val="lt1"/>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18"/>
          <p:cNvSpPr/>
          <p:nvPr/>
        </p:nvSpPr>
        <p:spPr>
          <a:xfrm>
            <a:off x="3286575" y="1913413"/>
            <a:ext cx="2385300" cy="1371600"/>
          </a:xfrm>
          <a:prstGeom prst="roundRect">
            <a:avLst>
              <a:gd fmla="val 16667" name="adj"/>
            </a:avLst>
          </a:prstGeom>
          <a:solidFill>
            <a:schemeClr val="lt1"/>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18"/>
          <p:cNvSpPr/>
          <p:nvPr/>
        </p:nvSpPr>
        <p:spPr>
          <a:xfrm>
            <a:off x="428625" y="1913400"/>
            <a:ext cx="2385300" cy="1371600"/>
          </a:xfrm>
          <a:prstGeom prst="roundRect">
            <a:avLst>
              <a:gd fmla="val 16667" name="adj"/>
            </a:avLst>
          </a:prstGeom>
          <a:solidFill>
            <a:schemeClr val="lt1"/>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1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descr="image.png" id="191" name="Google Shape;191;p18"/>
          <p:cNvPicPr preferRelativeResize="0"/>
          <p:nvPr/>
        </p:nvPicPr>
        <p:blipFill rotWithShape="1">
          <a:blip r:embed="rId3">
            <a:alphaModFix/>
          </a:blip>
          <a:srcRect b="0" l="0" r="0" t="0"/>
          <a:stretch/>
        </p:blipFill>
        <p:spPr>
          <a:xfrm>
            <a:off x="0" y="0"/>
            <a:ext cx="9144000" cy="714375"/>
          </a:xfrm>
          <a:prstGeom prst="rect">
            <a:avLst/>
          </a:prstGeom>
          <a:noFill/>
          <a:ln>
            <a:noFill/>
          </a:ln>
        </p:spPr>
      </p:pic>
      <p:sp>
        <p:nvSpPr>
          <p:cNvPr id="192" name="Google Shape;192;p18"/>
          <p:cNvSpPr/>
          <p:nvPr/>
        </p:nvSpPr>
        <p:spPr>
          <a:xfrm>
            <a:off x="0" y="623375"/>
            <a:ext cx="9144000" cy="35100"/>
          </a:xfrm>
          <a:prstGeom prst="rect">
            <a:avLst/>
          </a:prstGeom>
          <a:solidFill>
            <a:srgbClr val="6366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3" name="Google Shape;193;p18"/>
          <p:cNvSpPr txBox="1"/>
          <p:nvPr/>
        </p:nvSpPr>
        <p:spPr>
          <a:xfrm>
            <a:off x="428625" y="185738"/>
            <a:ext cx="21453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800" u="none" cap="none" strike="noStrike">
                <a:solidFill>
                  <a:srgbClr val="FFFFFF"/>
                </a:solidFill>
                <a:latin typeface="Poppins"/>
                <a:ea typeface="Poppins"/>
                <a:cs typeface="Poppins"/>
                <a:sym typeface="Poppins"/>
              </a:rPr>
              <a:t>R1 Product Owner</a:t>
            </a:r>
            <a:endParaRPr sz="1100"/>
          </a:p>
        </p:txBody>
      </p:sp>
      <p:sp>
        <p:nvSpPr>
          <p:cNvPr id="194" name="Google Shape;194;p18"/>
          <p:cNvSpPr txBox="1"/>
          <p:nvPr/>
        </p:nvSpPr>
        <p:spPr>
          <a:xfrm>
            <a:off x="8501063" y="232172"/>
            <a:ext cx="2145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100"/>
          </a:p>
        </p:txBody>
      </p:sp>
      <p:sp>
        <p:nvSpPr>
          <p:cNvPr id="195" name="Google Shape;195;p18"/>
          <p:cNvSpPr txBox="1"/>
          <p:nvPr/>
        </p:nvSpPr>
        <p:spPr>
          <a:xfrm>
            <a:off x="428625" y="1042988"/>
            <a:ext cx="87012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0F172A"/>
                </a:solidFill>
                <a:latin typeface="Poppins"/>
                <a:ea typeface="Poppins"/>
                <a:cs typeface="Poppins"/>
                <a:sym typeface="Poppins"/>
              </a:rPr>
              <a:t>Forecast contract</a:t>
            </a:r>
            <a:endParaRPr sz="1100"/>
          </a:p>
        </p:txBody>
      </p:sp>
      <p:sp>
        <p:nvSpPr>
          <p:cNvPr id="196" name="Google Shape;196;p18"/>
          <p:cNvSpPr txBox="1"/>
          <p:nvPr/>
        </p:nvSpPr>
        <p:spPr>
          <a:xfrm>
            <a:off x="428625" y="1528763"/>
            <a:ext cx="82869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00" u="none" cap="none" strike="noStrike">
                <a:solidFill>
                  <a:srgbClr val="64748B"/>
                </a:solidFill>
                <a:latin typeface="Lato"/>
                <a:ea typeface="Lato"/>
                <a:cs typeface="Lato"/>
                <a:sym typeface="Lato"/>
              </a:rPr>
              <a:t>Use for the final Product Owner statement: what the team is committing to forecast this week.</a:t>
            </a:r>
            <a:endParaRPr sz="1100"/>
          </a:p>
        </p:txBody>
      </p:sp>
      <p:sp>
        <p:nvSpPr>
          <p:cNvPr id="197" name="Google Shape;197;p18"/>
          <p:cNvSpPr txBox="1"/>
          <p:nvPr/>
        </p:nvSpPr>
        <p:spPr>
          <a:xfrm>
            <a:off x="614374" y="2100275"/>
            <a:ext cx="21453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400" u="none" cap="none" strike="noStrike">
                <a:solidFill>
                  <a:srgbClr val="0F172A"/>
                </a:solidFill>
                <a:latin typeface="Poppins"/>
                <a:ea typeface="Poppins"/>
                <a:cs typeface="Poppins"/>
                <a:sym typeface="Poppins"/>
              </a:rPr>
              <a:t>SPX</a:t>
            </a:r>
            <a:endParaRPr sz="1100"/>
          </a:p>
        </p:txBody>
      </p:sp>
      <p:sp>
        <p:nvSpPr>
          <p:cNvPr id="198" name="Google Shape;198;p18"/>
          <p:cNvSpPr txBox="1"/>
          <p:nvPr/>
        </p:nvSpPr>
        <p:spPr>
          <a:xfrm>
            <a:off x="614363" y="2457450"/>
            <a:ext cx="227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000" u="none" cap="none" strike="noStrike">
                <a:solidFill>
                  <a:schemeClr val="dk1"/>
                </a:solidFill>
                <a:latin typeface="Lato"/>
                <a:ea typeface="Lato"/>
                <a:cs typeface="Lato"/>
                <a:sym typeface="Lato"/>
              </a:rPr>
              <a:t>Direction: </a:t>
            </a:r>
            <a:r>
              <a:rPr b="0" i="0" lang="zh-CN" sz="1000" u="none" cap="none" strike="noStrike">
                <a:solidFill>
                  <a:srgbClr val="0F172A"/>
                </a:solidFill>
                <a:latin typeface="Lato"/>
                <a:ea typeface="Lato"/>
                <a:cs typeface="Lato"/>
                <a:sym typeface="Lato"/>
              </a:rPr>
              <a:t>Down</a:t>
            </a:r>
            <a:endParaRPr sz="1100"/>
          </a:p>
        </p:txBody>
      </p:sp>
      <p:sp>
        <p:nvSpPr>
          <p:cNvPr id="199" name="Google Shape;199;p18"/>
          <p:cNvSpPr txBox="1"/>
          <p:nvPr/>
        </p:nvSpPr>
        <p:spPr>
          <a:xfrm>
            <a:off x="614363" y="2671763"/>
            <a:ext cx="227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000" u="none" cap="none" strike="noStrike">
                <a:solidFill>
                  <a:schemeClr val="dk1"/>
                </a:solidFill>
                <a:latin typeface="Lato"/>
                <a:ea typeface="Lato"/>
                <a:cs typeface="Lato"/>
                <a:sym typeface="Lato"/>
              </a:rPr>
              <a:t>Range: </a:t>
            </a:r>
            <a:r>
              <a:rPr b="0" i="0" lang="zh-CN" sz="1000" u="none" cap="none" strike="noStrike">
                <a:solidFill>
                  <a:srgbClr val="0F172A"/>
                </a:solidFill>
                <a:latin typeface="Lato"/>
                <a:ea typeface="Lato"/>
                <a:cs typeface="Lato"/>
                <a:sym typeface="Lato"/>
              </a:rPr>
              <a:t>6238.01 - 7609.78</a:t>
            </a:r>
            <a:endParaRPr sz="1100"/>
          </a:p>
        </p:txBody>
      </p:sp>
      <p:sp>
        <p:nvSpPr>
          <p:cNvPr id="200" name="Google Shape;200;p18"/>
          <p:cNvSpPr txBox="1"/>
          <p:nvPr/>
        </p:nvSpPr>
        <p:spPr>
          <a:xfrm>
            <a:off x="614363" y="2886075"/>
            <a:ext cx="227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000" u="none" cap="none" strike="noStrike">
                <a:solidFill>
                  <a:schemeClr val="dk1"/>
                </a:solidFill>
                <a:latin typeface="Lato"/>
                <a:ea typeface="Lato"/>
                <a:cs typeface="Lato"/>
                <a:sym typeface="Lato"/>
              </a:rPr>
              <a:t>Confidence: </a:t>
            </a:r>
            <a:r>
              <a:rPr b="0" i="0" lang="zh-CN" sz="1000" u="none" cap="none" strike="noStrike">
                <a:solidFill>
                  <a:srgbClr val="0F172A"/>
                </a:solidFill>
                <a:latin typeface="Lato"/>
                <a:ea typeface="Lato"/>
                <a:cs typeface="Lato"/>
                <a:sym typeface="Lato"/>
              </a:rPr>
              <a:t>Medium</a:t>
            </a:r>
            <a:endParaRPr sz="1100"/>
          </a:p>
        </p:txBody>
      </p:sp>
      <p:sp>
        <p:nvSpPr>
          <p:cNvPr id="201" name="Google Shape;201;p18"/>
          <p:cNvSpPr txBox="1"/>
          <p:nvPr/>
        </p:nvSpPr>
        <p:spPr>
          <a:xfrm>
            <a:off x="3436149" y="2100269"/>
            <a:ext cx="21453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400" u="none" cap="none" strike="noStrike">
                <a:solidFill>
                  <a:srgbClr val="0F172A"/>
                </a:solidFill>
                <a:latin typeface="Poppins"/>
                <a:ea typeface="Poppins"/>
                <a:cs typeface="Poppins"/>
                <a:sym typeface="Poppins"/>
              </a:rPr>
              <a:t>NDX</a:t>
            </a:r>
            <a:endParaRPr sz="1100"/>
          </a:p>
        </p:txBody>
      </p:sp>
      <p:sp>
        <p:nvSpPr>
          <p:cNvPr id="202" name="Google Shape;202;p18"/>
          <p:cNvSpPr txBox="1"/>
          <p:nvPr/>
        </p:nvSpPr>
        <p:spPr>
          <a:xfrm>
            <a:off x="3436144" y="2457450"/>
            <a:ext cx="227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000" u="none" cap="none" strike="noStrike">
                <a:solidFill>
                  <a:schemeClr val="dk1"/>
                </a:solidFill>
                <a:latin typeface="Lato"/>
                <a:ea typeface="Lato"/>
                <a:cs typeface="Lato"/>
                <a:sym typeface="Lato"/>
              </a:rPr>
              <a:t>Direction:</a:t>
            </a:r>
            <a:r>
              <a:rPr b="0" i="0" lang="zh-CN" sz="1000" u="none" cap="none" strike="noStrike">
                <a:solidFill>
                  <a:srgbClr val="64748B"/>
                </a:solidFill>
                <a:latin typeface="Lato"/>
                <a:ea typeface="Lato"/>
                <a:cs typeface="Lato"/>
                <a:sym typeface="Lato"/>
              </a:rPr>
              <a:t> </a:t>
            </a:r>
            <a:r>
              <a:rPr b="0" i="0" lang="zh-CN" sz="1000" u="none" cap="none" strike="noStrike">
                <a:solidFill>
                  <a:srgbClr val="0F172A"/>
                </a:solidFill>
                <a:latin typeface="Lato"/>
                <a:ea typeface="Lato"/>
                <a:cs typeface="Lato"/>
                <a:sym typeface="Lato"/>
              </a:rPr>
              <a:t>Down</a:t>
            </a:r>
            <a:endParaRPr sz="1100"/>
          </a:p>
        </p:txBody>
      </p:sp>
      <p:sp>
        <p:nvSpPr>
          <p:cNvPr id="203" name="Google Shape;203;p18"/>
          <p:cNvSpPr txBox="1"/>
          <p:nvPr/>
        </p:nvSpPr>
        <p:spPr>
          <a:xfrm>
            <a:off x="3436144" y="2671763"/>
            <a:ext cx="227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000" u="none" cap="none" strike="noStrike">
                <a:solidFill>
                  <a:schemeClr val="dk1"/>
                </a:solidFill>
                <a:latin typeface="Lato"/>
                <a:ea typeface="Lato"/>
                <a:cs typeface="Lato"/>
                <a:sym typeface="Lato"/>
              </a:rPr>
              <a:t>Range: </a:t>
            </a:r>
            <a:r>
              <a:rPr b="0" i="0" lang="zh-CN" sz="1000" u="none" cap="none" strike="noStrike">
                <a:solidFill>
                  <a:srgbClr val="0F172A"/>
                </a:solidFill>
                <a:latin typeface="Lato"/>
                <a:ea typeface="Lato"/>
                <a:cs typeface="Lato"/>
                <a:sym typeface="Lato"/>
              </a:rPr>
              <a:t>22763.31 - 30660.60</a:t>
            </a:r>
            <a:endParaRPr sz="1100"/>
          </a:p>
        </p:txBody>
      </p:sp>
      <p:sp>
        <p:nvSpPr>
          <p:cNvPr id="204" name="Google Shape;204;p18"/>
          <p:cNvSpPr txBox="1"/>
          <p:nvPr/>
        </p:nvSpPr>
        <p:spPr>
          <a:xfrm>
            <a:off x="3436144" y="2886075"/>
            <a:ext cx="227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000" u="none" cap="none" strike="noStrike">
                <a:solidFill>
                  <a:schemeClr val="dk1"/>
                </a:solidFill>
                <a:latin typeface="Lato"/>
                <a:ea typeface="Lato"/>
                <a:cs typeface="Lato"/>
                <a:sym typeface="Lato"/>
              </a:rPr>
              <a:t>Confidence: </a:t>
            </a:r>
            <a:r>
              <a:rPr b="0" i="0" lang="zh-CN" sz="1000" u="none" cap="none" strike="noStrike">
                <a:solidFill>
                  <a:srgbClr val="0F172A"/>
                </a:solidFill>
                <a:latin typeface="Lato"/>
                <a:ea typeface="Lato"/>
                <a:cs typeface="Lato"/>
                <a:sym typeface="Lato"/>
              </a:rPr>
              <a:t>Medium</a:t>
            </a:r>
            <a:endParaRPr sz="1100"/>
          </a:p>
        </p:txBody>
      </p:sp>
      <p:sp>
        <p:nvSpPr>
          <p:cNvPr id="205" name="Google Shape;205;p18"/>
          <p:cNvSpPr txBox="1"/>
          <p:nvPr/>
        </p:nvSpPr>
        <p:spPr>
          <a:xfrm>
            <a:off x="6257925" y="2100275"/>
            <a:ext cx="21453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400" u="none" cap="none" strike="noStrike">
                <a:solidFill>
                  <a:srgbClr val="0F172A"/>
                </a:solidFill>
                <a:latin typeface="Poppins"/>
                <a:ea typeface="Poppins"/>
                <a:cs typeface="Poppins"/>
                <a:sym typeface="Poppins"/>
              </a:rPr>
              <a:t>IWM</a:t>
            </a:r>
            <a:endParaRPr sz="1100"/>
          </a:p>
        </p:txBody>
      </p:sp>
      <p:sp>
        <p:nvSpPr>
          <p:cNvPr id="206" name="Google Shape;206;p18"/>
          <p:cNvSpPr txBox="1"/>
          <p:nvPr/>
        </p:nvSpPr>
        <p:spPr>
          <a:xfrm>
            <a:off x="6257925" y="2457450"/>
            <a:ext cx="227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000" u="none" cap="none" strike="noStrike">
                <a:solidFill>
                  <a:schemeClr val="dk1"/>
                </a:solidFill>
                <a:latin typeface="Lato"/>
                <a:ea typeface="Lato"/>
                <a:cs typeface="Lato"/>
                <a:sym typeface="Lato"/>
              </a:rPr>
              <a:t>Direction: </a:t>
            </a:r>
            <a:r>
              <a:rPr b="0" i="0" lang="zh-CN" sz="1000" u="none" cap="none" strike="noStrike">
                <a:solidFill>
                  <a:srgbClr val="0F172A"/>
                </a:solidFill>
                <a:latin typeface="Lato"/>
                <a:ea typeface="Lato"/>
                <a:cs typeface="Lato"/>
                <a:sym typeface="Lato"/>
              </a:rPr>
              <a:t>Down</a:t>
            </a:r>
            <a:endParaRPr sz="1100"/>
          </a:p>
        </p:txBody>
      </p:sp>
      <p:sp>
        <p:nvSpPr>
          <p:cNvPr id="207" name="Google Shape;207;p18"/>
          <p:cNvSpPr txBox="1"/>
          <p:nvPr/>
        </p:nvSpPr>
        <p:spPr>
          <a:xfrm>
            <a:off x="6257925" y="2671763"/>
            <a:ext cx="227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000" u="none" cap="none" strike="noStrike">
                <a:solidFill>
                  <a:schemeClr val="dk1"/>
                </a:solidFill>
                <a:latin typeface="Lato"/>
                <a:ea typeface="Lato"/>
                <a:cs typeface="Lato"/>
                <a:sym typeface="Lato"/>
              </a:rPr>
              <a:t>Range: </a:t>
            </a:r>
            <a:r>
              <a:rPr b="0" i="0" lang="zh-CN" sz="1000" u="none" cap="none" strike="noStrike">
                <a:solidFill>
                  <a:srgbClr val="0F172A"/>
                </a:solidFill>
                <a:latin typeface="Lato"/>
                <a:ea typeface="Lato"/>
                <a:cs typeface="Lato"/>
                <a:sym typeface="Lato"/>
              </a:rPr>
              <a:t>212.71 - 300.45</a:t>
            </a:r>
            <a:endParaRPr sz="1100"/>
          </a:p>
        </p:txBody>
      </p:sp>
      <p:sp>
        <p:nvSpPr>
          <p:cNvPr id="208" name="Google Shape;208;p18"/>
          <p:cNvSpPr txBox="1"/>
          <p:nvPr/>
        </p:nvSpPr>
        <p:spPr>
          <a:xfrm>
            <a:off x="6257925" y="2886075"/>
            <a:ext cx="22719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000" u="none" cap="none" strike="noStrike">
                <a:solidFill>
                  <a:schemeClr val="dk1"/>
                </a:solidFill>
                <a:latin typeface="Lato"/>
                <a:ea typeface="Lato"/>
                <a:cs typeface="Lato"/>
                <a:sym typeface="Lato"/>
              </a:rPr>
              <a:t>Confidence: </a:t>
            </a:r>
            <a:r>
              <a:rPr b="0" i="0" lang="zh-CN" sz="1000" u="none" cap="none" strike="noStrike">
                <a:solidFill>
                  <a:srgbClr val="0F172A"/>
                </a:solidFill>
                <a:latin typeface="Lato"/>
                <a:ea typeface="Lato"/>
                <a:cs typeface="Lato"/>
                <a:sym typeface="Lato"/>
              </a:rPr>
              <a:t>Medium</a:t>
            </a:r>
            <a:endParaRPr sz="1100"/>
          </a:p>
        </p:txBody>
      </p:sp>
      <p:sp>
        <p:nvSpPr>
          <p:cNvPr id="209" name="Google Shape;209;p18"/>
          <p:cNvSpPr txBox="1"/>
          <p:nvPr/>
        </p:nvSpPr>
        <p:spPr>
          <a:xfrm>
            <a:off x="664369" y="3679031"/>
            <a:ext cx="3803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100" u="none" cap="none" strike="noStrike">
                <a:solidFill>
                  <a:srgbClr val="000000"/>
                </a:solidFill>
                <a:latin typeface="Poppins"/>
                <a:ea typeface="Poppins"/>
                <a:cs typeface="Poppins"/>
                <a:sym typeface="Poppins"/>
              </a:rPr>
              <a:t>Assumptions</a:t>
            </a:r>
            <a:endParaRPr sz="1100"/>
          </a:p>
        </p:txBody>
      </p:sp>
      <p:sp>
        <p:nvSpPr>
          <p:cNvPr id="210" name="Google Shape;210;p18"/>
          <p:cNvSpPr txBox="1"/>
          <p:nvPr/>
        </p:nvSpPr>
        <p:spPr>
          <a:xfrm>
            <a:off x="664369" y="3886200"/>
            <a:ext cx="36219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900" u="none" cap="none" strike="noStrike">
                <a:solidFill>
                  <a:srgbClr val="000000"/>
                </a:solidFill>
                <a:latin typeface="Lato"/>
                <a:ea typeface="Lato"/>
                <a:cs typeface="Lato"/>
                <a:sym typeface="Lato"/>
              </a:rPr>
              <a:t>1. Main macro driver remains Rising Oil &amp; Treasury Yields.</a:t>
            </a:r>
            <a:endParaRPr sz="1100"/>
          </a:p>
        </p:txBody>
      </p:sp>
      <p:sp>
        <p:nvSpPr>
          <p:cNvPr id="211" name="Google Shape;211;p18"/>
          <p:cNvSpPr txBox="1"/>
          <p:nvPr/>
        </p:nvSpPr>
        <p:spPr>
          <a:xfrm>
            <a:off x="664369" y="4021931"/>
            <a:ext cx="36219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900" u="none" cap="none" strike="noStrike">
                <a:solidFill>
                  <a:srgbClr val="000000"/>
                </a:solidFill>
                <a:latin typeface="Lato"/>
                <a:ea typeface="Lato"/>
                <a:cs typeface="Lato"/>
                <a:sym typeface="Lato"/>
              </a:rPr>
              <a:t>2. Technical invalidation level is Price cross above EMA 21.</a:t>
            </a:r>
            <a:endParaRPr sz="1100"/>
          </a:p>
        </p:txBody>
      </p:sp>
      <p:sp>
        <p:nvSpPr>
          <p:cNvPr id="212" name="Google Shape;212;p18"/>
          <p:cNvSpPr txBox="1"/>
          <p:nvPr/>
        </p:nvSpPr>
        <p:spPr>
          <a:xfrm>
            <a:off x="664369" y="4157663"/>
            <a:ext cx="36219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900" u="none" cap="none" strike="noStrike">
                <a:solidFill>
                  <a:srgbClr val="000000"/>
                </a:solidFill>
                <a:latin typeface="Lato"/>
                <a:ea typeface="Lato"/>
                <a:cs typeface="Lato"/>
                <a:sym typeface="Lato"/>
              </a:rPr>
              <a:t>3. Human override is </a:t>
            </a:r>
            <a:r>
              <a:rPr b="1" i="0" lang="zh-CN" sz="900" u="none" cap="none" strike="noStrike">
                <a:solidFill>
                  <a:srgbClr val="000000"/>
                </a:solidFill>
                <a:latin typeface="Lato"/>
                <a:ea typeface="Lato"/>
                <a:cs typeface="Lato"/>
                <a:sym typeface="Lato"/>
              </a:rPr>
              <a:t>applied</a:t>
            </a:r>
            <a:r>
              <a:rPr b="0" i="0" lang="zh-CN" sz="900" u="none" cap="none" strike="noStrike">
                <a:solidFill>
                  <a:srgbClr val="000000"/>
                </a:solidFill>
                <a:latin typeface="Lato"/>
                <a:ea typeface="Lato"/>
                <a:cs typeface="Lato"/>
                <a:sym typeface="Lato"/>
              </a:rPr>
              <a:t> (Overriding AI Sideways Bias).</a:t>
            </a:r>
            <a:endParaRPr sz="1100"/>
          </a:p>
        </p:txBody>
      </p:sp>
      <p:sp>
        <p:nvSpPr>
          <p:cNvPr id="213" name="Google Shape;213;p18"/>
          <p:cNvSpPr txBox="1"/>
          <p:nvPr/>
        </p:nvSpPr>
        <p:spPr>
          <a:xfrm>
            <a:off x="4914900" y="3679031"/>
            <a:ext cx="3803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100" u="none" cap="none" strike="noStrike">
                <a:solidFill>
                  <a:srgbClr val="000000"/>
                </a:solidFill>
                <a:latin typeface="Poppins"/>
                <a:ea typeface="Poppins"/>
                <a:cs typeface="Poppins"/>
                <a:sym typeface="Poppins"/>
              </a:rPr>
              <a:t>Definition of done</a:t>
            </a:r>
            <a:endParaRPr sz="1100"/>
          </a:p>
        </p:txBody>
      </p:sp>
      <p:sp>
        <p:nvSpPr>
          <p:cNvPr id="214" name="Google Shape;214;p18"/>
          <p:cNvSpPr txBox="1"/>
          <p:nvPr/>
        </p:nvSpPr>
        <p:spPr>
          <a:xfrm>
            <a:off x="4914900" y="3886200"/>
            <a:ext cx="36219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900" u="none" cap="none" strike="noStrike">
                <a:solidFill>
                  <a:srgbClr val="000000"/>
                </a:solidFill>
                <a:latin typeface="Lato"/>
                <a:ea typeface="Lato"/>
                <a:cs typeface="Lato"/>
                <a:sym typeface="Lato"/>
              </a:rPr>
              <a:t>All role evidence is submitted, labelled, committed to GitHub, and ready for R10 calibration after market actuals.</a:t>
            </a:r>
            <a:endParaRPr sz="1100"/>
          </a:p>
        </p:txBody>
      </p:sp>
      <p:sp>
        <p:nvSpPr>
          <p:cNvPr id="215" name="Google Shape;215;p18"/>
          <p:cNvSpPr txBox="1"/>
          <p:nvPr/>
        </p:nvSpPr>
        <p:spPr>
          <a:xfrm>
            <a:off x="4914900" y="4229100"/>
            <a:ext cx="36219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900" u="none" cap="none" strike="noStrike">
                <a:solidFill>
                  <a:srgbClr val="10B981"/>
                </a:solidFill>
                <a:latin typeface="Lato"/>
                <a:ea typeface="Lato"/>
                <a:cs typeface="Lato"/>
                <a:sym typeface="Lato"/>
              </a:rPr>
              <a:t>[vW30 RELEASE LOCKED]</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20" name="Shape 220"/>
        <p:cNvGrpSpPr/>
        <p:nvPr/>
      </p:nvGrpSpPr>
      <p:grpSpPr>
        <a:xfrm>
          <a:off x="0" y="0"/>
          <a:ext cx="0" cy="0"/>
          <a:chOff x="0" y="0"/>
          <a:chExt cx="0" cy="0"/>
        </a:xfrm>
      </p:grpSpPr>
      <p:sp>
        <p:nvSpPr>
          <p:cNvPr id="221" name="Google Shape;221;p19"/>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2" name="Google Shape;222;p19"/>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b="1" lang="zh-CN" sz="1500">
                <a:solidFill>
                  <a:srgbClr val="FFFFFF"/>
                </a:solidFill>
              </a:rPr>
              <a:t>R6 Data Lead</a:t>
            </a:r>
            <a:endParaRPr b="1" sz="1500">
              <a:solidFill>
                <a:srgbClr val="FFFFFF"/>
              </a:solidFill>
            </a:endParaRPr>
          </a:p>
        </p:txBody>
      </p:sp>
      <p:sp>
        <p:nvSpPr>
          <p:cNvPr id="223" name="Google Shape;223;p19"/>
          <p:cNvSpPr/>
          <p:nvPr/>
        </p:nvSpPr>
        <p:spPr>
          <a:xfrm>
            <a:off x="0" y="640080"/>
            <a:ext cx="9144000" cy="366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9"/>
          <p:cNvSpPr/>
          <p:nvPr/>
        </p:nvSpPr>
        <p:spPr>
          <a:xfrm>
            <a:off x="384050" y="949675"/>
            <a:ext cx="19050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5C9F"/>
              </a:buClr>
              <a:buSzPts val="804"/>
              <a:buFont typeface="Arial"/>
              <a:buNone/>
            </a:pPr>
            <a:r>
              <a:rPr b="1" i="0" lang="zh-CN" sz="1604" u="none" cap="none" strike="noStrike">
                <a:solidFill>
                  <a:srgbClr val="245C9F"/>
                </a:solidFill>
                <a:latin typeface="Arial"/>
                <a:ea typeface="Arial"/>
                <a:cs typeface="Arial"/>
                <a:sym typeface="Arial"/>
              </a:rPr>
              <a:t>OBJECTIVE</a:t>
            </a:r>
            <a:r>
              <a:rPr b="1" lang="zh-CN" sz="1604">
                <a:solidFill>
                  <a:srgbClr val="245C9F"/>
                </a:solidFill>
              </a:rPr>
              <a:t>S</a:t>
            </a:r>
            <a:endParaRPr b="0" i="0" sz="1604" u="none" cap="none" strike="noStrike">
              <a:solidFill>
                <a:srgbClr val="245C9F"/>
              </a:solidFill>
              <a:latin typeface="Arial"/>
              <a:ea typeface="Arial"/>
              <a:cs typeface="Arial"/>
              <a:sym typeface="Arial"/>
            </a:endParaRPr>
          </a:p>
        </p:txBody>
      </p:sp>
      <p:sp>
        <p:nvSpPr>
          <p:cNvPr id="225" name="Google Shape;225;p19"/>
          <p:cNvSpPr txBox="1"/>
          <p:nvPr/>
        </p:nvSpPr>
        <p:spPr>
          <a:xfrm>
            <a:off x="384050" y="1220600"/>
            <a:ext cx="8209500" cy="461700"/>
          </a:xfrm>
          <a:prstGeom prst="rect">
            <a:avLst/>
          </a:prstGeom>
          <a:noFill/>
          <a:ln>
            <a:noFill/>
          </a:ln>
        </p:spPr>
        <p:txBody>
          <a:bodyPr anchorCtr="0" anchor="t" bIns="45700" lIns="45700" spcFirstLastPara="1" rIns="45700" wrap="square" tIns="45700">
            <a:spAutoFit/>
          </a:bodyPr>
          <a:lstStyle/>
          <a:p>
            <a:pPr indent="-304800" lvl="0" marL="457200" marR="0" rtl="0" algn="l">
              <a:spcBef>
                <a:spcPts val="0"/>
              </a:spcBef>
              <a:spcAft>
                <a:spcPts val="0"/>
              </a:spcAft>
              <a:buClr>
                <a:srgbClr val="56657D"/>
              </a:buClr>
              <a:buSzPts val="1200"/>
              <a:buFont typeface="Arial"/>
              <a:buChar char="●"/>
            </a:pPr>
            <a:r>
              <a:rPr lang="zh-CN" sz="1200">
                <a:solidFill>
                  <a:srgbClr val="56657D"/>
                </a:solidFill>
              </a:rPr>
              <a:t>Implement validation of output files</a:t>
            </a:r>
            <a:endParaRPr sz="1200">
              <a:solidFill>
                <a:srgbClr val="56657D"/>
              </a:solidFill>
            </a:endParaRPr>
          </a:p>
          <a:p>
            <a:pPr indent="-304800" lvl="0" marL="457200" marR="0" rtl="0" algn="l">
              <a:spcBef>
                <a:spcPts val="0"/>
              </a:spcBef>
              <a:spcAft>
                <a:spcPts val="0"/>
              </a:spcAft>
              <a:buClr>
                <a:srgbClr val="56657D"/>
              </a:buClr>
              <a:buSzPts val="1200"/>
              <a:buChar char="●"/>
            </a:pPr>
            <a:r>
              <a:rPr lang="zh-CN" sz="1200">
                <a:solidFill>
                  <a:srgbClr val="56657D"/>
                </a:solidFill>
              </a:rPr>
              <a:t>Ensure that the pipeline can run properly with minimal (or no) human intervention</a:t>
            </a:r>
            <a:endParaRPr sz="1200">
              <a:solidFill>
                <a:srgbClr val="56657D"/>
              </a:solidFill>
            </a:endParaRPr>
          </a:p>
        </p:txBody>
      </p:sp>
      <p:pic>
        <p:nvPicPr>
          <p:cNvPr id="226" name="Google Shape;226;p19" title="Screenshot 2026-07-25 at 1.20.43 AM.png"/>
          <p:cNvPicPr preferRelativeResize="0"/>
          <p:nvPr/>
        </p:nvPicPr>
        <p:blipFill>
          <a:blip r:embed="rId3">
            <a:alphaModFix/>
          </a:blip>
          <a:stretch>
            <a:fillRect/>
          </a:stretch>
        </p:blipFill>
        <p:spPr>
          <a:xfrm>
            <a:off x="1385925" y="1916753"/>
            <a:ext cx="6372149" cy="2892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31" name="Shape 231"/>
        <p:cNvGrpSpPr/>
        <p:nvPr/>
      </p:nvGrpSpPr>
      <p:grpSpPr>
        <a:xfrm>
          <a:off x="0" y="0"/>
          <a:ext cx="0" cy="0"/>
          <a:chOff x="0" y="0"/>
          <a:chExt cx="0" cy="0"/>
        </a:xfrm>
      </p:grpSpPr>
      <p:sp>
        <p:nvSpPr>
          <p:cNvPr id="232" name="Google Shape;232;p20"/>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3" name="Google Shape;233;p20"/>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b="1" lang="zh-CN" sz="1500">
                <a:solidFill>
                  <a:srgbClr val="FFFFFF"/>
                </a:solidFill>
              </a:rPr>
              <a:t>R6 Data Lead</a:t>
            </a:r>
            <a:endParaRPr b="1" sz="1500">
              <a:solidFill>
                <a:srgbClr val="FFFFFF"/>
              </a:solidFill>
            </a:endParaRPr>
          </a:p>
        </p:txBody>
      </p:sp>
      <p:sp>
        <p:nvSpPr>
          <p:cNvPr id="234" name="Google Shape;234;p20"/>
          <p:cNvSpPr/>
          <p:nvPr/>
        </p:nvSpPr>
        <p:spPr>
          <a:xfrm>
            <a:off x="0" y="640080"/>
            <a:ext cx="9144000" cy="366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20"/>
          <p:cNvSpPr/>
          <p:nvPr/>
        </p:nvSpPr>
        <p:spPr>
          <a:xfrm>
            <a:off x="384051" y="949675"/>
            <a:ext cx="7805700" cy="32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5C9F"/>
              </a:buClr>
              <a:buSzPts val="804"/>
              <a:buFont typeface="Arial"/>
              <a:buNone/>
            </a:pPr>
            <a:r>
              <a:rPr b="1" lang="zh-CN" sz="1604">
                <a:solidFill>
                  <a:srgbClr val="245C9F"/>
                </a:solidFill>
              </a:rPr>
              <a:t>ACTUALS</a:t>
            </a:r>
            <a:endParaRPr b="0" i="0" sz="1604" u="none" cap="none" strike="noStrike">
              <a:solidFill>
                <a:srgbClr val="245C9F"/>
              </a:solidFill>
              <a:latin typeface="Arial"/>
              <a:ea typeface="Arial"/>
              <a:cs typeface="Arial"/>
              <a:sym typeface="Arial"/>
            </a:endParaRPr>
          </a:p>
        </p:txBody>
      </p:sp>
      <p:sp>
        <p:nvSpPr>
          <p:cNvPr id="236" name="Google Shape;236;p20"/>
          <p:cNvSpPr/>
          <p:nvPr/>
        </p:nvSpPr>
        <p:spPr>
          <a:xfrm>
            <a:off x="54608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37" name="Google Shape;237;p20"/>
          <p:cNvSpPr txBox="1"/>
          <p:nvPr/>
        </p:nvSpPr>
        <p:spPr>
          <a:xfrm>
            <a:off x="673220" y="15097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latin typeface="Arial"/>
                <a:ea typeface="Arial"/>
                <a:cs typeface="Arial"/>
                <a:sym typeface="Arial"/>
              </a:rPr>
              <a:t>SPX</a:t>
            </a:r>
            <a:endParaRPr sz="1800"/>
          </a:p>
        </p:txBody>
      </p:sp>
      <p:sp>
        <p:nvSpPr>
          <p:cNvPr id="238" name="Google Shape;238;p20"/>
          <p:cNvSpPr txBox="1"/>
          <p:nvPr/>
        </p:nvSpPr>
        <p:spPr>
          <a:xfrm>
            <a:off x="673220" y="1937582"/>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rgbClr val="000000"/>
              </a:buClr>
              <a:buFont typeface="Arial"/>
              <a:buNone/>
            </a:pPr>
            <a:r>
              <a:rPr b="1" lang="zh-CN" sz="2000">
                <a:solidFill>
                  <a:srgbClr val="D64545"/>
                </a:solidFill>
              </a:rPr>
              <a:t>-0.61%</a:t>
            </a:r>
            <a:endParaRPr/>
          </a:p>
        </p:txBody>
      </p:sp>
      <p:sp>
        <p:nvSpPr>
          <p:cNvPr id="239" name="Google Shape;239;p20"/>
          <p:cNvSpPr/>
          <p:nvPr/>
        </p:nvSpPr>
        <p:spPr>
          <a:xfrm>
            <a:off x="219881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40" name="Google Shape;240;p20"/>
          <p:cNvSpPr txBox="1"/>
          <p:nvPr/>
        </p:nvSpPr>
        <p:spPr>
          <a:xfrm>
            <a:off x="2325950" y="15097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latin typeface="Arial"/>
                <a:ea typeface="Arial"/>
                <a:cs typeface="Arial"/>
                <a:sym typeface="Arial"/>
              </a:rPr>
              <a:t>NDX</a:t>
            </a:r>
            <a:endParaRPr sz="1800"/>
          </a:p>
        </p:txBody>
      </p:sp>
      <p:sp>
        <p:nvSpPr>
          <p:cNvPr id="241" name="Google Shape;241;p20"/>
          <p:cNvSpPr txBox="1"/>
          <p:nvPr/>
        </p:nvSpPr>
        <p:spPr>
          <a:xfrm>
            <a:off x="2325950" y="1937582"/>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rgbClr val="000000"/>
              </a:buClr>
              <a:buFont typeface="Arial"/>
              <a:buNone/>
            </a:pPr>
            <a:r>
              <a:rPr b="1" lang="zh-CN" sz="2000">
                <a:solidFill>
                  <a:srgbClr val="D64545"/>
                </a:solidFill>
              </a:rPr>
              <a:t>-1.62%</a:t>
            </a:r>
            <a:endParaRPr/>
          </a:p>
        </p:txBody>
      </p:sp>
      <p:sp>
        <p:nvSpPr>
          <p:cNvPr id="242" name="Google Shape;242;p20"/>
          <p:cNvSpPr/>
          <p:nvPr/>
        </p:nvSpPr>
        <p:spPr>
          <a:xfrm>
            <a:off x="385154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43" name="Google Shape;243;p20"/>
          <p:cNvSpPr txBox="1"/>
          <p:nvPr/>
        </p:nvSpPr>
        <p:spPr>
          <a:xfrm>
            <a:off x="3978680" y="15097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latin typeface="Arial"/>
                <a:ea typeface="Arial"/>
                <a:cs typeface="Arial"/>
                <a:sym typeface="Arial"/>
              </a:rPr>
              <a:t>IWM</a:t>
            </a:r>
            <a:endParaRPr sz="1800"/>
          </a:p>
        </p:txBody>
      </p:sp>
      <p:sp>
        <p:nvSpPr>
          <p:cNvPr id="244" name="Google Shape;244;p20"/>
          <p:cNvSpPr txBox="1"/>
          <p:nvPr/>
        </p:nvSpPr>
        <p:spPr>
          <a:xfrm>
            <a:off x="3978680" y="1937582"/>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2000">
                <a:solidFill>
                  <a:srgbClr val="D64545"/>
                </a:solidFill>
              </a:rPr>
              <a:t>-0.98%</a:t>
            </a:r>
            <a:endParaRPr/>
          </a:p>
        </p:txBody>
      </p:sp>
      <p:sp>
        <p:nvSpPr>
          <p:cNvPr id="245" name="Google Shape;245;p20"/>
          <p:cNvSpPr/>
          <p:nvPr/>
        </p:nvSpPr>
        <p:spPr>
          <a:xfrm>
            <a:off x="7157027"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46" name="Google Shape;246;p20"/>
          <p:cNvSpPr txBox="1"/>
          <p:nvPr/>
        </p:nvSpPr>
        <p:spPr>
          <a:xfrm>
            <a:off x="7284160" y="15097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XLC</a:t>
            </a:r>
            <a:endParaRPr sz="1800"/>
          </a:p>
        </p:txBody>
      </p:sp>
      <p:sp>
        <p:nvSpPr>
          <p:cNvPr id="247" name="Google Shape;247;p20"/>
          <p:cNvSpPr txBox="1"/>
          <p:nvPr/>
        </p:nvSpPr>
        <p:spPr>
          <a:xfrm>
            <a:off x="7284160" y="1937582"/>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2000">
                <a:solidFill>
                  <a:srgbClr val="D64545"/>
                </a:solidFill>
              </a:rPr>
              <a:t>-3.93%</a:t>
            </a:r>
            <a:endParaRPr/>
          </a:p>
        </p:txBody>
      </p:sp>
      <p:sp>
        <p:nvSpPr>
          <p:cNvPr id="248" name="Google Shape;248;p20"/>
          <p:cNvSpPr/>
          <p:nvPr/>
        </p:nvSpPr>
        <p:spPr>
          <a:xfrm>
            <a:off x="54608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49" name="Google Shape;249;p20"/>
          <p:cNvSpPr txBox="1"/>
          <p:nvPr/>
        </p:nvSpPr>
        <p:spPr>
          <a:xfrm>
            <a:off x="673220" y="26955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XLY</a:t>
            </a:r>
            <a:endParaRPr sz="1800"/>
          </a:p>
        </p:txBody>
      </p:sp>
      <p:sp>
        <p:nvSpPr>
          <p:cNvPr id="250" name="Google Shape;250;p20"/>
          <p:cNvSpPr txBox="1"/>
          <p:nvPr/>
        </p:nvSpPr>
        <p:spPr>
          <a:xfrm>
            <a:off x="673220" y="3123382"/>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rgbClr val="000000"/>
              </a:buClr>
              <a:buFont typeface="Arial"/>
              <a:buNone/>
            </a:pPr>
            <a:r>
              <a:rPr b="1" lang="zh-CN" sz="2000">
                <a:solidFill>
                  <a:srgbClr val="D64545"/>
                </a:solidFill>
              </a:rPr>
              <a:t>-5.22%</a:t>
            </a:r>
            <a:endParaRPr/>
          </a:p>
        </p:txBody>
      </p:sp>
      <p:sp>
        <p:nvSpPr>
          <p:cNvPr id="251" name="Google Shape;251;p20"/>
          <p:cNvSpPr/>
          <p:nvPr/>
        </p:nvSpPr>
        <p:spPr>
          <a:xfrm>
            <a:off x="219881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52" name="Google Shape;252;p20"/>
          <p:cNvSpPr txBox="1"/>
          <p:nvPr/>
        </p:nvSpPr>
        <p:spPr>
          <a:xfrm>
            <a:off x="2325950" y="26955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XLP</a:t>
            </a:r>
            <a:endParaRPr sz="1800"/>
          </a:p>
        </p:txBody>
      </p:sp>
      <p:sp>
        <p:nvSpPr>
          <p:cNvPr id="253" name="Google Shape;253;p20"/>
          <p:cNvSpPr txBox="1"/>
          <p:nvPr/>
        </p:nvSpPr>
        <p:spPr>
          <a:xfrm>
            <a:off x="2325950" y="3123382"/>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rgbClr val="000000"/>
              </a:buClr>
              <a:buFont typeface="Arial"/>
              <a:buNone/>
            </a:pPr>
            <a:r>
              <a:rPr b="1" lang="zh-CN" sz="2000">
                <a:solidFill>
                  <a:srgbClr val="D64545"/>
                </a:solidFill>
              </a:rPr>
              <a:t>-1.24%</a:t>
            </a:r>
            <a:endParaRPr/>
          </a:p>
        </p:txBody>
      </p:sp>
      <p:sp>
        <p:nvSpPr>
          <p:cNvPr id="254" name="Google Shape;254;p20"/>
          <p:cNvSpPr/>
          <p:nvPr/>
        </p:nvSpPr>
        <p:spPr>
          <a:xfrm>
            <a:off x="385154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55" name="Google Shape;255;p20"/>
          <p:cNvSpPr txBox="1"/>
          <p:nvPr/>
        </p:nvSpPr>
        <p:spPr>
          <a:xfrm>
            <a:off x="3978680" y="26955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XLE</a:t>
            </a:r>
            <a:endParaRPr sz="1800"/>
          </a:p>
        </p:txBody>
      </p:sp>
      <p:sp>
        <p:nvSpPr>
          <p:cNvPr id="256" name="Google Shape;256;p20"/>
          <p:cNvSpPr txBox="1"/>
          <p:nvPr/>
        </p:nvSpPr>
        <p:spPr>
          <a:xfrm>
            <a:off x="3978680" y="3123382"/>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rgbClr val="000000"/>
              </a:buClr>
              <a:buFont typeface="Arial"/>
              <a:buNone/>
            </a:pPr>
            <a:r>
              <a:rPr b="1" lang="zh-CN" sz="2000">
                <a:solidFill>
                  <a:srgbClr val="2FB344"/>
                </a:solidFill>
              </a:rPr>
              <a:t>+3.36%</a:t>
            </a:r>
            <a:endParaRPr/>
          </a:p>
        </p:txBody>
      </p:sp>
      <p:sp>
        <p:nvSpPr>
          <p:cNvPr id="257" name="Google Shape;257;p20"/>
          <p:cNvSpPr/>
          <p:nvPr/>
        </p:nvSpPr>
        <p:spPr>
          <a:xfrm>
            <a:off x="7157027"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58" name="Google Shape;258;p20"/>
          <p:cNvSpPr txBox="1"/>
          <p:nvPr/>
        </p:nvSpPr>
        <p:spPr>
          <a:xfrm>
            <a:off x="7284160" y="26955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XLV</a:t>
            </a:r>
            <a:endParaRPr sz="1800"/>
          </a:p>
        </p:txBody>
      </p:sp>
      <p:sp>
        <p:nvSpPr>
          <p:cNvPr id="259" name="Google Shape;259;p20"/>
          <p:cNvSpPr txBox="1"/>
          <p:nvPr/>
        </p:nvSpPr>
        <p:spPr>
          <a:xfrm>
            <a:off x="7284160" y="3123382"/>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2000">
                <a:solidFill>
                  <a:srgbClr val="2FB344"/>
                </a:solidFill>
              </a:rPr>
              <a:t>+0.92%</a:t>
            </a:r>
            <a:endParaRPr>
              <a:solidFill>
                <a:srgbClr val="2FB344"/>
              </a:solidFill>
            </a:endParaRPr>
          </a:p>
        </p:txBody>
      </p:sp>
      <p:sp>
        <p:nvSpPr>
          <p:cNvPr id="260" name="Google Shape;260;p20"/>
          <p:cNvSpPr/>
          <p:nvPr/>
        </p:nvSpPr>
        <p:spPr>
          <a:xfrm>
            <a:off x="546087"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61" name="Google Shape;261;p20"/>
          <p:cNvSpPr txBox="1"/>
          <p:nvPr/>
        </p:nvSpPr>
        <p:spPr>
          <a:xfrm>
            <a:off x="673220" y="38813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XLI</a:t>
            </a:r>
            <a:endParaRPr sz="1800"/>
          </a:p>
        </p:txBody>
      </p:sp>
      <p:sp>
        <p:nvSpPr>
          <p:cNvPr id="262" name="Google Shape;262;p20"/>
          <p:cNvSpPr txBox="1"/>
          <p:nvPr/>
        </p:nvSpPr>
        <p:spPr>
          <a:xfrm>
            <a:off x="673220" y="4309182"/>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rgbClr val="000000"/>
              </a:buClr>
              <a:buFont typeface="Arial"/>
              <a:buNone/>
            </a:pPr>
            <a:r>
              <a:rPr b="1" lang="zh-CN" sz="2000">
                <a:solidFill>
                  <a:srgbClr val="2FB344"/>
                </a:solidFill>
              </a:rPr>
              <a:t>+1.81%</a:t>
            </a:r>
            <a:endParaRPr>
              <a:solidFill>
                <a:srgbClr val="2FB344"/>
              </a:solidFill>
            </a:endParaRPr>
          </a:p>
        </p:txBody>
      </p:sp>
      <p:sp>
        <p:nvSpPr>
          <p:cNvPr id="263" name="Google Shape;263;p20"/>
          <p:cNvSpPr/>
          <p:nvPr/>
        </p:nvSpPr>
        <p:spPr>
          <a:xfrm>
            <a:off x="2198817"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64" name="Google Shape;264;p20"/>
          <p:cNvSpPr txBox="1"/>
          <p:nvPr/>
        </p:nvSpPr>
        <p:spPr>
          <a:xfrm>
            <a:off x="2325950" y="38813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XLB</a:t>
            </a:r>
            <a:endParaRPr sz="1800"/>
          </a:p>
        </p:txBody>
      </p:sp>
      <p:sp>
        <p:nvSpPr>
          <p:cNvPr id="265" name="Google Shape;265;p20"/>
          <p:cNvSpPr txBox="1"/>
          <p:nvPr/>
        </p:nvSpPr>
        <p:spPr>
          <a:xfrm>
            <a:off x="2325950" y="4309182"/>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rgbClr val="000000"/>
              </a:buClr>
              <a:buFont typeface="Arial"/>
              <a:buNone/>
            </a:pPr>
            <a:r>
              <a:rPr b="1" lang="zh-CN" sz="2000">
                <a:solidFill>
                  <a:srgbClr val="2FB344"/>
                </a:solidFill>
              </a:rPr>
              <a:t>+1.44%</a:t>
            </a:r>
            <a:endParaRPr>
              <a:solidFill>
                <a:srgbClr val="2FB344"/>
              </a:solidFill>
            </a:endParaRPr>
          </a:p>
        </p:txBody>
      </p:sp>
      <p:sp>
        <p:nvSpPr>
          <p:cNvPr id="266" name="Google Shape;266;p20"/>
          <p:cNvSpPr/>
          <p:nvPr/>
        </p:nvSpPr>
        <p:spPr>
          <a:xfrm>
            <a:off x="3851547"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67" name="Google Shape;267;p20"/>
          <p:cNvSpPr txBox="1"/>
          <p:nvPr/>
        </p:nvSpPr>
        <p:spPr>
          <a:xfrm>
            <a:off x="3978680" y="38813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XLRE</a:t>
            </a:r>
            <a:endParaRPr sz="1800"/>
          </a:p>
        </p:txBody>
      </p:sp>
      <p:sp>
        <p:nvSpPr>
          <p:cNvPr id="268" name="Google Shape;268;p20"/>
          <p:cNvSpPr txBox="1"/>
          <p:nvPr/>
        </p:nvSpPr>
        <p:spPr>
          <a:xfrm>
            <a:off x="3978680" y="4309182"/>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2000">
                <a:solidFill>
                  <a:srgbClr val="2FB344"/>
                </a:solidFill>
              </a:rPr>
              <a:t>+1.17%</a:t>
            </a:r>
            <a:endParaRPr>
              <a:solidFill>
                <a:srgbClr val="2FB344"/>
              </a:solidFill>
            </a:endParaRPr>
          </a:p>
        </p:txBody>
      </p:sp>
      <p:sp>
        <p:nvSpPr>
          <p:cNvPr id="269" name="Google Shape;269;p20"/>
          <p:cNvSpPr/>
          <p:nvPr/>
        </p:nvSpPr>
        <p:spPr>
          <a:xfrm>
            <a:off x="7157002"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70" name="Google Shape;270;p20"/>
          <p:cNvSpPr txBox="1"/>
          <p:nvPr/>
        </p:nvSpPr>
        <p:spPr>
          <a:xfrm>
            <a:off x="7284285" y="3881336"/>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TOP SECTOR</a:t>
            </a:r>
            <a:endParaRPr sz="1150"/>
          </a:p>
        </p:txBody>
      </p:sp>
      <p:sp>
        <p:nvSpPr>
          <p:cNvPr id="271" name="Google Shape;271;p20"/>
          <p:cNvSpPr txBox="1"/>
          <p:nvPr/>
        </p:nvSpPr>
        <p:spPr>
          <a:xfrm>
            <a:off x="7284285" y="4148950"/>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2000">
                <a:solidFill>
                  <a:srgbClr val="245C9F"/>
                </a:solidFill>
              </a:rPr>
              <a:t>XLF</a:t>
            </a:r>
            <a:endParaRPr>
              <a:solidFill>
                <a:srgbClr val="245C9F"/>
              </a:solidFill>
            </a:endParaRPr>
          </a:p>
        </p:txBody>
      </p:sp>
      <p:sp>
        <p:nvSpPr>
          <p:cNvPr id="272" name="Google Shape;272;p20"/>
          <p:cNvSpPr/>
          <p:nvPr/>
        </p:nvSpPr>
        <p:spPr>
          <a:xfrm>
            <a:off x="5504285" y="13807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73" name="Google Shape;273;p20"/>
          <p:cNvSpPr txBox="1"/>
          <p:nvPr/>
        </p:nvSpPr>
        <p:spPr>
          <a:xfrm>
            <a:off x="5631418" y="15097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XLK</a:t>
            </a:r>
            <a:endParaRPr sz="1800"/>
          </a:p>
        </p:txBody>
      </p:sp>
      <p:sp>
        <p:nvSpPr>
          <p:cNvPr id="274" name="Google Shape;274;p20"/>
          <p:cNvSpPr txBox="1"/>
          <p:nvPr/>
        </p:nvSpPr>
        <p:spPr>
          <a:xfrm>
            <a:off x="5631418" y="1937582"/>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2000">
                <a:solidFill>
                  <a:srgbClr val="2FB344"/>
                </a:solidFill>
              </a:rPr>
              <a:t>+0.17%</a:t>
            </a:r>
            <a:endParaRPr>
              <a:solidFill>
                <a:srgbClr val="2FB344"/>
              </a:solidFill>
            </a:endParaRPr>
          </a:p>
        </p:txBody>
      </p:sp>
      <p:sp>
        <p:nvSpPr>
          <p:cNvPr id="275" name="Google Shape;275;p20"/>
          <p:cNvSpPr/>
          <p:nvPr/>
        </p:nvSpPr>
        <p:spPr>
          <a:xfrm>
            <a:off x="5504285" y="25665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76" name="Google Shape;276;p20"/>
          <p:cNvSpPr txBox="1"/>
          <p:nvPr/>
        </p:nvSpPr>
        <p:spPr>
          <a:xfrm>
            <a:off x="5631418" y="26955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XLF</a:t>
            </a:r>
            <a:endParaRPr sz="1800"/>
          </a:p>
        </p:txBody>
      </p:sp>
      <p:sp>
        <p:nvSpPr>
          <p:cNvPr id="277" name="Google Shape;277;p20"/>
          <p:cNvSpPr txBox="1"/>
          <p:nvPr/>
        </p:nvSpPr>
        <p:spPr>
          <a:xfrm>
            <a:off x="5631418" y="3123382"/>
            <a:ext cx="11865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rgbClr val="000000"/>
              </a:buClr>
              <a:buFont typeface="Arial"/>
              <a:buNone/>
            </a:pPr>
            <a:r>
              <a:rPr b="1" lang="zh-CN" sz="2000">
                <a:solidFill>
                  <a:srgbClr val="2FB344"/>
                </a:solidFill>
              </a:rPr>
              <a:t>+0.09%</a:t>
            </a:r>
            <a:endParaRPr/>
          </a:p>
        </p:txBody>
      </p:sp>
      <p:sp>
        <p:nvSpPr>
          <p:cNvPr id="278" name="Google Shape;278;p20"/>
          <p:cNvSpPr/>
          <p:nvPr/>
        </p:nvSpPr>
        <p:spPr>
          <a:xfrm>
            <a:off x="5504285" y="3752326"/>
            <a:ext cx="1440900" cy="1024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79" name="Google Shape;279;p20"/>
          <p:cNvSpPr txBox="1"/>
          <p:nvPr/>
        </p:nvSpPr>
        <p:spPr>
          <a:xfrm>
            <a:off x="5631418" y="3881319"/>
            <a:ext cx="1186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50">
                <a:solidFill>
                  <a:srgbClr val="708099"/>
                </a:solidFill>
              </a:rPr>
              <a:t>XLU</a:t>
            </a:r>
            <a:endParaRPr sz="1800"/>
          </a:p>
        </p:txBody>
      </p:sp>
      <p:sp>
        <p:nvSpPr>
          <p:cNvPr id="280" name="Google Shape;280;p20"/>
          <p:cNvSpPr txBox="1"/>
          <p:nvPr/>
        </p:nvSpPr>
        <p:spPr>
          <a:xfrm>
            <a:off x="5631418" y="4309182"/>
            <a:ext cx="1186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2000">
                <a:solidFill>
                  <a:srgbClr val="2FB344"/>
                </a:solidFill>
              </a:rPr>
              <a:t>+2.48%</a:t>
            </a:r>
            <a:endParaRPr>
              <a:solidFill>
                <a:srgbClr val="2FB344"/>
              </a:solidFill>
            </a:endParaRPr>
          </a:p>
        </p:txBody>
      </p:sp>
      <p:sp>
        <p:nvSpPr>
          <p:cNvPr id="281" name="Google Shape;281;p20"/>
          <p:cNvSpPr txBox="1"/>
          <p:nvPr/>
        </p:nvSpPr>
        <p:spPr>
          <a:xfrm>
            <a:off x="673207" y="16994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S&amp;P 500</a:t>
            </a:r>
            <a:endParaRPr/>
          </a:p>
        </p:txBody>
      </p:sp>
      <p:sp>
        <p:nvSpPr>
          <p:cNvPr id="282" name="Google Shape;282;p20"/>
          <p:cNvSpPr txBox="1"/>
          <p:nvPr/>
        </p:nvSpPr>
        <p:spPr>
          <a:xfrm>
            <a:off x="2325938" y="16994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NASDAQ 100</a:t>
            </a:r>
            <a:endParaRPr/>
          </a:p>
        </p:txBody>
      </p:sp>
      <p:sp>
        <p:nvSpPr>
          <p:cNvPr id="283" name="Google Shape;283;p20"/>
          <p:cNvSpPr txBox="1"/>
          <p:nvPr/>
        </p:nvSpPr>
        <p:spPr>
          <a:xfrm>
            <a:off x="3978668" y="16994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Russell 2000</a:t>
            </a:r>
            <a:endParaRPr/>
          </a:p>
        </p:txBody>
      </p:sp>
      <p:sp>
        <p:nvSpPr>
          <p:cNvPr id="284" name="Google Shape;284;p20"/>
          <p:cNvSpPr txBox="1"/>
          <p:nvPr/>
        </p:nvSpPr>
        <p:spPr>
          <a:xfrm>
            <a:off x="7284148" y="16994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Communication Services</a:t>
            </a:r>
            <a:endParaRPr/>
          </a:p>
        </p:txBody>
      </p:sp>
      <p:sp>
        <p:nvSpPr>
          <p:cNvPr id="285" name="Google Shape;285;p20"/>
          <p:cNvSpPr txBox="1"/>
          <p:nvPr/>
        </p:nvSpPr>
        <p:spPr>
          <a:xfrm>
            <a:off x="673207" y="28852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Consumer Discretionary</a:t>
            </a:r>
            <a:endParaRPr/>
          </a:p>
        </p:txBody>
      </p:sp>
      <p:sp>
        <p:nvSpPr>
          <p:cNvPr id="286" name="Google Shape;286;p20"/>
          <p:cNvSpPr txBox="1"/>
          <p:nvPr/>
        </p:nvSpPr>
        <p:spPr>
          <a:xfrm>
            <a:off x="2325938" y="28852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Consumer Staples</a:t>
            </a:r>
            <a:endParaRPr/>
          </a:p>
        </p:txBody>
      </p:sp>
      <p:sp>
        <p:nvSpPr>
          <p:cNvPr id="287" name="Google Shape;287;p20"/>
          <p:cNvSpPr txBox="1"/>
          <p:nvPr/>
        </p:nvSpPr>
        <p:spPr>
          <a:xfrm>
            <a:off x="3978668" y="28852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Energy</a:t>
            </a:r>
            <a:endParaRPr/>
          </a:p>
        </p:txBody>
      </p:sp>
      <p:sp>
        <p:nvSpPr>
          <p:cNvPr id="288" name="Google Shape;288;p20"/>
          <p:cNvSpPr txBox="1"/>
          <p:nvPr/>
        </p:nvSpPr>
        <p:spPr>
          <a:xfrm>
            <a:off x="7284148" y="28852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Healthcare</a:t>
            </a:r>
            <a:endParaRPr/>
          </a:p>
        </p:txBody>
      </p:sp>
      <p:sp>
        <p:nvSpPr>
          <p:cNvPr id="289" name="Google Shape;289;p20"/>
          <p:cNvSpPr txBox="1"/>
          <p:nvPr/>
        </p:nvSpPr>
        <p:spPr>
          <a:xfrm>
            <a:off x="673207" y="40710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Industrials</a:t>
            </a:r>
            <a:endParaRPr/>
          </a:p>
        </p:txBody>
      </p:sp>
      <p:sp>
        <p:nvSpPr>
          <p:cNvPr id="290" name="Google Shape;290;p20"/>
          <p:cNvSpPr txBox="1"/>
          <p:nvPr/>
        </p:nvSpPr>
        <p:spPr>
          <a:xfrm>
            <a:off x="2325938" y="40710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Materials</a:t>
            </a:r>
            <a:endParaRPr/>
          </a:p>
        </p:txBody>
      </p:sp>
      <p:sp>
        <p:nvSpPr>
          <p:cNvPr id="291" name="Google Shape;291;p20"/>
          <p:cNvSpPr txBox="1"/>
          <p:nvPr/>
        </p:nvSpPr>
        <p:spPr>
          <a:xfrm>
            <a:off x="3978668" y="40710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Real Estate</a:t>
            </a:r>
            <a:endParaRPr/>
          </a:p>
        </p:txBody>
      </p:sp>
      <p:sp>
        <p:nvSpPr>
          <p:cNvPr id="292" name="Google Shape;292;p20"/>
          <p:cNvSpPr txBox="1"/>
          <p:nvPr/>
        </p:nvSpPr>
        <p:spPr>
          <a:xfrm>
            <a:off x="5631405" y="16994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Technology</a:t>
            </a:r>
            <a:endParaRPr/>
          </a:p>
        </p:txBody>
      </p:sp>
      <p:sp>
        <p:nvSpPr>
          <p:cNvPr id="293" name="Google Shape;293;p20"/>
          <p:cNvSpPr txBox="1"/>
          <p:nvPr/>
        </p:nvSpPr>
        <p:spPr>
          <a:xfrm>
            <a:off x="5631405" y="28852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Financials</a:t>
            </a:r>
            <a:endParaRPr/>
          </a:p>
        </p:txBody>
      </p:sp>
      <p:sp>
        <p:nvSpPr>
          <p:cNvPr id="294" name="Google Shape;294;p20"/>
          <p:cNvSpPr txBox="1"/>
          <p:nvPr/>
        </p:nvSpPr>
        <p:spPr>
          <a:xfrm>
            <a:off x="5631405" y="4071085"/>
            <a:ext cx="11865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750">
                <a:solidFill>
                  <a:srgbClr val="708099"/>
                </a:solidFill>
              </a:rPr>
              <a:t>Utilities</a:t>
            </a:r>
            <a:endParaRPr/>
          </a:p>
        </p:txBody>
      </p:sp>
      <p:sp>
        <p:nvSpPr>
          <p:cNvPr id="295" name="Google Shape;295;p20"/>
          <p:cNvSpPr txBox="1"/>
          <p:nvPr/>
        </p:nvSpPr>
        <p:spPr>
          <a:xfrm>
            <a:off x="7284275" y="4450748"/>
            <a:ext cx="1186500" cy="246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1000">
                <a:solidFill>
                  <a:srgbClr val="245C9F"/>
                </a:solidFill>
              </a:rPr>
              <a:t>Financials</a:t>
            </a:r>
            <a:endParaRPr sz="400">
              <a:solidFill>
                <a:srgbClr val="245C9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00" name="Shape 300"/>
        <p:cNvGrpSpPr/>
        <p:nvPr/>
      </p:nvGrpSpPr>
      <p:grpSpPr>
        <a:xfrm>
          <a:off x="0" y="0"/>
          <a:ext cx="0" cy="0"/>
          <a:chOff x="0" y="0"/>
          <a:chExt cx="0" cy="0"/>
        </a:xfrm>
      </p:grpSpPr>
      <p:sp>
        <p:nvSpPr>
          <p:cNvPr id="301" name="Google Shape;301;p21"/>
          <p:cNvSpPr/>
          <p:nvPr/>
        </p:nvSpPr>
        <p:spPr>
          <a:xfrm>
            <a:off x="148200" y="2858450"/>
            <a:ext cx="8879400" cy="2165400"/>
          </a:xfrm>
          <a:prstGeom prst="roundRect">
            <a:avLst>
              <a:gd fmla="val 3670" name="adj"/>
            </a:avLst>
          </a:prstGeom>
          <a:solidFill>
            <a:srgbClr val="FFFFFF"/>
          </a:solidFill>
          <a:ln cap="flat" cmpd="sng" w="6650">
            <a:solidFill>
              <a:srgbClr val="D5DDE8"/>
            </a:solidFill>
            <a:prstDash val="solid"/>
            <a:round/>
            <a:headEnd len="sm" w="sm" type="none"/>
            <a:tailEnd len="sm" w="sm" type="none"/>
          </a:ln>
          <a:effectLst>
            <a:outerShdw blurRad="8860" rotWithShape="0" algn="bl" dir="2700000" dist="35441">
              <a:srgbClr val="000000">
                <a:alpha val="7840"/>
              </a:srgbClr>
            </a:outerShdw>
          </a:effectLst>
        </p:spPr>
        <p:txBody>
          <a:bodyPr anchorCtr="0" anchor="ctr" bIns="63800" lIns="63800" spcFirstLastPara="1" rIns="63800" wrap="square" tIns="63800">
            <a:noAutofit/>
          </a:bodyPr>
          <a:lstStyle/>
          <a:p>
            <a:pPr indent="0" lvl="0" marL="0" rtl="0" algn="l">
              <a:spcBef>
                <a:spcPts val="0"/>
              </a:spcBef>
              <a:spcAft>
                <a:spcPts val="0"/>
              </a:spcAft>
              <a:buNone/>
            </a:pPr>
            <a:r>
              <a:t/>
            </a:r>
            <a:endParaRPr sz="1302"/>
          </a:p>
        </p:txBody>
      </p:sp>
      <p:sp>
        <p:nvSpPr>
          <p:cNvPr id="302" name="Google Shape;302;p21"/>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03" name="Google Shape;303;p21"/>
          <p:cNvSpPr/>
          <p:nvPr/>
        </p:nvSpPr>
        <p:spPr>
          <a:xfrm>
            <a:off x="0" y="640080"/>
            <a:ext cx="9144000" cy="36600"/>
          </a:xfrm>
          <a:prstGeom prst="rect">
            <a:avLst/>
          </a:prstGeom>
          <a:solidFill>
            <a:srgbClr val="F2B8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04" name="Google Shape;304;p21"/>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Clr>
                <a:srgbClr val="FFFFFF"/>
              </a:buClr>
              <a:buSzPts val="1500"/>
              <a:buFont typeface="Arial"/>
              <a:buNone/>
            </a:pPr>
            <a:r>
              <a:rPr b="1" lang="zh-CN" sz="1500">
                <a:solidFill>
                  <a:srgbClr val="FFFFFF"/>
                </a:solidFill>
                <a:latin typeface="Arial"/>
                <a:ea typeface="Arial"/>
                <a:cs typeface="Arial"/>
                <a:sym typeface="Arial"/>
              </a:rPr>
              <a:t>R</a:t>
            </a:r>
            <a:r>
              <a:rPr b="1" lang="zh-CN" sz="1500">
                <a:solidFill>
                  <a:srgbClr val="FFFFFF"/>
                </a:solidFill>
              </a:rPr>
              <a:t>3</a:t>
            </a:r>
            <a:r>
              <a:rPr b="1" lang="zh-CN" sz="1500">
                <a:solidFill>
                  <a:srgbClr val="FFFFFF"/>
                </a:solidFill>
                <a:latin typeface="Arial"/>
                <a:ea typeface="Arial"/>
                <a:cs typeface="Arial"/>
                <a:sym typeface="Arial"/>
              </a:rPr>
              <a:t> </a:t>
            </a:r>
            <a:r>
              <a:rPr b="1" lang="zh-CN" sz="1500">
                <a:solidFill>
                  <a:srgbClr val="FFFFFF"/>
                </a:solidFill>
              </a:rPr>
              <a:t>Almanac Lead</a:t>
            </a:r>
            <a:endParaRPr/>
          </a:p>
        </p:txBody>
      </p:sp>
      <p:sp>
        <p:nvSpPr>
          <p:cNvPr id="305" name="Google Shape;305;p21"/>
          <p:cNvSpPr/>
          <p:nvPr/>
        </p:nvSpPr>
        <p:spPr>
          <a:xfrm>
            <a:off x="148200" y="865625"/>
            <a:ext cx="19050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5C9F"/>
              </a:buClr>
              <a:buSzPts val="804"/>
              <a:buFont typeface="Arial"/>
              <a:buNone/>
            </a:pPr>
            <a:r>
              <a:rPr b="1" i="0" lang="zh-CN" sz="1204" u="none" cap="none" strike="noStrike">
                <a:solidFill>
                  <a:srgbClr val="245C9F"/>
                </a:solidFill>
                <a:latin typeface="Arial"/>
                <a:ea typeface="Arial"/>
                <a:cs typeface="Arial"/>
                <a:sym typeface="Arial"/>
              </a:rPr>
              <a:t>OBJECTIVE</a:t>
            </a:r>
            <a:endParaRPr b="0" i="0" sz="1204" u="none" cap="none" strike="noStrike">
              <a:solidFill>
                <a:srgbClr val="245C9F"/>
              </a:solidFill>
              <a:latin typeface="Arial"/>
              <a:ea typeface="Arial"/>
              <a:cs typeface="Arial"/>
              <a:sym typeface="Arial"/>
            </a:endParaRPr>
          </a:p>
        </p:txBody>
      </p:sp>
      <p:sp>
        <p:nvSpPr>
          <p:cNvPr id="306" name="Google Shape;306;p21"/>
          <p:cNvSpPr/>
          <p:nvPr/>
        </p:nvSpPr>
        <p:spPr>
          <a:xfrm>
            <a:off x="148200" y="1118750"/>
            <a:ext cx="3758100" cy="156840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172033"/>
              </a:buClr>
              <a:buSzPts val="2067"/>
              <a:buFont typeface="Arial"/>
              <a:buNone/>
            </a:pPr>
            <a:r>
              <a:rPr b="1" i="0" lang="zh-CN" sz="2200" u="none" cap="none" strike="noStrike">
                <a:solidFill>
                  <a:srgbClr val="172033"/>
                </a:solidFill>
                <a:latin typeface="Arial"/>
                <a:ea typeface="Arial"/>
                <a:cs typeface="Arial"/>
                <a:sym typeface="Arial"/>
              </a:rPr>
              <a:t>Deliver a clean W30 Almanac pipeline that validates seasonal evidence before downstream use.</a:t>
            </a:r>
            <a:endParaRPr b="0" i="0" sz="2200" u="none" cap="none" strike="noStrike">
              <a:solidFill>
                <a:schemeClr val="dk1"/>
              </a:solidFill>
              <a:latin typeface="Arial"/>
              <a:ea typeface="Arial"/>
              <a:cs typeface="Arial"/>
              <a:sym typeface="Arial"/>
            </a:endParaRPr>
          </a:p>
        </p:txBody>
      </p:sp>
      <p:pic>
        <p:nvPicPr>
          <p:cNvPr id="307" name="Google Shape;307;p21"/>
          <p:cNvPicPr preferRelativeResize="0"/>
          <p:nvPr/>
        </p:nvPicPr>
        <p:blipFill>
          <a:blip r:embed="rId3">
            <a:alphaModFix/>
          </a:blip>
          <a:stretch>
            <a:fillRect/>
          </a:stretch>
        </p:blipFill>
        <p:spPr>
          <a:xfrm>
            <a:off x="261300" y="2949125"/>
            <a:ext cx="8682074" cy="1984050"/>
          </a:xfrm>
          <a:prstGeom prst="rect">
            <a:avLst/>
          </a:prstGeom>
          <a:noFill/>
          <a:ln>
            <a:noFill/>
          </a:ln>
        </p:spPr>
      </p:pic>
      <p:sp>
        <p:nvSpPr>
          <p:cNvPr id="308" name="Google Shape;308;p21"/>
          <p:cNvSpPr/>
          <p:nvPr/>
        </p:nvSpPr>
        <p:spPr>
          <a:xfrm>
            <a:off x="4709975" y="1126700"/>
            <a:ext cx="4317600" cy="1552500"/>
          </a:xfrm>
          <a:prstGeom prst="roundRect">
            <a:avLst>
              <a:gd fmla="val 3670" name="adj"/>
            </a:avLst>
          </a:prstGeom>
          <a:solidFill>
            <a:srgbClr val="FFFFFF"/>
          </a:solidFill>
          <a:ln cap="flat" cmpd="sng" w="6650">
            <a:solidFill>
              <a:srgbClr val="D5DDE8"/>
            </a:solidFill>
            <a:prstDash val="solid"/>
            <a:round/>
            <a:headEnd len="sm" w="sm" type="none"/>
            <a:tailEnd len="sm" w="sm" type="none"/>
          </a:ln>
          <a:effectLst>
            <a:outerShdw blurRad="8860" rotWithShape="0" algn="bl" dir="2700000" dist="35441">
              <a:srgbClr val="000000">
                <a:alpha val="7840"/>
              </a:srgbClr>
            </a:outerShdw>
          </a:effectLst>
        </p:spPr>
        <p:txBody>
          <a:bodyPr anchorCtr="0" anchor="ctr" bIns="63800" lIns="63800" spcFirstLastPara="1" rIns="63800" wrap="square" tIns="63800">
            <a:noAutofit/>
          </a:bodyPr>
          <a:lstStyle/>
          <a:p>
            <a:pPr indent="0" lvl="0" marL="0" rtl="0" algn="l">
              <a:spcBef>
                <a:spcPts val="0"/>
              </a:spcBef>
              <a:spcAft>
                <a:spcPts val="0"/>
              </a:spcAft>
              <a:buNone/>
            </a:pPr>
            <a:r>
              <a:rPr lang="zh-CN" sz="1302"/>
              <a:t>• Extract SPX, NDX proxy, IWM and all 11 sector rows from the Almanac PDF.</a:t>
            </a:r>
            <a:endParaRPr sz="1302"/>
          </a:p>
          <a:p>
            <a:pPr indent="0" lvl="0" marL="0" rtl="0" algn="l">
              <a:spcBef>
                <a:spcPts val="0"/>
              </a:spcBef>
              <a:spcAft>
                <a:spcPts val="0"/>
              </a:spcAft>
              <a:buNone/>
            </a:pPr>
            <a:r>
              <a:rPr lang="zh-CN" sz="1302"/>
              <a:t>• Fail the workflow on NaN, null, invalid dates, missing sectors or extraction errors.</a:t>
            </a:r>
            <a:endParaRPr sz="1302"/>
          </a:p>
          <a:p>
            <a:pPr indent="0" lvl="0" marL="0" rtl="0" algn="l">
              <a:spcBef>
                <a:spcPts val="0"/>
              </a:spcBef>
              <a:spcAft>
                <a:spcPts val="0"/>
              </a:spcAft>
              <a:buNone/>
            </a:pPr>
            <a:r>
              <a:rPr lang="zh-CN" sz="1302"/>
              <a:t>• </a:t>
            </a:r>
            <a:r>
              <a:rPr lang="zh-CN" sz="1302" u="sng">
                <a:solidFill>
                  <a:schemeClr val="hlink"/>
                </a:solidFill>
                <a:hlinkClick r:id="rId4"/>
              </a:rPr>
              <a:t>README </a:t>
            </a:r>
            <a:r>
              <a:rPr lang="zh-CN" sz="1302"/>
              <a:t>updated</a:t>
            </a:r>
            <a:endParaRPr sz="1302"/>
          </a:p>
        </p:txBody>
      </p:sp>
      <p:sp>
        <p:nvSpPr>
          <p:cNvPr id="309" name="Google Shape;309;p21"/>
          <p:cNvSpPr/>
          <p:nvPr/>
        </p:nvSpPr>
        <p:spPr>
          <a:xfrm>
            <a:off x="4661350" y="1118750"/>
            <a:ext cx="78600" cy="1568400"/>
          </a:xfrm>
          <a:prstGeom prst="rect">
            <a:avLst/>
          </a:prstGeom>
          <a:solidFill>
            <a:srgbClr val="F2B84B"/>
          </a:solidFill>
          <a:ln cap="flat" cmpd="sng" w="8850">
            <a:solidFill>
              <a:srgbClr val="F2B84B"/>
            </a:solidFill>
            <a:prstDash val="solid"/>
            <a:round/>
            <a:headEnd len="sm" w="sm" type="none"/>
            <a:tailEnd len="sm" w="sm" type="none"/>
          </a:ln>
        </p:spPr>
        <p:txBody>
          <a:bodyPr anchorCtr="0" anchor="ctr" bIns="85050" lIns="85050" spcFirstLastPara="1" rIns="85050" wrap="square" tIns="85050">
            <a:noAutofit/>
          </a:bodyPr>
          <a:lstStyle/>
          <a:p>
            <a:pPr indent="0" lvl="0" marL="0" rtl="0" algn="ctr">
              <a:spcBef>
                <a:spcPts val="0"/>
              </a:spcBef>
              <a:spcAft>
                <a:spcPts val="0"/>
              </a:spcAft>
              <a:buNone/>
            </a:pPr>
            <a:r>
              <a:t/>
            </a:r>
            <a:endParaRPr sz="1302"/>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14" name="Shape 314"/>
        <p:cNvGrpSpPr/>
        <p:nvPr/>
      </p:nvGrpSpPr>
      <p:grpSpPr>
        <a:xfrm>
          <a:off x="0" y="0"/>
          <a:ext cx="0" cy="0"/>
          <a:chOff x="0" y="0"/>
          <a:chExt cx="0" cy="0"/>
        </a:xfrm>
      </p:grpSpPr>
      <p:sp>
        <p:nvSpPr>
          <p:cNvPr id="315" name="Google Shape;315;p22"/>
          <p:cNvSpPr/>
          <p:nvPr/>
        </p:nvSpPr>
        <p:spPr>
          <a:xfrm>
            <a:off x="252925" y="2599288"/>
            <a:ext cx="3051300" cy="757200"/>
          </a:xfrm>
          <a:prstGeom prst="roundRect">
            <a:avLst>
              <a:gd fmla="val 3922" name="adj"/>
            </a:avLst>
          </a:prstGeom>
          <a:solidFill>
            <a:srgbClr val="FFFFFF"/>
          </a:solidFill>
          <a:ln cap="flat" cmpd="sng" w="7300">
            <a:solidFill>
              <a:srgbClr val="D5DDE8"/>
            </a:solidFill>
            <a:prstDash val="solid"/>
            <a:round/>
            <a:headEnd len="sm" w="sm" type="none"/>
            <a:tailEnd len="sm" w="sm" type="none"/>
          </a:ln>
          <a:effectLst>
            <a:outerShdw blurRad="9720" rotWithShape="0" algn="bl" dir="2700000" dist="38880">
              <a:srgbClr val="000000">
                <a:alpha val="7840"/>
              </a:srgbClr>
            </a:outerShdw>
          </a:effectLst>
        </p:spPr>
        <p:txBody>
          <a:bodyPr anchorCtr="0" anchor="ctr" bIns="69975" lIns="69975" spcFirstLastPara="1" rIns="69975" wrap="square" tIns="69975">
            <a:noAutofit/>
          </a:bodyPr>
          <a:lstStyle/>
          <a:p>
            <a:pPr indent="0" lvl="0" marL="0" rtl="0" algn="l">
              <a:spcBef>
                <a:spcPts val="0"/>
              </a:spcBef>
              <a:spcAft>
                <a:spcPts val="0"/>
              </a:spcAft>
              <a:buNone/>
            </a:pPr>
            <a:r>
              <a:t/>
            </a:r>
            <a:endParaRPr/>
          </a:p>
        </p:txBody>
      </p:sp>
      <p:sp>
        <p:nvSpPr>
          <p:cNvPr id="316" name="Google Shape;316;p22"/>
          <p:cNvSpPr/>
          <p:nvPr/>
        </p:nvSpPr>
        <p:spPr>
          <a:xfrm>
            <a:off x="252925" y="1133095"/>
            <a:ext cx="4175100" cy="1334400"/>
          </a:xfrm>
          <a:prstGeom prst="roundRect">
            <a:avLst>
              <a:gd fmla="val 3922" name="adj"/>
            </a:avLst>
          </a:prstGeom>
          <a:solidFill>
            <a:srgbClr val="FFFFFF"/>
          </a:solidFill>
          <a:ln cap="flat" cmpd="sng" w="7300">
            <a:solidFill>
              <a:srgbClr val="D5DDE8"/>
            </a:solidFill>
            <a:prstDash val="solid"/>
            <a:round/>
            <a:headEnd len="sm" w="sm" type="none"/>
            <a:tailEnd len="sm" w="sm" type="none"/>
          </a:ln>
          <a:effectLst>
            <a:outerShdw blurRad="9720" rotWithShape="0" algn="bl" dir="2700000" dist="38880">
              <a:srgbClr val="000000">
                <a:alpha val="7840"/>
              </a:srgbClr>
            </a:outerShdw>
          </a:effectLst>
        </p:spPr>
        <p:txBody>
          <a:bodyPr anchorCtr="0" anchor="ctr" bIns="69975" lIns="69975" spcFirstLastPara="1" rIns="69975" wrap="square" tIns="69975">
            <a:noAutofit/>
          </a:bodyPr>
          <a:lstStyle/>
          <a:p>
            <a:pPr indent="0" lvl="0" marL="0" rtl="0" algn="l">
              <a:spcBef>
                <a:spcPts val="0"/>
              </a:spcBef>
              <a:spcAft>
                <a:spcPts val="0"/>
              </a:spcAft>
              <a:buNone/>
            </a:pPr>
            <a:r>
              <a:t/>
            </a:r>
            <a:endParaRPr/>
          </a:p>
        </p:txBody>
      </p:sp>
      <p:sp>
        <p:nvSpPr>
          <p:cNvPr id="317" name="Google Shape;317;p22"/>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18" name="Google Shape;318;p22"/>
          <p:cNvSpPr/>
          <p:nvPr/>
        </p:nvSpPr>
        <p:spPr>
          <a:xfrm>
            <a:off x="0" y="640080"/>
            <a:ext cx="9144000" cy="36600"/>
          </a:xfrm>
          <a:prstGeom prst="rect">
            <a:avLst/>
          </a:prstGeom>
          <a:solidFill>
            <a:srgbClr val="F2B8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19" name="Google Shape;319;p22"/>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Clr>
                <a:srgbClr val="FFFFFF"/>
              </a:buClr>
              <a:buSzPts val="1500"/>
              <a:buFont typeface="Arial"/>
              <a:buNone/>
            </a:pPr>
            <a:r>
              <a:rPr b="1" lang="zh-CN" sz="1500">
                <a:solidFill>
                  <a:srgbClr val="FFFFFF"/>
                </a:solidFill>
                <a:latin typeface="Arial"/>
                <a:ea typeface="Arial"/>
                <a:cs typeface="Arial"/>
                <a:sym typeface="Arial"/>
              </a:rPr>
              <a:t>R</a:t>
            </a:r>
            <a:r>
              <a:rPr b="1" lang="zh-CN" sz="1500">
                <a:solidFill>
                  <a:srgbClr val="FFFFFF"/>
                </a:solidFill>
              </a:rPr>
              <a:t>3</a:t>
            </a:r>
            <a:r>
              <a:rPr b="1" lang="zh-CN" sz="1500">
                <a:solidFill>
                  <a:srgbClr val="FFFFFF"/>
                </a:solidFill>
                <a:latin typeface="Arial"/>
                <a:ea typeface="Arial"/>
                <a:cs typeface="Arial"/>
                <a:sym typeface="Arial"/>
              </a:rPr>
              <a:t> </a:t>
            </a:r>
            <a:r>
              <a:rPr b="1" lang="zh-CN" sz="1500">
                <a:solidFill>
                  <a:srgbClr val="FFFFFF"/>
                </a:solidFill>
              </a:rPr>
              <a:t>Almanac Lead</a:t>
            </a:r>
            <a:endParaRPr/>
          </a:p>
        </p:txBody>
      </p:sp>
      <p:sp>
        <p:nvSpPr>
          <p:cNvPr id="320" name="Google Shape;320;p22"/>
          <p:cNvSpPr/>
          <p:nvPr/>
        </p:nvSpPr>
        <p:spPr>
          <a:xfrm>
            <a:off x="330511" y="891550"/>
            <a:ext cx="1462200" cy="20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5C9F"/>
              </a:buClr>
              <a:buSzPts val="714"/>
              <a:buFont typeface="Arial"/>
              <a:buNone/>
            </a:pPr>
            <a:r>
              <a:rPr b="1" i="0" lang="zh-CN" sz="1214" u="none" cap="none" strike="noStrike">
                <a:solidFill>
                  <a:srgbClr val="245C9F"/>
                </a:solidFill>
                <a:latin typeface="Arial"/>
                <a:ea typeface="Arial"/>
                <a:cs typeface="Arial"/>
                <a:sym typeface="Arial"/>
              </a:rPr>
              <a:t>VALID RUN</a:t>
            </a:r>
            <a:endParaRPr b="0" i="0" sz="1214" u="none" cap="none" strike="noStrike">
              <a:solidFill>
                <a:schemeClr val="dk1"/>
              </a:solidFill>
              <a:latin typeface="Arial"/>
              <a:ea typeface="Arial"/>
              <a:cs typeface="Arial"/>
              <a:sym typeface="Arial"/>
            </a:endParaRPr>
          </a:p>
        </p:txBody>
      </p:sp>
      <p:sp>
        <p:nvSpPr>
          <p:cNvPr id="321" name="Google Shape;321;p22"/>
          <p:cNvSpPr/>
          <p:nvPr/>
        </p:nvSpPr>
        <p:spPr>
          <a:xfrm>
            <a:off x="262975" y="3488276"/>
            <a:ext cx="4175100" cy="1470900"/>
          </a:xfrm>
          <a:prstGeom prst="roundRect">
            <a:avLst>
              <a:gd fmla="val 3053" name="adj"/>
            </a:avLst>
          </a:prstGeom>
          <a:solidFill>
            <a:srgbClr val="FFFFFF"/>
          </a:solidFill>
          <a:ln cap="flat" cmpd="sng" w="7000">
            <a:solidFill>
              <a:srgbClr val="D5DDE8"/>
            </a:solidFill>
            <a:prstDash val="solid"/>
            <a:round/>
            <a:headEnd len="sm" w="sm" type="none"/>
            <a:tailEnd len="sm" w="sm" type="none"/>
          </a:ln>
          <a:effectLst>
            <a:outerShdw blurRad="9298" rotWithShape="0" algn="bl" dir="2700000" dist="37192">
              <a:srgbClr val="000000">
                <a:alpha val="7840"/>
              </a:srgbClr>
            </a:outerShdw>
          </a:effectLst>
        </p:spPr>
        <p:txBody>
          <a:bodyPr anchorCtr="0" anchor="ctr" bIns="66950" lIns="66950" spcFirstLastPara="1" rIns="66950" wrap="square" tIns="66950">
            <a:noAutofit/>
          </a:bodyPr>
          <a:lstStyle/>
          <a:p>
            <a:pPr indent="0" lvl="0" marL="0" rtl="0" algn="l">
              <a:spcBef>
                <a:spcPts val="0"/>
              </a:spcBef>
              <a:spcAft>
                <a:spcPts val="0"/>
              </a:spcAft>
              <a:buNone/>
            </a:pPr>
            <a:r>
              <a:t/>
            </a:r>
            <a:endParaRPr sz="1339"/>
          </a:p>
        </p:txBody>
      </p:sp>
      <p:sp>
        <p:nvSpPr>
          <p:cNvPr id="322" name="Google Shape;322;p22"/>
          <p:cNvSpPr/>
          <p:nvPr/>
        </p:nvSpPr>
        <p:spPr>
          <a:xfrm>
            <a:off x="422197" y="3549979"/>
            <a:ext cx="3915300" cy="4194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72033"/>
              </a:buClr>
              <a:buSzPts val="1269"/>
              <a:buFont typeface="Arial"/>
              <a:buNone/>
            </a:pPr>
            <a:r>
              <a:rPr b="1" i="0" lang="zh-CN" sz="1269" u="none" cap="none" strike="noStrike">
                <a:solidFill>
                  <a:srgbClr val="172033"/>
                </a:solidFill>
                <a:latin typeface="Arial"/>
                <a:ea typeface="Arial"/>
                <a:cs typeface="Arial"/>
                <a:sym typeface="Arial"/>
              </a:rPr>
              <a:t>Successful W30 run generated all three artefacts after validation passed.</a:t>
            </a:r>
            <a:endParaRPr b="0" i="0" sz="1269" u="none" cap="none" strike="noStrike">
              <a:solidFill>
                <a:schemeClr val="dk1"/>
              </a:solidFill>
              <a:latin typeface="Arial"/>
              <a:ea typeface="Arial"/>
              <a:cs typeface="Arial"/>
              <a:sym typeface="Arial"/>
            </a:endParaRPr>
          </a:p>
        </p:txBody>
      </p:sp>
      <p:sp>
        <p:nvSpPr>
          <p:cNvPr id="323" name="Google Shape;323;p22"/>
          <p:cNvSpPr/>
          <p:nvPr/>
        </p:nvSpPr>
        <p:spPr>
          <a:xfrm>
            <a:off x="463777" y="4034443"/>
            <a:ext cx="3742200" cy="21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445"/>
              </a:buClr>
              <a:buSzPts val="1074"/>
              <a:buFont typeface="Arial"/>
              <a:buNone/>
            </a:pPr>
            <a:r>
              <a:rPr b="0" i="0" lang="zh-CN" sz="1074" u="none" cap="none" strike="noStrike">
                <a:solidFill>
                  <a:srgbClr val="2B3445"/>
                </a:solidFill>
                <a:latin typeface="Arial"/>
                <a:ea typeface="Arial"/>
                <a:cs typeface="Arial"/>
                <a:sym typeface="Arial"/>
              </a:rPr>
              <a:t>• 3 indices: SPX, NDX proxy, IWM</a:t>
            </a:r>
            <a:endParaRPr b="0" i="0" sz="1074" u="none" cap="none" strike="noStrike">
              <a:solidFill>
                <a:schemeClr val="dk1"/>
              </a:solidFill>
              <a:latin typeface="Arial"/>
              <a:ea typeface="Arial"/>
              <a:cs typeface="Arial"/>
              <a:sym typeface="Arial"/>
            </a:endParaRPr>
          </a:p>
        </p:txBody>
      </p:sp>
      <p:sp>
        <p:nvSpPr>
          <p:cNvPr id="324" name="Google Shape;324;p22"/>
          <p:cNvSpPr/>
          <p:nvPr/>
        </p:nvSpPr>
        <p:spPr>
          <a:xfrm>
            <a:off x="463777" y="4323675"/>
            <a:ext cx="3742200" cy="21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445"/>
              </a:buClr>
              <a:buSzPts val="1074"/>
              <a:buFont typeface="Arial"/>
              <a:buNone/>
            </a:pPr>
            <a:r>
              <a:rPr b="0" i="0" lang="zh-CN" sz="1074" u="none" cap="none" strike="noStrike">
                <a:solidFill>
                  <a:srgbClr val="2B3445"/>
                </a:solidFill>
                <a:latin typeface="Arial"/>
                <a:ea typeface="Arial"/>
                <a:cs typeface="Arial"/>
                <a:sym typeface="Arial"/>
              </a:rPr>
              <a:t>• 11 sector ETF categories</a:t>
            </a:r>
            <a:endParaRPr b="0" i="0" sz="1074" u="none" cap="none" strike="noStrike">
              <a:solidFill>
                <a:schemeClr val="dk1"/>
              </a:solidFill>
              <a:latin typeface="Arial"/>
              <a:ea typeface="Arial"/>
              <a:cs typeface="Arial"/>
              <a:sym typeface="Arial"/>
            </a:endParaRPr>
          </a:p>
        </p:txBody>
      </p:sp>
      <p:sp>
        <p:nvSpPr>
          <p:cNvPr id="325" name="Google Shape;325;p22"/>
          <p:cNvSpPr/>
          <p:nvPr/>
        </p:nvSpPr>
        <p:spPr>
          <a:xfrm>
            <a:off x="463777" y="4612907"/>
            <a:ext cx="3742200" cy="21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445"/>
              </a:buClr>
              <a:buSzPts val="1074"/>
              <a:buFont typeface="Arial"/>
              <a:buNone/>
            </a:pPr>
            <a:r>
              <a:rPr b="0" i="0" lang="zh-CN" sz="1074" u="none" cap="none" strike="noStrike">
                <a:solidFill>
                  <a:srgbClr val="2B3445"/>
                </a:solidFill>
                <a:latin typeface="Arial"/>
                <a:ea typeface="Arial"/>
                <a:cs typeface="Arial"/>
                <a:sym typeface="Arial"/>
              </a:rPr>
              <a:t>• Valid week and Monday</a:t>
            </a:r>
            <a:r>
              <a:rPr lang="zh-CN" sz="1074">
                <a:solidFill>
                  <a:srgbClr val="2B3445"/>
                </a:solidFill>
              </a:rPr>
              <a:t>-</a:t>
            </a:r>
            <a:r>
              <a:rPr b="0" i="0" lang="zh-CN" sz="1074" u="none" cap="none" strike="noStrike">
                <a:solidFill>
                  <a:srgbClr val="2B3445"/>
                </a:solidFill>
                <a:latin typeface="Arial"/>
                <a:ea typeface="Arial"/>
                <a:cs typeface="Arial"/>
                <a:sym typeface="Arial"/>
              </a:rPr>
              <a:t>Friday forecast range</a:t>
            </a:r>
            <a:endParaRPr b="0" i="0" sz="1074" u="none" cap="none" strike="noStrike">
              <a:solidFill>
                <a:schemeClr val="dk1"/>
              </a:solidFill>
              <a:latin typeface="Arial"/>
              <a:ea typeface="Arial"/>
              <a:cs typeface="Arial"/>
              <a:sym typeface="Arial"/>
            </a:endParaRPr>
          </a:p>
        </p:txBody>
      </p:sp>
      <p:sp>
        <p:nvSpPr>
          <p:cNvPr id="326" name="Google Shape;326;p22"/>
          <p:cNvSpPr/>
          <p:nvPr/>
        </p:nvSpPr>
        <p:spPr>
          <a:xfrm>
            <a:off x="4739665" y="891550"/>
            <a:ext cx="1827900" cy="20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5C9F"/>
              </a:buClr>
              <a:buSzPts val="714"/>
              <a:buFont typeface="Arial"/>
              <a:buNone/>
            </a:pPr>
            <a:r>
              <a:rPr b="1" i="0" lang="zh-CN" sz="1214" u="none" cap="none" strike="noStrike">
                <a:solidFill>
                  <a:srgbClr val="245C9F"/>
                </a:solidFill>
                <a:latin typeface="Arial"/>
                <a:ea typeface="Arial"/>
                <a:cs typeface="Arial"/>
                <a:sym typeface="Arial"/>
              </a:rPr>
              <a:t>FAILURE TEST</a:t>
            </a:r>
            <a:endParaRPr b="0" i="0" sz="1214" u="none" cap="none" strike="noStrike">
              <a:solidFill>
                <a:schemeClr val="dk1"/>
              </a:solidFill>
              <a:latin typeface="Arial"/>
              <a:ea typeface="Arial"/>
              <a:cs typeface="Arial"/>
              <a:sym typeface="Arial"/>
            </a:endParaRPr>
          </a:p>
        </p:txBody>
      </p:sp>
      <p:sp>
        <p:nvSpPr>
          <p:cNvPr id="327" name="Google Shape;327;p22"/>
          <p:cNvSpPr/>
          <p:nvPr/>
        </p:nvSpPr>
        <p:spPr>
          <a:xfrm>
            <a:off x="4717775" y="1133100"/>
            <a:ext cx="4175100" cy="974700"/>
          </a:xfrm>
          <a:prstGeom prst="roundRect">
            <a:avLst>
              <a:gd fmla="val 3922" name="adj"/>
            </a:avLst>
          </a:prstGeom>
          <a:solidFill>
            <a:srgbClr val="FFFFFF"/>
          </a:solidFill>
          <a:ln cap="flat" cmpd="sng" w="7300">
            <a:solidFill>
              <a:srgbClr val="D5DDE8"/>
            </a:solidFill>
            <a:prstDash val="solid"/>
            <a:round/>
            <a:headEnd len="sm" w="sm" type="none"/>
            <a:tailEnd len="sm" w="sm" type="none"/>
          </a:ln>
          <a:effectLst>
            <a:outerShdw blurRad="9720" rotWithShape="0" algn="bl" dir="2700000" dist="38880">
              <a:srgbClr val="000000">
                <a:alpha val="7840"/>
              </a:srgbClr>
            </a:outerShdw>
          </a:effectLst>
        </p:spPr>
        <p:txBody>
          <a:bodyPr anchorCtr="0" anchor="ctr" bIns="69975" lIns="69975" spcFirstLastPara="1" rIns="69975" wrap="square" tIns="69975">
            <a:noAutofit/>
          </a:bodyPr>
          <a:lstStyle/>
          <a:p>
            <a:pPr indent="0" lvl="0" marL="0" rtl="0" algn="l">
              <a:spcBef>
                <a:spcPts val="0"/>
              </a:spcBef>
              <a:spcAft>
                <a:spcPts val="0"/>
              </a:spcAft>
              <a:buNone/>
            </a:pPr>
            <a:r>
              <a:t/>
            </a:r>
            <a:endParaRPr/>
          </a:p>
        </p:txBody>
      </p:sp>
      <p:pic>
        <p:nvPicPr>
          <p:cNvPr descr="/mnt/data/evidence_extract/word/media/image3.png" id="328" name="Google Shape;328;p22"/>
          <p:cNvPicPr preferRelativeResize="0"/>
          <p:nvPr/>
        </p:nvPicPr>
        <p:blipFill rotWithShape="1">
          <a:blip r:embed="rId3">
            <a:alphaModFix/>
          </a:blip>
          <a:srcRect b="0" l="0" r="0" t="0"/>
          <a:stretch/>
        </p:blipFill>
        <p:spPr>
          <a:xfrm>
            <a:off x="4808377" y="1206071"/>
            <a:ext cx="3994009" cy="828759"/>
          </a:xfrm>
          <a:prstGeom prst="rect">
            <a:avLst/>
          </a:prstGeom>
          <a:noFill/>
          <a:ln>
            <a:noFill/>
          </a:ln>
        </p:spPr>
      </p:pic>
      <p:sp>
        <p:nvSpPr>
          <p:cNvPr id="329" name="Google Shape;329;p22"/>
          <p:cNvSpPr/>
          <p:nvPr/>
        </p:nvSpPr>
        <p:spPr>
          <a:xfrm>
            <a:off x="4717679" y="2311274"/>
            <a:ext cx="4175100" cy="1735200"/>
          </a:xfrm>
          <a:prstGeom prst="roundRect">
            <a:avLst>
              <a:gd fmla="val 1990" name="adj"/>
            </a:avLst>
          </a:prstGeom>
          <a:solidFill>
            <a:srgbClr val="FFFFFF"/>
          </a:solidFill>
          <a:ln cap="flat" cmpd="sng" w="7300">
            <a:solidFill>
              <a:srgbClr val="D5DDE8"/>
            </a:solidFill>
            <a:prstDash val="solid"/>
            <a:round/>
            <a:headEnd len="sm" w="sm" type="none"/>
            <a:tailEnd len="sm" w="sm" type="none"/>
          </a:ln>
          <a:effectLst>
            <a:outerShdw blurRad="9720" rotWithShape="0" algn="bl" dir="2700000" dist="38880">
              <a:srgbClr val="000000">
                <a:alpha val="7840"/>
              </a:srgbClr>
            </a:outerShdw>
          </a:effectLst>
        </p:spPr>
        <p:txBody>
          <a:bodyPr anchorCtr="0" anchor="ctr" bIns="69975" lIns="69975" spcFirstLastPara="1" rIns="69975" wrap="square" tIns="69975">
            <a:noAutofit/>
          </a:bodyPr>
          <a:lstStyle/>
          <a:p>
            <a:pPr indent="0" lvl="0" marL="0" rtl="0" algn="l">
              <a:spcBef>
                <a:spcPts val="0"/>
              </a:spcBef>
              <a:spcAft>
                <a:spcPts val="0"/>
              </a:spcAft>
              <a:buNone/>
            </a:pPr>
            <a:r>
              <a:t/>
            </a:r>
            <a:endParaRPr/>
          </a:p>
        </p:txBody>
      </p:sp>
      <p:sp>
        <p:nvSpPr>
          <p:cNvPr id="330" name="Google Shape;330;p22"/>
          <p:cNvSpPr/>
          <p:nvPr/>
        </p:nvSpPr>
        <p:spPr>
          <a:xfrm>
            <a:off x="4749715" y="4375373"/>
            <a:ext cx="4131300" cy="621600"/>
          </a:xfrm>
          <a:prstGeom prst="roundRect">
            <a:avLst>
              <a:gd fmla="val 12500" name="adj"/>
            </a:avLst>
          </a:prstGeom>
          <a:solidFill>
            <a:srgbClr val="B42318"/>
          </a:solidFill>
          <a:ln cap="flat" cmpd="sng" w="9725">
            <a:solidFill>
              <a:srgbClr val="B42318">
                <a:alpha val="0"/>
              </a:srgbClr>
            </a:solidFill>
            <a:prstDash val="solid"/>
            <a:round/>
            <a:headEnd len="sm" w="sm" type="none"/>
            <a:tailEnd len="sm" w="sm" type="none"/>
          </a:ln>
        </p:spPr>
        <p:txBody>
          <a:bodyPr anchorCtr="0" anchor="ctr" bIns="69975" lIns="69975" spcFirstLastPara="1" rIns="69975" wrap="square" tIns="69975">
            <a:noAutofit/>
          </a:bodyPr>
          <a:lstStyle/>
          <a:p>
            <a:pPr indent="0" lvl="0" marL="0" rtl="0" algn="l">
              <a:spcBef>
                <a:spcPts val="0"/>
              </a:spcBef>
              <a:spcAft>
                <a:spcPts val="0"/>
              </a:spcAft>
              <a:buNone/>
            </a:pPr>
            <a:r>
              <a:t/>
            </a:r>
            <a:endParaRPr/>
          </a:p>
        </p:txBody>
      </p:sp>
      <p:sp>
        <p:nvSpPr>
          <p:cNvPr id="331" name="Google Shape;331;p22"/>
          <p:cNvSpPr/>
          <p:nvPr/>
        </p:nvSpPr>
        <p:spPr>
          <a:xfrm>
            <a:off x="4881331" y="4496233"/>
            <a:ext cx="3867900" cy="4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25"/>
              <a:buFont typeface="Arial"/>
              <a:buNone/>
            </a:pPr>
            <a:r>
              <a:rPr b="1" i="0" lang="zh-CN" sz="1225" u="none" cap="none" strike="noStrike">
                <a:solidFill>
                  <a:srgbClr val="FFFFFF"/>
                </a:solidFill>
                <a:latin typeface="Arial"/>
                <a:ea typeface="Arial"/>
                <a:cs typeface="Arial"/>
                <a:sym typeface="Arial"/>
              </a:rPr>
              <a:t>Expected result: workflow fails before writing or committing bad output.</a:t>
            </a:r>
            <a:endParaRPr b="0" i="0" sz="1225" u="none" cap="none" strike="noStrike">
              <a:solidFill>
                <a:schemeClr val="dk1"/>
              </a:solidFill>
              <a:latin typeface="Arial"/>
              <a:ea typeface="Arial"/>
              <a:cs typeface="Arial"/>
              <a:sym typeface="Arial"/>
            </a:endParaRPr>
          </a:p>
        </p:txBody>
      </p:sp>
      <p:sp>
        <p:nvSpPr>
          <p:cNvPr id="332" name="Google Shape;332;p22"/>
          <p:cNvSpPr/>
          <p:nvPr/>
        </p:nvSpPr>
        <p:spPr>
          <a:xfrm>
            <a:off x="262975" y="3488275"/>
            <a:ext cx="84300" cy="1470900"/>
          </a:xfrm>
          <a:prstGeom prst="rect">
            <a:avLst/>
          </a:prstGeom>
          <a:solidFill>
            <a:srgbClr val="F2B84B"/>
          </a:solidFill>
          <a:ln cap="flat" cmpd="sng" w="9125">
            <a:solidFill>
              <a:srgbClr val="F2B84B"/>
            </a:solidFill>
            <a:prstDash val="solid"/>
            <a:round/>
            <a:headEnd len="sm" w="sm" type="none"/>
            <a:tailEnd len="sm" w="sm" type="none"/>
          </a:ln>
        </p:spPr>
        <p:txBody>
          <a:bodyPr anchorCtr="0" anchor="ctr" bIns="87450" lIns="87450" spcFirstLastPara="1" rIns="87450" wrap="square" tIns="87450">
            <a:noAutofit/>
          </a:bodyPr>
          <a:lstStyle/>
          <a:p>
            <a:pPr indent="0" lvl="0" marL="0" rtl="0" algn="ctr">
              <a:spcBef>
                <a:spcPts val="0"/>
              </a:spcBef>
              <a:spcAft>
                <a:spcPts val="0"/>
              </a:spcAft>
              <a:buNone/>
            </a:pPr>
            <a:r>
              <a:t/>
            </a:r>
            <a:endParaRPr sz="1339"/>
          </a:p>
        </p:txBody>
      </p:sp>
      <p:pic>
        <p:nvPicPr>
          <p:cNvPr id="333" name="Google Shape;333;p22"/>
          <p:cNvPicPr preferRelativeResize="0"/>
          <p:nvPr/>
        </p:nvPicPr>
        <p:blipFill>
          <a:blip r:embed="rId4">
            <a:alphaModFix/>
          </a:blip>
          <a:stretch>
            <a:fillRect/>
          </a:stretch>
        </p:blipFill>
        <p:spPr>
          <a:xfrm>
            <a:off x="351970" y="1207575"/>
            <a:ext cx="3977018" cy="1160200"/>
          </a:xfrm>
          <a:prstGeom prst="rect">
            <a:avLst/>
          </a:prstGeom>
          <a:noFill/>
          <a:ln>
            <a:noFill/>
          </a:ln>
        </p:spPr>
      </p:pic>
      <p:pic>
        <p:nvPicPr>
          <p:cNvPr id="334" name="Google Shape;334;p22"/>
          <p:cNvPicPr preferRelativeResize="0"/>
          <p:nvPr/>
        </p:nvPicPr>
        <p:blipFill>
          <a:blip r:embed="rId5">
            <a:alphaModFix/>
          </a:blip>
          <a:stretch>
            <a:fillRect/>
          </a:stretch>
        </p:blipFill>
        <p:spPr>
          <a:xfrm>
            <a:off x="4808325" y="2395413"/>
            <a:ext cx="3994001" cy="1559400"/>
          </a:xfrm>
          <a:prstGeom prst="rect">
            <a:avLst/>
          </a:prstGeom>
          <a:noFill/>
          <a:ln>
            <a:noFill/>
          </a:ln>
        </p:spPr>
      </p:pic>
      <p:pic>
        <p:nvPicPr>
          <p:cNvPr id="335" name="Google Shape;335;p22"/>
          <p:cNvPicPr preferRelativeResize="0"/>
          <p:nvPr/>
        </p:nvPicPr>
        <p:blipFill>
          <a:blip r:embed="rId6">
            <a:alphaModFix/>
          </a:blip>
          <a:stretch>
            <a:fillRect/>
          </a:stretch>
        </p:blipFill>
        <p:spPr>
          <a:xfrm>
            <a:off x="342275" y="2648638"/>
            <a:ext cx="2872600" cy="658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40" name="Shape 340"/>
        <p:cNvGrpSpPr/>
        <p:nvPr/>
      </p:nvGrpSpPr>
      <p:grpSpPr>
        <a:xfrm>
          <a:off x="0" y="0"/>
          <a:ext cx="0" cy="0"/>
          <a:chOff x="0" y="0"/>
          <a:chExt cx="0" cy="0"/>
        </a:xfrm>
      </p:grpSpPr>
      <p:sp>
        <p:nvSpPr>
          <p:cNvPr id="341" name="Google Shape;341;p23"/>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42" name="Google Shape;342;p23"/>
          <p:cNvSpPr/>
          <p:nvPr/>
        </p:nvSpPr>
        <p:spPr>
          <a:xfrm>
            <a:off x="0" y="640080"/>
            <a:ext cx="9144000" cy="36600"/>
          </a:xfrm>
          <a:prstGeom prst="rect">
            <a:avLst/>
          </a:prstGeom>
          <a:solidFill>
            <a:srgbClr val="F2B8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43" name="Google Shape;343;p23"/>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Clr>
                <a:srgbClr val="FFFFFF"/>
              </a:buClr>
              <a:buSzPts val="1500"/>
              <a:buFont typeface="Arial"/>
              <a:buNone/>
            </a:pPr>
            <a:r>
              <a:rPr b="1" lang="zh-CN" sz="1500">
                <a:solidFill>
                  <a:srgbClr val="FFFFFF"/>
                </a:solidFill>
                <a:latin typeface="Arial"/>
                <a:ea typeface="Arial"/>
                <a:cs typeface="Arial"/>
                <a:sym typeface="Arial"/>
              </a:rPr>
              <a:t>R</a:t>
            </a:r>
            <a:r>
              <a:rPr b="1" lang="zh-CN" sz="1500">
                <a:solidFill>
                  <a:srgbClr val="FFFFFF"/>
                </a:solidFill>
              </a:rPr>
              <a:t>3</a:t>
            </a:r>
            <a:r>
              <a:rPr b="1" lang="zh-CN" sz="1500">
                <a:solidFill>
                  <a:srgbClr val="FFFFFF"/>
                </a:solidFill>
                <a:latin typeface="Arial"/>
                <a:ea typeface="Arial"/>
                <a:cs typeface="Arial"/>
                <a:sym typeface="Arial"/>
              </a:rPr>
              <a:t> </a:t>
            </a:r>
            <a:r>
              <a:rPr b="1" lang="zh-CN" sz="1500">
                <a:solidFill>
                  <a:srgbClr val="FFFFFF"/>
                </a:solidFill>
              </a:rPr>
              <a:t>Almanac Lead</a:t>
            </a:r>
            <a:endParaRPr/>
          </a:p>
        </p:txBody>
      </p:sp>
      <p:sp>
        <p:nvSpPr>
          <p:cNvPr id="344" name="Google Shape;344;p23"/>
          <p:cNvSpPr/>
          <p:nvPr/>
        </p:nvSpPr>
        <p:spPr>
          <a:xfrm>
            <a:off x="180075" y="865625"/>
            <a:ext cx="2129400" cy="1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5C9F"/>
              </a:buClr>
              <a:buSzPts val="725"/>
              <a:buFont typeface="Arial"/>
              <a:buNone/>
            </a:pPr>
            <a:r>
              <a:rPr b="1" i="0" lang="zh-CN" sz="1225" u="none" cap="none" strike="noStrike">
                <a:solidFill>
                  <a:srgbClr val="245C9F"/>
                </a:solidFill>
                <a:latin typeface="Arial"/>
                <a:ea typeface="Arial"/>
                <a:cs typeface="Arial"/>
                <a:sym typeface="Arial"/>
              </a:rPr>
              <a:t>FORECAST CONTEXT</a:t>
            </a:r>
            <a:endParaRPr b="0" i="0" sz="1225" u="none" cap="none" strike="noStrike">
              <a:solidFill>
                <a:schemeClr val="dk1"/>
              </a:solidFill>
              <a:latin typeface="Arial"/>
              <a:ea typeface="Arial"/>
              <a:cs typeface="Arial"/>
              <a:sym typeface="Arial"/>
            </a:endParaRPr>
          </a:p>
        </p:txBody>
      </p:sp>
      <p:sp>
        <p:nvSpPr>
          <p:cNvPr id="345" name="Google Shape;345;p23"/>
          <p:cNvSpPr/>
          <p:nvPr/>
        </p:nvSpPr>
        <p:spPr>
          <a:xfrm>
            <a:off x="180075" y="1102825"/>
            <a:ext cx="4280100" cy="5694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72033"/>
              </a:buClr>
              <a:buSzPts val="1242"/>
              <a:buFont typeface="Arial"/>
              <a:buNone/>
            </a:pPr>
            <a:r>
              <a:rPr b="1" i="0" lang="zh-CN" sz="1442" u="none" cap="none" strike="noStrike">
                <a:solidFill>
                  <a:srgbClr val="172033"/>
                </a:solidFill>
                <a:latin typeface="Arial"/>
                <a:ea typeface="Arial"/>
                <a:cs typeface="Arial"/>
                <a:sym typeface="Arial"/>
              </a:rPr>
              <a:t>W30 forecast range: 2026-07-27 to 2026-07-31</a:t>
            </a:r>
            <a:endParaRPr b="0" i="0" sz="1442"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72033"/>
              </a:buClr>
              <a:buSzPts val="1242"/>
              <a:buFont typeface="Arial"/>
              <a:buNone/>
            </a:pPr>
            <a:r>
              <a:rPr b="1" i="0" lang="zh-CN" sz="1442" u="none" cap="none" strike="noStrike">
                <a:solidFill>
                  <a:srgbClr val="172033"/>
                </a:solidFill>
                <a:latin typeface="Arial"/>
                <a:ea typeface="Arial"/>
                <a:cs typeface="Arial"/>
                <a:sym typeface="Arial"/>
              </a:rPr>
              <a:t>Month baseline: July · U.S. midterm election year</a:t>
            </a:r>
            <a:endParaRPr b="0" i="0" sz="1442" u="none" cap="none" strike="noStrike">
              <a:solidFill>
                <a:schemeClr val="dk1"/>
              </a:solidFill>
              <a:latin typeface="Arial"/>
              <a:ea typeface="Arial"/>
              <a:cs typeface="Arial"/>
              <a:sym typeface="Arial"/>
            </a:endParaRPr>
          </a:p>
        </p:txBody>
      </p:sp>
      <p:sp>
        <p:nvSpPr>
          <p:cNvPr id="346" name="Google Shape;346;p23"/>
          <p:cNvSpPr/>
          <p:nvPr/>
        </p:nvSpPr>
        <p:spPr>
          <a:xfrm>
            <a:off x="180075" y="1838152"/>
            <a:ext cx="4152600" cy="522000"/>
          </a:xfrm>
          <a:prstGeom prst="roundRect">
            <a:avLst>
              <a:gd fmla="val 13636" name="adj"/>
            </a:avLst>
          </a:prstGeom>
          <a:solidFill>
            <a:srgbClr val="B42318"/>
          </a:solidFill>
          <a:ln cap="flat" cmpd="sng" w="9850">
            <a:solidFill>
              <a:srgbClr val="B42318">
                <a:alpha val="0"/>
              </a:srgbClr>
            </a:solidFill>
            <a:prstDash val="solid"/>
            <a:round/>
            <a:headEnd len="sm" w="sm" type="none"/>
            <a:tailEnd len="sm" w="sm" type="none"/>
          </a:ln>
        </p:spPr>
        <p:txBody>
          <a:bodyPr anchorCtr="0" anchor="ctr" bIns="70975" lIns="70975" spcFirstLastPara="1" rIns="70975" wrap="square" tIns="70975">
            <a:noAutofit/>
          </a:bodyPr>
          <a:lstStyle/>
          <a:p>
            <a:pPr indent="0" lvl="0" marL="0" rtl="0" algn="l">
              <a:spcBef>
                <a:spcPts val="0"/>
              </a:spcBef>
              <a:spcAft>
                <a:spcPts val="0"/>
              </a:spcAft>
              <a:buNone/>
            </a:pPr>
            <a:r>
              <a:rPr lang="zh-CN">
                <a:solidFill>
                  <a:schemeClr val="lt1"/>
                </a:solidFill>
              </a:rPr>
              <a:t>Overall index bias: Bearish · Confidence: Medium</a:t>
            </a:r>
            <a:endParaRPr>
              <a:solidFill>
                <a:schemeClr val="lt1"/>
              </a:solidFill>
            </a:endParaRPr>
          </a:p>
        </p:txBody>
      </p:sp>
      <p:sp>
        <p:nvSpPr>
          <p:cNvPr id="347" name="Google Shape;347;p23"/>
          <p:cNvSpPr/>
          <p:nvPr/>
        </p:nvSpPr>
        <p:spPr>
          <a:xfrm>
            <a:off x="180075" y="2581384"/>
            <a:ext cx="2129400" cy="1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5C9F"/>
              </a:buClr>
              <a:buSzPts val="725"/>
              <a:buFont typeface="Arial"/>
              <a:buNone/>
            </a:pPr>
            <a:r>
              <a:rPr b="1" i="0" lang="zh-CN" sz="1225" u="none" cap="none" strike="noStrike">
                <a:solidFill>
                  <a:srgbClr val="245C9F"/>
                </a:solidFill>
                <a:latin typeface="Arial"/>
                <a:ea typeface="Arial"/>
                <a:cs typeface="Arial"/>
                <a:sym typeface="Arial"/>
              </a:rPr>
              <a:t>INDEX MIDTERM RETURNS</a:t>
            </a:r>
            <a:endParaRPr b="0" i="0" sz="1225" u="none" cap="none" strike="noStrike">
              <a:solidFill>
                <a:schemeClr val="dk1"/>
              </a:solidFill>
              <a:latin typeface="Arial"/>
              <a:ea typeface="Arial"/>
              <a:cs typeface="Arial"/>
              <a:sym typeface="Arial"/>
            </a:endParaRPr>
          </a:p>
        </p:txBody>
      </p:sp>
      <p:cxnSp>
        <p:nvCxnSpPr>
          <p:cNvPr id="348" name="Google Shape;348;p23"/>
          <p:cNvCxnSpPr/>
          <p:nvPr/>
        </p:nvCxnSpPr>
        <p:spPr>
          <a:xfrm>
            <a:off x="3111647" y="2826493"/>
            <a:ext cx="0" cy="1130400"/>
          </a:xfrm>
          <a:prstGeom prst="straightConnector1">
            <a:avLst/>
          </a:prstGeom>
          <a:noFill/>
          <a:ln cap="flat" cmpd="sng" w="7900">
            <a:solidFill>
              <a:srgbClr val="8A94A6"/>
            </a:solidFill>
            <a:prstDash val="solid"/>
            <a:round/>
            <a:headEnd len="sm" w="sm" type="none"/>
            <a:tailEnd len="sm" w="sm" type="none"/>
          </a:ln>
        </p:spPr>
      </p:cxnSp>
      <p:sp>
        <p:nvSpPr>
          <p:cNvPr id="349" name="Google Shape;349;p23"/>
          <p:cNvSpPr/>
          <p:nvPr/>
        </p:nvSpPr>
        <p:spPr>
          <a:xfrm>
            <a:off x="222664" y="3047881"/>
            <a:ext cx="1100100" cy="17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932"/>
              <a:buFont typeface="Arial"/>
              <a:buNone/>
            </a:pPr>
            <a:r>
              <a:rPr b="1" i="0" lang="zh-CN" sz="932" u="none" cap="none" strike="noStrike">
                <a:solidFill>
                  <a:srgbClr val="172033"/>
                </a:solidFill>
                <a:latin typeface="Arial"/>
                <a:ea typeface="Arial"/>
                <a:cs typeface="Arial"/>
                <a:sym typeface="Arial"/>
              </a:rPr>
              <a:t>SPX</a:t>
            </a:r>
            <a:endParaRPr b="0" i="0" sz="932" u="none" cap="none" strike="noStrike">
              <a:solidFill>
                <a:schemeClr val="dk1"/>
              </a:solidFill>
              <a:latin typeface="Arial"/>
              <a:ea typeface="Arial"/>
              <a:cs typeface="Arial"/>
              <a:sym typeface="Arial"/>
            </a:endParaRPr>
          </a:p>
        </p:txBody>
      </p:sp>
      <p:sp>
        <p:nvSpPr>
          <p:cNvPr id="350" name="Google Shape;350;p23"/>
          <p:cNvSpPr/>
          <p:nvPr/>
        </p:nvSpPr>
        <p:spPr>
          <a:xfrm>
            <a:off x="3111647" y="3055788"/>
            <a:ext cx="507300" cy="174000"/>
          </a:xfrm>
          <a:prstGeom prst="rect">
            <a:avLst/>
          </a:prstGeom>
          <a:solidFill>
            <a:srgbClr val="2E7D32"/>
          </a:solidFill>
          <a:ln cap="flat" cmpd="sng" w="9850">
            <a:solidFill>
              <a:srgbClr val="2E7D32"/>
            </a:solidFill>
            <a:prstDash val="solid"/>
            <a:round/>
            <a:headEnd len="sm" w="sm" type="none"/>
            <a:tailEnd len="sm" w="sm" type="none"/>
          </a:ln>
        </p:spPr>
        <p:txBody>
          <a:bodyPr anchorCtr="0" anchor="ctr" bIns="70975" lIns="70975" spcFirstLastPara="1" rIns="70975" wrap="square" tIns="70975">
            <a:noAutofit/>
          </a:bodyPr>
          <a:lstStyle/>
          <a:p>
            <a:pPr indent="0" lvl="0" marL="0" rtl="0" algn="l">
              <a:spcBef>
                <a:spcPts val="0"/>
              </a:spcBef>
              <a:spcAft>
                <a:spcPts val="0"/>
              </a:spcAft>
              <a:buNone/>
            </a:pPr>
            <a:r>
              <a:t/>
            </a:r>
            <a:endParaRPr/>
          </a:p>
        </p:txBody>
      </p:sp>
      <p:sp>
        <p:nvSpPr>
          <p:cNvPr id="351" name="Google Shape;351;p23"/>
          <p:cNvSpPr/>
          <p:nvPr/>
        </p:nvSpPr>
        <p:spPr>
          <a:xfrm>
            <a:off x="3690153" y="3047881"/>
            <a:ext cx="411600" cy="17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932"/>
              <a:buFont typeface="Arial"/>
              <a:buNone/>
            </a:pPr>
            <a:r>
              <a:rPr b="1" i="0" lang="zh-CN" sz="932" u="none" cap="none" strike="noStrike">
                <a:solidFill>
                  <a:srgbClr val="2E7D32"/>
                </a:solidFill>
                <a:latin typeface="Arial"/>
                <a:ea typeface="Arial"/>
                <a:cs typeface="Arial"/>
                <a:sym typeface="Arial"/>
              </a:rPr>
              <a:t>+1.3%</a:t>
            </a:r>
            <a:endParaRPr b="0" i="0" sz="932" u="none" cap="none" strike="noStrike">
              <a:solidFill>
                <a:schemeClr val="dk1"/>
              </a:solidFill>
              <a:latin typeface="Arial"/>
              <a:ea typeface="Arial"/>
              <a:cs typeface="Arial"/>
              <a:sym typeface="Arial"/>
            </a:endParaRPr>
          </a:p>
        </p:txBody>
      </p:sp>
      <p:sp>
        <p:nvSpPr>
          <p:cNvPr id="352" name="Google Shape;352;p23"/>
          <p:cNvSpPr/>
          <p:nvPr/>
        </p:nvSpPr>
        <p:spPr>
          <a:xfrm>
            <a:off x="222664" y="3403684"/>
            <a:ext cx="1100100" cy="17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932"/>
              <a:buFont typeface="Arial"/>
              <a:buNone/>
            </a:pPr>
            <a:r>
              <a:rPr b="1" i="0" lang="zh-CN" sz="932" u="none" cap="none" strike="noStrike">
                <a:solidFill>
                  <a:srgbClr val="172033"/>
                </a:solidFill>
                <a:latin typeface="Arial"/>
                <a:ea typeface="Arial"/>
                <a:cs typeface="Arial"/>
                <a:sym typeface="Arial"/>
              </a:rPr>
              <a:t>NDX proxy</a:t>
            </a:r>
            <a:endParaRPr b="0" i="0" sz="932" u="none" cap="none" strike="noStrike">
              <a:solidFill>
                <a:schemeClr val="dk1"/>
              </a:solidFill>
              <a:latin typeface="Arial"/>
              <a:ea typeface="Arial"/>
              <a:cs typeface="Arial"/>
              <a:sym typeface="Arial"/>
            </a:endParaRPr>
          </a:p>
        </p:txBody>
      </p:sp>
      <p:sp>
        <p:nvSpPr>
          <p:cNvPr id="353" name="Google Shape;353;p23"/>
          <p:cNvSpPr/>
          <p:nvPr/>
        </p:nvSpPr>
        <p:spPr>
          <a:xfrm>
            <a:off x="2799325" y="3411591"/>
            <a:ext cx="312300" cy="174000"/>
          </a:xfrm>
          <a:prstGeom prst="rect">
            <a:avLst/>
          </a:prstGeom>
          <a:solidFill>
            <a:srgbClr val="B42318"/>
          </a:solidFill>
          <a:ln cap="flat" cmpd="sng" w="9850">
            <a:solidFill>
              <a:srgbClr val="B42318"/>
            </a:solidFill>
            <a:prstDash val="solid"/>
            <a:round/>
            <a:headEnd len="sm" w="sm" type="none"/>
            <a:tailEnd len="sm" w="sm" type="none"/>
          </a:ln>
        </p:spPr>
        <p:txBody>
          <a:bodyPr anchorCtr="0" anchor="ctr" bIns="70975" lIns="70975" spcFirstLastPara="1" rIns="70975" wrap="square" tIns="70975">
            <a:noAutofit/>
          </a:bodyPr>
          <a:lstStyle/>
          <a:p>
            <a:pPr indent="0" lvl="0" marL="0" rtl="0" algn="l">
              <a:spcBef>
                <a:spcPts val="0"/>
              </a:spcBef>
              <a:spcAft>
                <a:spcPts val="0"/>
              </a:spcAft>
              <a:buNone/>
            </a:pPr>
            <a:r>
              <a:t/>
            </a:r>
            <a:endParaRPr/>
          </a:p>
        </p:txBody>
      </p:sp>
      <p:sp>
        <p:nvSpPr>
          <p:cNvPr id="354" name="Google Shape;354;p23"/>
          <p:cNvSpPr/>
          <p:nvPr/>
        </p:nvSpPr>
        <p:spPr>
          <a:xfrm>
            <a:off x="2359234" y="3403684"/>
            <a:ext cx="411600" cy="17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2318"/>
              </a:buClr>
              <a:buSzPts val="932"/>
              <a:buFont typeface="Arial"/>
              <a:buNone/>
            </a:pPr>
            <a:r>
              <a:rPr b="1" i="0" lang="zh-CN" sz="932" u="none" cap="none" strike="noStrike">
                <a:solidFill>
                  <a:srgbClr val="B42318"/>
                </a:solidFill>
                <a:latin typeface="Arial"/>
                <a:ea typeface="Arial"/>
                <a:cs typeface="Arial"/>
                <a:sym typeface="Arial"/>
              </a:rPr>
              <a:t>-0.8%</a:t>
            </a:r>
            <a:endParaRPr b="0" i="0" sz="932" u="none" cap="none" strike="noStrike">
              <a:solidFill>
                <a:schemeClr val="dk1"/>
              </a:solidFill>
              <a:latin typeface="Arial"/>
              <a:ea typeface="Arial"/>
              <a:cs typeface="Arial"/>
              <a:sym typeface="Arial"/>
            </a:endParaRPr>
          </a:p>
        </p:txBody>
      </p:sp>
      <p:sp>
        <p:nvSpPr>
          <p:cNvPr id="355" name="Google Shape;355;p23"/>
          <p:cNvSpPr/>
          <p:nvPr/>
        </p:nvSpPr>
        <p:spPr>
          <a:xfrm>
            <a:off x="222664" y="3759487"/>
            <a:ext cx="1100100" cy="17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932"/>
              <a:buFont typeface="Arial"/>
              <a:buNone/>
            </a:pPr>
            <a:r>
              <a:rPr b="1" i="0" lang="zh-CN" sz="932" u="none" cap="none" strike="noStrike">
                <a:solidFill>
                  <a:srgbClr val="172033"/>
                </a:solidFill>
                <a:latin typeface="Arial"/>
                <a:ea typeface="Arial"/>
                <a:cs typeface="Arial"/>
                <a:sym typeface="Arial"/>
              </a:rPr>
              <a:t>IWM</a:t>
            </a:r>
            <a:endParaRPr b="0" i="0" sz="932" u="none" cap="none" strike="noStrike">
              <a:solidFill>
                <a:schemeClr val="dk1"/>
              </a:solidFill>
              <a:latin typeface="Arial"/>
              <a:ea typeface="Arial"/>
              <a:cs typeface="Arial"/>
              <a:sym typeface="Arial"/>
            </a:endParaRPr>
          </a:p>
        </p:txBody>
      </p:sp>
      <p:sp>
        <p:nvSpPr>
          <p:cNvPr id="356" name="Google Shape;356;p23"/>
          <p:cNvSpPr/>
          <p:nvPr/>
        </p:nvSpPr>
        <p:spPr>
          <a:xfrm>
            <a:off x="2135639" y="3767393"/>
            <a:ext cx="975900" cy="174000"/>
          </a:xfrm>
          <a:prstGeom prst="rect">
            <a:avLst/>
          </a:prstGeom>
          <a:solidFill>
            <a:srgbClr val="B42318"/>
          </a:solidFill>
          <a:ln cap="flat" cmpd="sng" w="9850">
            <a:solidFill>
              <a:srgbClr val="B42318"/>
            </a:solidFill>
            <a:prstDash val="solid"/>
            <a:round/>
            <a:headEnd len="sm" w="sm" type="none"/>
            <a:tailEnd len="sm" w="sm" type="none"/>
          </a:ln>
        </p:spPr>
        <p:txBody>
          <a:bodyPr anchorCtr="0" anchor="ctr" bIns="70975" lIns="70975" spcFirstLastPara="1" rIns="70975" wrap="square" tIns="70975">
            <a:noAutofit/>
          </a:bodyPr>
          <a:lstStyle/>
          <a:p>
            <a:pPr indent="0" lvl="0" marL="0" rtl="0" algn="l">
              <a:spcBef>
                <a:spcPts val="0"/>
              </a:spcBef>
              <a:spcAft>
                <a:spcPts val="0"/>
              </a:spcAft>
              <a:buNone/>
            </a:pPr>
            <a:r>
              <a:t/>
            </a:r>
            <a:endParaRPr/>
          </a:p>
        </p:txBody>
      </p:sp>
      <p:sp>
        <p:nvSpPr>
          <p:cNvPr id="357" name="Google Shape;357;p23"/>
          <p:cNvSpPr/>
          <p:nvPr/>
        </p:nvSpPr>
        <p:spPr>
          <a:xfrm>
            <a:off x="1695549" y="3759487"/>
            <a:ext cx="411600" cy="17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2318"/>
              </a:buClr>
              <a:buSzPts val="932"/>
              <a:buFont typeface="Arial"/>
              <a:buNone/>
            </a:pPr>
            <a:r>
              <a:rPr b="1" i="0" lang="zh-CN" sz="932" u="none" cap="none" strike="noStrike">
                <a:solidFill>
                  <a:srgbClr val="B42318"/>
                </a:solidFill>
                <a:latin typeface="Arial"/>
                <a:ea typeface="Arial"/>
                <a:cs typeface="Arial"/>
                <a:sym typeface="Arial"/>
              </a:rPr>
              <a:t>-2.5%</a:t>
            </a:r>
            <a:endParaRPr b="0" i="0" sz="932" u="none" cap="none" strike="noStrike">
              <a:solidFill>
                <a:schemeClr val="dk1"/>
              </a:solidFill>
              <a:latin typeface="Arial"/>
              <a:ea typeface="Arial"/>
              <a:cs typeface="Arial"/>
              <a:sym typeface="Arial"/>
            </a:endParaRPr>
          </a:p>
        </p:txBody>
      </p:sp>
      <p:sp>
        <p:nvSpPr>
          <p:cNvPr id="358" name="Google Shape;358;p23"/>
          <p:cNvSpPr/>
          <p:nvPr/>
        </p:nvSpPr>
        <p:spPr>
          <a:xfrm>
            <a:off x="201370" y="4265517"/>
            <a:ext cx="4116900" cy="5694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2B3445"/>
              </a:buClr>
              <a:buSzPts val="1035"/>
              <a:buFont typeface="Arial"/>
              <a:buNone/>
            </a:pPr>
            <a:r>
              <a:rPr b="0" i="0" lang="zh-CN" sz="1235" u="none" cap="none" strike="noStrike">
                <a:solidFill>
                  <a:srgbClr val="2B3445"/>
                </a:solidFill>
                <a:latin typeface="Arial"/>
                <a:ea typeface="Arial"/>
                <a:cs typeface="Arial"/>
                <a:sym typeface="Arial"/>
              </a:rPr>
              <a:t>Interpretation: SPX is positive, but NDX proxy, and IWM are negative in July midterm-year averages, so the derived index outlook is bearish with medium confidence.</a:t>
            </a:r>
            <a:endParaRPr b="0" i="0" sz="1235" u="none" cap="none" strike="noStrike">
              <a:solidFill>
                <a:schemeClr val="dk1"/>
              </a:solidFill>
              <a:latin typeface="Arial"/>
              <a:ea typeface="Arial"/>
              <a:cs typeface="Arial"/>
              <a:sym typeface="Arial"/>
            </a:endParaRPr>
          </a:p>
        </p:txBody>
      </p:sp>
      <p:sp>
        <p:nvSpPr>
          <p:cNvPr id="359" name="Google Shape;359;p23"/>
          <p:cNvSpPr/>
          <p:nvPr/>
        </p:nvSpPr>
        <p:spPr>
          <a:xfrm>
            <a:off x="4850743" y="865625"/>
            <a:ext cx="1774500" cy="18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5C9F"/>
              </a:buClr>
              <a:buSzPts val="725"/>
              <a:buFont typeface="Arial"/>
              <a:buNone/>
            </a:pPr>
            <a:r>
              <a:rPr b="1" i="0" lang="zh-CN" sz="1225" u="none" cap="none" strike="noStrike">
                <a:solidFill>
                  <a:srgbClr val="245C9F"/>
                </a:solidFill>
                <a:latin typeface="Arial"/>
                <a:ea typeface="Arial"/>
                <a:cs typeface="Arial"/>
                <a:sym typeface="Arial"/>
              </a:rPr>
              <a:t>SECTOR MATRIX</a:t>
            </a:r>
            <a:endParaRPr b="0" i="0" sz="1225" u="none" cap="none" strike="noStrike">
              <a:solidFill>
                <a:schemeClr val="dk1"/>
              </a:solidFill>
              <a:latin typeface="Arial"/>
              <a:ea typeface="Arial"/>
              <a:cs typeface="Arial"/>
              <a:sym typeface="Arial"/>
            </a:endParaRPr>
          </a:p>
        </p:txBody>
      </p:sp>
      <p:sp>
        <p:nvSpPr>
          <p:cNvPr id="360" name="Google Shape;360;p23"/>
          <p:cNvSpPr/>
          <p:nvPr/>
        </p:nvSpPr>
        <p:spPr>
          <a:xfrm>
            <a:off x="4850743" y="1118640"/>
            <a:ext cx="1845600" cy="2136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2E7D32"/>
              </a:buClr>
              <a:buSzPts val="1139"/>
              <a:buFont typeface="Arial"/>
              <a:buNone/>
            </a:pPr>
            <a:r>
              <a:rPr b="1" i="0" lang="zh-CN" sz="1139" u="none" cap="none" strike="noStrike">
                <a:solidFill>
                  <a:srgbClr val="2E7D32"/>
                </a:solidFill>
                <a:latin typeface="Arial"/>
                <a:ea typeface="Arial"/>
                <a:cs typeface="Arial"/>
                <a:sym typeface="Arial"/>
              </a:rPr>
              <a:t>Long seasonal rows</a:t>
            </a:r>
            <a:endParaRPr b="0" i="0" sz="1139" u="none" cap="none" strike="noStrike">
              <a:solidFill>
                <a:schemeClr val="dk1"/>
              </a:solidFill>
              <a:latin typeface="Arial"/>
              <a:ea typeface="Arial"/>
              <a:cs typeface="Arial"/>
              <a:sym typeface="Arial"/>
            </a:endParaRPr>
          </a:p>
        </p:txBody>
      </p:sp>
      <p:sp>
        <p:nvSpPr>
          <p:cNvPr id="361" name="Google Shape;361;p23"/>
          <p:cNvSpPr/>
          <p:nvPr/>
        </p:nvSpPr>
        <p:spPr>
          <a:xfrm>
            <a:off x="7086688" y="1118640"/>
            <a:ext cx="1845600" cy="2136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B42318"/>
              </a:buClr>
              <a:buSzPts val="1139"/>
              <a:buFont typeface="Arial"/>
              <a:buNone/>
            </a:pPr>
            <a:r>
              <a:rPr b="1" i="0" lang="zh-CN" sz="1139" u="none" cap="none" strike="noStrike">
                <a:solidFill>
                  <a:srgbClr val="B42318"/>
                </a:solidFill>
                <a:latin typeface="Arial"/>
                <a:ea typeface="Arial"/>
                <a:cs typeface="Arial"/>
                <a:sym typeface="Arial"/>
              </a:rPr>
              <a:t>Short seasona</a:t>
            </a:r>
            <a:r>
              <a:rPr b="1" i="0" lang="zh-CN" sz="1239" u="none" cap="none" strike="noStrike">
                <a:solidFill>
                  <a:srgbClr val="B42318"/>
                </a:solidFill>
                <a:latin typeface="Arial"/>
                <a:ea typeface="Arial"/>
                <a:cs typeface="Arial"/>
                <a:sym typeface="Arial"/>
              </a:rPr>
              <a:t>l</a:t>
            </a:r>
            <a:r>
              <a:rPr b="1" i="0" lang="zh-CN" sz="1139" u="none" cap="none" strike="noStrike">
                <a:solidFill>
                  <a:srgbClr val="B42318"/>
                </a:solidFill>
                <a:latin typeface="Arial"/>
                <a:ea typeface="Arial"/>
                <a:cs typeface="Arial"/>
                <a:sym typeface="Arial"/>
              </a:rPr>
              <a:t> rows</a:t>
            </a:r>
            <a:endParaRPr b="0" i="0" sz="1139" u="none" cap="none" strike="noStrike">
              <a:solidFill>
                <a:schemeClr val="dk1"/>
              </a:solidFill>
              <a:latin typeface="Arial"/>
              <a:ea typeface="Arial"/>
              <a:cs typeface="Arial"/>
              <a:sym typeface="Arial"/>
            </a:endParaRPr>
          </a:p>
        </p:txBody>
      </p:sp>
      <p:sp>
        <p:nvSpPr>
          <p:cNvPr id="362" name="Google Shape;362;p23"/>
          <p:cNvSpPr/>
          <p:nvPr/>
        </p:nvSpPr>
        <p:spPr>
          <a:xfrm>
            <a:off x="4572000" y="4834925"/>
            <a:ext cx="4116900" cy="2211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64748B"/>
              </a:buClr>
              <a:buSzPts val="932"/>
              <a:buFont typeface="Arial"/>
              <a:buNone/>
            </a:pPr>
            <a:r>
              <a:rPr b="0" i="0" lang="zh-CN" sz="932" u="none" cap="none" strike="noStrike">
                <a:solidFill>
                  <a:srgbClr val="64748B"/>
                </a:solidFill>
                <a:latin typeface="Arial"/>
                <a:ea typeface="Arial"/>
                <a:cs typeface="Arial"/>
                <a:sym typeface="Arial"/>
              </a:rPr>
              <a:t>Source: July Vital Statistics page 92; Sector Index Seasonality pages 130</a:t>
            </a:r>
            <a:r>
              <a:rPr lang="zh-CN" sz="932">
                <a:solidFill>
                  <a:srgbClr val="64748B"/>
                </a:solidFill>
              </a:rPr>
              <a:t>-</a:t>
            </a:r>
            <a:r>
              <a:rPr b="0" i="0" lang="zh-CN" sz="932" u="none" cap="none" strike="noStrike">
                <a:solidFill>
                  <a:srgbClr val="64748B"/>
                </a:solidFill>
                <a:latin typeface="Arial"/>
                <a:ea typeface="Arial"/>
                <a:cs typeface="Arial"/>
                <a:sym typeface="Arial"/>
              </a:rPr>
              <a:t>131.</a:t>
            </a:r>
            <a:endParaRPr b="0" i="0" sz="932" u="none" cap="none" strike="noStrike">
              <a:solidFill>
                <a:schemeClr val="dk1"/>
              </a:solidFill>
              <a:latin typeface="Arial"/>
              <a:ea typeface="Arial"/>
              <a:cs typeface="Arial"/>
              <a:sym typeface="Arial"/>
            </a:endParaRPr>
          </a:p>
        </p:txBody>
      </p:sp>
      <p:sp>
        <p:nvSpPr>
          <p:cNvPr id="363" name="Google Shape;363;p23"/>
          <p:cNvSpPr/>
          <p:nvPr/>
        </p:nvSpPr>
        <p:spPr>
          <a:xfrm>
            <a:off x="4840175" y="1395375"/>
            <a:ext cx="1559100" cy="1826400"/>
          </a:xfrm>
          <a:prstGeom prst="roundRect">
            <a:avLst>
              <a:gd fmla="val 3670" name="adj"/>
            </a:avLst>
          </a:prstGeom>
          <a:solidFill>
            <a:srgbClr val="FFFFFF"/>
          </a:solidFill>
          <a:ln cap="flat" cmpd="sng" w="7150">
            <a:solidFill>
              <a:srgbClr val="D5DDE8"/>
            </a:solidFill>
            <a:prstDash val="solid"/>
            <a:round/>
            <a:headEnd len="sm" w="sm" type="none"/>
            <a:tailEnd len="sm" w="sm" type="none"/>
          </a:ln>
          <a:effectLst>
            <a:outerShdw blurRad="9525" rotWithShape="0" algn="bl" dir="2700000" dist="38101">
              <a:srgbClr val="000000">
                <a:alpha val="7840"/>
              </a:srgbClr>
            </a:outerShdw>
          </a:effectLst>
        </p:spPr>
        <p:txBody>
          <a:bodyPr anchorCtr="0" anchor="t" bIns="68575" lIns="68575" spcFirstLastPara="1" rIns="68575" wrap="square" tIns="68575">
            <a:noAutofit/>
          </a:bodyPr>
          <a:lstStyle/>
          <a:p>
            <a:pPr indent="0" lvl="0" marL="0" rtl="0" algn="l">
              <a:spcBef>
                <a:spcPts val="0"/>
              </a:spcBef>
              <a:spcAft>
                <a:spcPts val="0"/>
              </a:spcAft>
              <a:buClr>
                <a:schemeClr val="dk1"/>
              </a:buClr>
              <a:buSzPts val="1100"/>
              <a:buFont typeface="Arial"/>
              <a:buNone/>
            </a:pPr>
            <a:r>
              <a:rPr lang="zh-CN" sz="1100"/>
              <a:t>XLY +13.11%</a:t>
            </a:r>
            <a:endParaRPr sz="1100"/>
          </a:p>
          <a:p>
            <a:pPr indent="0" lvl="0" marL="0" rtl="0" algn="l">
              <a:spcBef>
                <a:spcPts val="0"/>
              </a:spcBef>
              <a:spcAft>
                <a:spcPts val="0"/>
              </a:spcAft>
              <a:buClr>
                <a:schemeClr val="dk1"/>
              </a:buClr>
              <a:buSzPts val="1100"/>
              <a:buFont typeface="Arial"/>
              <a:buNone/>
            </a:pPr>
            <a:r>
              <a:rPr lang="zh-CN" sz="1100"/>
              <a:t>XLI +11.30%</a:t>
            </a:r>
            <a:endParaRPr sz="1100"/>
          </a:p>
          <a:p>
            <a:pPr indent="0" lvl="0" marL="0" rtl="0" algn="l">
              <a:spcBef>
                <a:spcPts val="0"/>
              </a:spcBef>
              <a:spcAft>
                <a:spcPts val="0"/>
              </a:spcAft>
              <a:buClr>
                <a:schemeClr val="dk1"/>
              </a:buClr>
              <a:buSzPts val="1100"/>
              <a:buFont typeface="Arial"/>
              <a:buNone/>
            </a:pPr>
            <a:r>
              <a:rPr lang="zh-CN" sz="1100"/>
              <a:t>XLK +10.87%</a:t>
            </a:r>
            <a:endParaRPr sz="1100"/>
          </a:p>
          <a:p>
            <a:pPr indent="0" lvl="0" marL="0" rtl="0" algn="l">
              <a:spcBef>
                <a:spcPts val="0"/>
              </a:spcBef>
              <a:spcAft>
                <a:spcPts val="0"/>
              </a:spcAft>
              <a:buClr>
                <a:schemeClr val="dk1"/>
              </a:buClr>
              <a:buSzPts val="1100"/>
              <a:buFont typeface="Arial"/>
              <a:buNone/>
            </a:pPr>
            <a:r>
              <a:rPr lang="zh-CN" sz="1100"/>
              <a:t>XLRE +10.66%</a:t>
            </a:r>
            <a:endParaRPr sz="1100"/>
          </a:p>
          <a:p>
            <a:pPr indent="0" lvl="0" marL="0" rtl="0" algn="l">
              <a:spcBef>
                <a:spcPts val="0"/>
              </a:spcBef>
              <a:spcAft>
                <a:spcPts val="0"/>
              </a:spcAft>
              <a:buClr>
                <a:schemeClr val="dk1"/>
              </a:buClr>
              <a:buSzPts val="1100"/>
              <a:buFont typeface="Arial"/>
              <a:buNone/>
            </a:pPr>
            <a:r>
              <a:rPr lang="zh-CN" sz="1100"/>
              <a:t>XLU +9.32%</a:t>
            </a:r>
            <a:endParaRPr sz="1100"/>
          </a:p>
          <a:p>
            <a:pPr indent="0" lvl="0" marL="0" rtl="0" algn="l">
              <a:spcBef>
                <a:spcPts val="0"/>
              </a:spcBef>
              <a:spcAft>
                <a:spcPts val="0"/>
              </a:spcAft>
              <a:buClr>
                <a:schemeClr val="dk1"/>
              </a:buClr>
              <a:buSzPts val="1100"/>
              <a:buFont typeface="Arial"/>
              <a:buNone/>
            </a:pPr>
            <a:r>
              <a:rPr lang="zh-CN" sz="1100"/>
              <a:t>XLV +8.74%</a:t>
            </a:r>
            <a:endParaRPr sz="1100"/>
          </a:p>
          <a:p>
            <a:pPr indent="0" lvl="0" marL="0" rtl="0" algn="l">
              <a:spcBef>
                <a:spcPts val="0"/>
              </a:spcBef>
              <a:spcAft>
                <a:spcPts val="0"/>
              </a:spcAft>
              <a:buClr>
                <a:schemeClr val="dk1"/>
              </a:buClr>
              <a:buSzPts val="1100"/>
              <a:buFont typeface="Arial"/>
              <a:buNone/>
            </a:pPr>
            <a:r>
              <a:rPr lang="zh-CN" sz="1100"/>
              <a:t>XLP +8.47%</a:t>
            </a:r>
            <a:endParaRPr sz="1100"/>
          </a:p>
          <a:p>
            <a:pPr indent="0" lvl="0" marL="0" rtl="0" algn="l">
              <a:spcBef>
                <a:spcPts val="0"/>
              </a:spcBef>
              <a:spcAft>
                <a:spcPts val="0"/>
              </a:spcAft>
              <a:buNone/>
            </a:pPr>
            <a:r>
              <a:rPr lang="zh-CN" sz="1100"/>
              <a:t>XLC +5.13%</a:t>
            </a:r>
            <a:endParaRPr sz="1100"/>
          </a:p>
        </p:txBody>
      </p:sp>
      <p:sp>
        <p:nvSpPr>
          <p:cNvPr id="364" name="Google Shape;364;p23"/>
          <p:cNvSpPr/>
          <p:nvPr/>
        </p:nvSpPr>
        <p:spPr>
          <a:xfrm>
            <a:off x="7086700" y="1395375"/>
            <a:ext cx="1559100" cy="1826400"/>
          </a:xfrm>
          <a:prstGeom prst="roundRect">
            <a:avLst>
              <a:gd fmla="val 3670" name="adj"/>
            </a:avLst>
          </a:prstGeom>
          <a:solidFill>
            <a:srgbClr val="FFFFFF"/>
          </a:solidFill>
          <a:ln cap="flat" cmpd="sng" w="7150">
            <a:solidFill>
              <a:srgbClr val="D5DDE8"/>
            </a:solidFill>
            <a:prstDash val="solid"/>
            <a:round/>
            <a:headEnd len="sm" w="sm" type="none"/>
            <a:tailEnd len="sm" w="sm" type="none"/>
          </a:ln>
          <a:effectLst>
            <a:outerShdw blurRad="9525" rotWithShape="0" algn="bl" dir="2700000" dist="38101">
              <a:srgbClr val="000000">
                <a:alpha val="7840"/>
              </a:srgbClr>
            </a:outerShdw>
          </a:effectLst>
        </p:spPr>
        <p:txBody>
          <a:bodyPr anchorCtr="0" anchor="t" bIns="68575" lIns="68575" spcFirstLastPara="1" rIns="68575" wrap="square" tIns="68575">
            <a:noAutofit/>
          </a:bodyPr>
          <a:lstStyle/>
          <a:p>
            <a:pPr indent="0" lvl="0" marL="0" rtl="0" algn="l">
              <a:spcBef>
                <a:spcPts val="0"/>
              </a:spcBef>
              <a:spcAft>
                <a:spcPts val="0"/>
              </a:spcAft>
              <a:buClr>
                <a:schemeClr val="dk1"/>
              </a:buClr>
              <a:buSzPts val="1100"/>
              <a:buFont typeface="Arial"/>
              <a:buNone/>
            </a:pPr>
            <a:r>
              <a:rPr lang="zh-CN" sz="1100"/>
              <a:t>XLF -6.30%</a:t>
            </a:r>
            <a:endParaRPr sz="1100"/>
          </a:p>
          <a:p>
            <a:pPr indent="0" lvl="0" marL="0" rtl="0" algn="l">
              <a:spcBef>
                <a:spcPts val="0"/>
              </a:spcBef>
              <a:spcAft>
                <a:spcPts val="0"/>
              </a:spcAft>
              <a:buClr>
                <a:schemeClr val="dk1"/>
              </a:buClr>
              <a:buSzPts val="1100"/>
              <a:buFont typeface="Arial"/>
              <a:buNone/>
            </a:pPr>
            <a:r>
              <a:rPr lang="zh-CN" sz="1100"/>
              <a:t>XLE -5.67%</a:t>
            </a:r>
            <a:endParaRPr sz="1100"/>
          </a:p>
          <a:p>
            <a:pPr indent="0" lvl="0" marL="0" rtl="0" algn="l">
              <a:spcBef>
                <a:spcPts val="0"/>
              </a:spcBef>
              <a:spcAft>
                <a:spcPts val="0"/>
              </a:spcAft>
              <a:buNone/>
            </a:pPr>
            <a:r>
              <a:rPr lang="zh-CN" sz="1100"/>
              <a:t>XLB -5.10%</a:t>
            </a:r>
            <a:endParaRPr sz="1100"/>
          </a:p>
        </p:txBody>
      </p:sp>
      <p:sp>
        <p:nvSpPr>
          <p:cNvPr id="365" name="Google Shape;365;p23"/>
          <p:cNvSpPr/>
          <p:nvPr/>
        </p:nvSpPr>
        <p:spPr>
          <a:xfrm>
            <a:off x="4755575" y="1395375"/>
            <a:ext cx="84600" cy="1826400"/>
          </a:xfrm>
          <a:prstGeom prst="rect">
            <a:avLst/>
          </a:prstGeom>
          <a:solidFill>
            <a:srgbClr val="2E7D32"/>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23"/>
          <p:cNvSpPr/>
          <p:nvPr/>
        </p:nvSpPr>
        <p:spPr>
          <a:xfrm>
            <a:off x="7002100" y="1395375"/>
            <a:ext cx="84600" cy="1826400"/>
          </a:xfrm>
          <a:prstGeom prst="rect">
            <a:avLst/>
          </a:prstGeom>
          <a:solidFill>
            <a:srgbClr val="B42318"/>
          </a:solidFill>
          <a:ln cap="flat" cmpd="sng" w="9525">
            <a:solidFill>
              <a:srgbClr val="B4231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71" name="Shape 371"/>
        <p:cNvGrpSpPr/>
        <p:nvPr/>
      </p:nvGrpSpPr>
      <p:grpSpPr>
        <a:xfrm>
          <a:off x="0" y="0"/>
          <a:ext cx="0" cy="0"/>
          <a:chOff x="0" y="0"/>
          <a:chExt cx="0" cy="0"/>
        </a:xfrm>
      </p:grpSpPr>
      <p:sp>
        <p:nvSpPr>
          <p:cNvPr id="372" name="Google Shape;372;p24"/>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73" name="Google Shape;373;p24"/>
          <p:cNvSpPr/>
          <p:nvPr/>
        </p:nvSpPr>
        <p:spPr>
          <a:xfrm>
            <a:off x="0" y="640080"/>
            <a:ext cx="9144000" cy="36600"/>
          </a:xfrm>
          <a:prstGeom prst="rect">
            <a:avLst/>
          </a:prstGeom>
          <a:solidFill>
            <a:srgbClr val="2878E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74" name="Google Shape;374;p24"/>
          <p:cNvSpPr/>
          <p:nvPr/>
        </p:nvSpPr>
        <p:spPr>
          <a:xfrm>
            <a:off x="384048" y="128016"/>
            <a:ext cx="2377500" cy="323100"/>
          </a:xfrm>
          <a:prstGeom prst="rect">
            <a:avLst/>
          </a:prstGeom>
          <a:noFill/>
          <a:ln>
            <a:noFill/>
          </a:ln>
        </p:spPr>
        <p:txBody>
          <a:bodyPr anchorCtr="0" anchor="ctr"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b="1" lang="zh-CN" sz="1500">
                <a:solidFill>
                  <a:schemeClr val="lt1"/>
                </a:solidFill>
              </a:rPr>
              <a:t>R4 Macro Lead</a:t>
            </a:r>
            <a:endParaRPr/>
          </a:p>
        </p:txBody>
      </p:sp>
      <p:pic>
        <p:nvPicPr>
          <p:cNvPr id="375" name="Google Shape;375;p24" title="R4.png"/>
          <p:cNvPicPr preferRelativeResize="0"/>
          <p:nvPr/>
        </p:nvPicPr>
        <p:blipFill>
          <a:blip r:embed="rId3">
            <a:alphaModFix/>
          </a:blip>
          <a:stretch>
            <a:fillRect/>
          </a:stretch>
        </p:blipFill>
        <p:spPr>
          <a:xfrm>
            <a:off x="0" y="-1"/>
            <a:ext cx="9144001" cy="514623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79" name="Shape 379"/>
        <p:cNvGrpSpPr/>
        <p:nvPr/>
      </p:nvGrpSpPr>
      <p:grpSpPr>
        <a:xfrm>
          <a:off x="0" y="0"/>
          <a:ext cx="0" cy="0"/>
          <a:chOff x="0" y="0"/>
          <a:chExt cx="0" cy="0"/>
        </a:xfrm>
      </p:grpSpPr>
      <p:sp>
        <p:nvSpPr>
          <p:cNvPr id="380" name="Google Shape;380;p25"/>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25"/>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p25"/>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R5 Technical Lead</a:t>
            </a:r>
            <a:endParaRPr/>
          </a:p>
        </p:txBody>
      </p:sp>
      <p:sp>
        <p:nvSpPr>
          <p:cNvPr id="383" name="Google Shape;383;p25"/>
          <p:cNvSpPr txBox="1"/>
          <p:nvPr/>
        </p:nvSpPr>
        <p:spPr>
          <a:xfrm>
            <a:off x="475488" y="877824"/>
            <a:ext cx="36576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800">
                <a:solidFill>
                  <a:srgbClr val="08172E"/>
                </a:solidFill>
                <a:latin typeface="Arial"/>
                <a:ea typeface="Arial"/>
                <a:cs typeface="Arial"/>
                <a:sym typeface="Arial"/>
              </a:rPr>
              <a:t>Invalidation playbook</a:t>
            </a:r>
            <a:endParaRPr/>
          </a:p>
        </p:txBody>
      </p:sp>
      <p:sp>
        <p:nvSpPr>
          <p:cNvPr id="384" name="Google Shape;384;p25"/>
          <p:cNvSpPr txBox="1"/>
          <p:nvPr/>
        </p:nvSpPr>
        <p:spPr>
          <a:xfrm>
            <a:off x="475488" y="1188720"/>
            <a:ext cx="6035100" cy="238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950">
                <a:solidFill>
                  <a:srgbClr val="56657D"/>
                </a:solidFill>
              </a:rPr>
              <a:t>Use this when the data pipeline needs to be precise and strictly validated.</a:t>
            </a:r>
            <a:endParaRPr/>
          </a:p>
        </p:txBody>
      </p:sp>
      <p:sp>
        <p:nvSpPr>
          <p:cNvPr id="385" name="Google Shape;385;p25"/>
          <p:cNvSpPr/>
          <p:nvPr/>
        </p:nvSpPr>
        <p:spPr>
          <a:xfrm>
            <a:off x="603504" y="1664208"/>
            <a:ext cx="2423100" cy="1188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6" name="Google Shape;386;p25"/>
          <p:cNvSpPr/>
          <p:nvPr/>
        </p:nvSpPr>
        <p:spPr>
          <a:xfrm>
            <a:off x="3364992" y="1664208"/>
            <a:ext cx="2423100" cy="1188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7" name="Google Shape;387;p25"/>
          <p:cNvSpPr/>
          <p:nvPr/>
        </p:nvSpPr>
        <p:spPr>
          <a:xfrm>
            <a:off x="6126480" y="1664208"/>
            <a:ext cx="2423100" cy="1188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8" name="Google Shape;388;p25"/>
          <p:cNvSpPr txBox="1"/>
          <p:nvPr/>
        </p:nvSpPr>
        <p:spPr>
          <a:xfrm>
            <a:off x="768096" y="2103120"/>
            <a:ext cx="2094000" cy="823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950">
                <a:solidFill>
                  <a:srgbClr val="56657D"/>
                </a:solidFill>
              </a:rPr>
              <a:t>The Python script fetches market data via yfinance, calculates technical indicators (EMA, RSI), and generates JSON, Markdown, and chart outputs for 14 assets.</a:t>
            </a:r>
            <a:endParaRPr/>
          </a:p>
        </p:txBody>
      </p:sp>
      <p:sp>
        <p:nvSpPr>
          <p:cNvPr id="389" name="Google Shape;389;p25"/>
          <p:cNvSpPr txBox="1"/>
          <p:nvPr/>
        </p:nvSpPr>
        <p:spPr>
          <a:xfrm>
            <a:off x="1106424" y="1773936"/>
            <a:ext cx="1783200" cy="261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00">
                <a:solidFill>
                  <a:srgbClr val="08172E"/>
                </a:solidFill>
                <a:latin typeface="Arial"/>
                <a:ea typeface="Arial"/>
                <a:cs typeface="Arial"/>
                <a:sym typeface="Arial"/>
              </a:rPr>
              <a:t>Setup</a:t>
            </a:r>
            <a:endParaRPr/>
          </a:p>
        </p:txBody>
      </p:sp>
      <p:sp>
        <p:nvSpPr>
          <p:cNvPr id="390" name="Google Shape;390;p25"/>
          <p:cNvSpPr txBox="1"/>
          <p:nvPr/>
        </p:nvSpPr>
        <p:spPr>
          <a:xfrm>
            <a:off x="3529583" y="2103120"/>
            <a:ext cx="2121300" cy="677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950">
                <a:solidFill>
                  <a:srgbClr val="56657D"/>
                </a:solidFill>
              </a:rPr>
              <a:t>Missing core assets (SPX, NDX, IWM) or detection of any NaN / Infinity values during the strict metrics validation phase.</a:t>
            </a:r>
            <a:endParaRPr/>
          </a:p>
        </p:txBody>
      </p:sp>
      <p:sp>
        <p:nvSpPr>
          <p:cNvPr id="391" name="Google Shape;391;p25"/>
          <p:cNvSpPr txBox="1"/>
          <p:nvPr/>
        </p:nvSpPr>
        <p:spPr>
          <a:xfrm>
            <a:off x="3867912" y="1773936"/>
            <a:ext cx="1783200" cy="261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00">
                <a:solidFill>
                  <a:srgbClr val="08172E"/>
                </a:solidFill>
                <a:latin typeface="Arial"/>
                <a:ea typeface="Arial"/>
                <a:cs typeface="Arial"/>
                <a:sym typeface="Arial"/>
              </a:rPr>
              <a:t>Invalidation trigger</a:t>
            </a:r>
            <a:endParaRPr/>
          </a:p>
        </p:txBody>
      </p:sp>
      <p:sp>
        <p:nvSpPr>
          <p:cNvPr id="392" name="Google Shape;392;p25"/>
          <p:cNvSpPr txBox="1"/>
          <p:nvPr/>
        </p:nvSpPr>
        <p:spPr>
          <a:xfrm>
            <a:off x="6291072" y="2103120"/>
            <a:ext cx="2121300" cy="677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950">
                <a:solidFill>
                  <a:srgbClr val="56657D"/>
                </a:solidFill>
              </a:rPr>
              <a:t>Immediately abort the GitHub Actions workflow, block file generation and commit, and log detailed errors instead of publishing bad data.</a:t>
            </a:r>
            <a:endParaRPr/>
          </a:p>
        </p:txBody>
      </p:sp>
      <p:sp>
        <p:nvSpPr>
          <p:cNvPr id="393" name="Google Shape;393;p25"/>
          <p:cNvSpPr txBox="1"/>
          <p:nvPr/>
        </p:nvSpPr>
        <p:spPr>
          <a:xfrm>
            <a:off x="6629400" y="1773936"/>
            <a:ext cx="1783200" cy="261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1100">
                <a:solidFill>
                  <a:srgbClr val="08172E"/>
                </a:solidFill>
                <a:latin typeface="Arial"/>
                <a:ea typeface="Arial"/>
                <a:cs typeface="Arial"/>
                <a:sym typeface="Arial"/>
              </a:rPr>
              <a:t>Action if triggered</a:t>
            </a:r>
            <a:endParaRPr/>
          </a:p>
        </p:txBody>
      </p:sp>
      <p:sp>
        <p:nvSpPr>
          <p:cNvPr id="394" name="Google Shape;394;p25"/>
          <p:cNvSpPr/>
          <p:nvPr/>
        </p:nvSpPr>
        <p:spPr>
          <a:xfrm>
            <a:off x="713232" y="1773936"/>
            <a:ext cx="320100" cy="320100"/>
          </a:xfrm>
          <a:prstGeom prst="roundRect">
            <a:avLst>
              <a:gd fmla="val 16667" name="adj"/>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95" name="Google Shape;395;p25"/>
          <p:cNvSpPr txBox="1"/>
          <p:nvPr/>
        </p:nvSpPr>
        <p:spPr>
          <a:xfrm>
            <a:off x="713232" y="1828800"/>
            <a:ext cx="3201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zh-CN" sz="800">
                <a:solidFill>
                  <a:srgbClr val="FFFFFF"/>
                </a:solidFill>
                <a:latin typeface="Arial"/>
                <a:ea typeface="Arial"/>
                <a:cs typeface="Arial"/>
                <a:sym typeface="Arial"/>
              </a:rPr>
              <a:t>1</a:t>
            </a:r>
            <a:endParaRPr/>
          </a:p>
        </p:txBody>
      </p:sp>
      <p:sp>
        <p:nvSpPr>
          <p:cNvPr id="396" name="Google Shape;396;p25"/>
          <p:cNvSpPr/>
          <p:nvPr/>
        </p:nvSpPr>
        <p:spPr>
          <a:xfrm>
            <a:off x="3474720" y="1773936"/>
            <a:ext cx="320100" cy="320100"/>
          </a:xfrm>
          <a:prstGeom prst="roundRect">
            <a:avLst>
              <a:gd fmla="val 16667" name="adj"/>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97" name="Google Shape;397;p25"/>
          <p:cNvSpPr txBox="1"/>
          <p:nvPr/>
        </p:nvSpPr>
        <p:spPr>
          <a:xfrm>
            <a:off x="3474720" y="1828800"/>
            <a:ext cx="3201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zh-CN" sz="800">
                <a:solidFill>
                  <a:srgbClr val="FFFFFF"/>
                </a:solidFill>
                <a:latin typeface="Arial"/>
                <a:ea typeface="Arial"/>
                <a:cs typeface="Arial"/>
                <a:sym typeface="Arial"/>
              </a:rPr>
              <a:t>2</a:t>
            </a:r>
            <a:endParaRPr/>
          </a:p>
        </p:txBody>
      </p:sp>
      <p:sp>
        <p:nvSpPr>
          <p:cNvPr id="398" name="Google Shape;398;p25"/>
          <p:cNvSpPr/>
          <p:nvPr/>
        </p:nvSpPr>
        <p:spPr>
          <a:xfrm>
            <a:off x="6236208" y="1773936"/>
            <a:ext cx="320100" cy="3201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99" name="Google Shape;399;p25"/>
          <p:cNvSpPr txBox="1"/>
          <p:nvPr/>
        </p:nvSpPr>
        <p:spPr>
          <a:xfrm>
            <a:off x="6236208" y="1828800"/>
            <a:ext cx="3201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zh-CN" sz="800">
                <a:solidFill>
                  <a:srgbClr val="FFFFFF"/>
                </a:solidFill>
                <a:latin typeface="Arial"/>
                <a:ea typeface="Arial"/>
                <a:cs typeface="Arial"/>
                <a:sym typeface="Arial"/>
              </a:rPr>
              <a:t>3</a:t>
            </a:r>
            <a:endParaRPr/>
          </a:p>
        </p:txBody>
      </p:sp>
      <p:sp>
        <p:nvSpPr>
          <p:cNvPr id="400" name="Google Shape;400;p25"/>
          <p:cNvSpPr/>
          <p:nvPr/>
        </p:nvSpPr>
        <p:spPr>
          <a:xfrm>
            <a:off x="603504" y="3401568"/>
            <a:ext cx="7937100" cy="804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01" name="Google Shape;401;p25"/>
          <p:cNvSpPr/>
          <p:nvPr/>
        </p:nvSpPr>
        <p:spPr>
          <a:xfrm>
            <a:off x="603504" y="3401568"/>
            <a:ext cx="73200" cy="8046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02" name="Google Shape;402;p25"/>
          <p:cNvSpPr txBox="1"/>
          <p:nvPr/>
        </p:nvSpPr>
        <p:spPr>
          <a:xfrm>
            <a:off x="740664" y="3493008"/>
            <a:ext cx="7708500" cy="276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1200">
                <a:solidFill>
                  <a:srgbClr val="F7F8FC"/>
                </a:solidFill>
                <a:highlight>
                  <a:srgbClr val="232326"/>
                </a:highlight>
              </a:rPr>
              <a:t>Strict Validation Rule</a:t>
            </a:r>
            <a:endParaRPr/>
          </a:p>
        </p:txBody>
      </p:sp>
      <p:sp>
        <p:nvSpPr>
          <p:cNvPr id="403" name="Google Shape;403;p25"/>
          <p:cNvSpPr txBox="1"/>
          <p:nvPr/>
        </p:nvSpPr>
        <p:spPr>
          <a:xfrm>
            <a:off x="740664" y="3785616"/>
            <a:ext cx="7708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1000">
                <a:solidFill>
                  <a:srgbClr val="56657D"/>
                </a:solidFill>
              </a:rPr>
              <a:t>The R5 pipeline output is valid as long as all core metrics are finite numbers. If NaN or Inf is detected in any field, the setup is invalidated and the workflow strictly fails to prevent bad output files.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07" name="Shape 407"/>
        <p:cNvGrpSpPr/>
        <p:nvPr/>
      </p:nvGrpSpPr>
      <p:grpSpPr>
        <a:xfrm>
          <a:off x="0" y="0"/>
          <a:ext cx="0" cy="0"/>
          <a:chOff x="0" y="0"/>
          <a:chExt cx="0" cy="0"/>
        </a:xfrm>
      </p:grpSpPr>
      <p:sp>
        <p:nvSpPr>
          <p:cNvPr id="408" name="Google Shape;408;p2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26"/>
          <p:cNvSpPr/>
          <p:nvPr/>
        </p:nvSpPr>
        <p:spPr>
          <a:xfrm>
            <a:off x="0" y="640080"/>
            <a:ext cx="9144000" cy="36600"/>
          </a:xfrm>
          <a:prstGeom prst="rect">
            <a:avLst/>
          </a:prstGeom>
          <a:solidFill>
            <a:srgbClr val="5C6C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0" name="Google Shape;410;p2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rtl="0" algn="l">
              <a:spcBef>
                <a:spcPts val="0"/>
              </a:spcBef>
              <a:spcAft>
                <a:spcPts val="0"/>
              </a:spcAft>
              <a:buNone/>
            </a:pPr>
            <a:r>
              <a:rPr b="1" lang="zh-CN" sz="1500">
                <a:solidFill>
                  <a:schemeClr val="lt1"/>
                </a:solidFill>
              </a:rPr>
              <a:t>R8 LLM Operator</a:t>
            </a:r>
            <a:endParaRPr b="1" sz="1500">
              <a:solidFill>
                <a:srgbClr val="FFFFFF"/>
              </a:solidFill>
            </a:endParaRPr>
          </a:p>
        </p:txBody>
      </p:sp>
      <p:pic>
        <p:nvPicPr>
          <p:cNvPr id="411" name="Google Shape;411;p26"/>
          <p:cNvPicPr preferRelativeResize="0"/>
          <p:nvPr/>
        </p:nvPicPr>
        <p:blipFill>
          <a:blip r:embed="rId3">
            <a:alphaModFix/>
          </a:blip>
          <a:stretch>
            <a:fillRect/>
          </a:stretch>
        </p:blipFill>
        <p:spPr>
          <a:xfrm>
            <a:off x="0" y="658500"/>
            <a:ext cx="9144003" cy="4485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15" name="Shape 415"/>
        <p:cNvGrpSpPr/>
        <p:nvPr/>
      </p:nvGrpSpPr>
      <p:grpSpPr>
        <a:xfrm>
          <a:off x="0" y="0"/>
          <a:ext cx="0" cy="0"/>
          <a:chOff x="0" y="0"/>
          <a:chExt cx="0" cy="0"/>
        </a:xfrm>
      </p:grpSpPr>
      <p:sp>
        <p:nvSpPr>
          <p:cNvPr id="416" name="Google Shape;416;p27"/>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7" name="Google Shape;417;p27"/>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8" name="Google Shape;418;p27"/>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zh-CN" sz="1500" u="none" cap="none" strike="noStrike">
                <a:solidFill>
                  <a:srgbClr val="FFFFFF"/>
                </a:solidFill>
                <a:latin typeface="Arial"/>
                <a:ea typeface="Arial"/>
                <a:cs typeface="Arial"/>
                <a:sym typeface="Arial"/>
              </a:rPr>
              <a:t>R7 Human Score</a:t>
            </a:r>
            <a:endParaRPr b="0" i="0" sz="1400" u="none" cap="none" strike="noStrike">
              <a:solidFill>
                <a:srgbClr val="000000"/>
              </a:solidFill>
              <a:latin typeface="Arial"/>
              <a:ea typeface="Arial"/>
              <a:cs typeface="Arial"/>
              <a:sym typeface="Arial"/>
            </a:endParaRPr>
          </a:p>
        </p:txBody>
      </p:sp>
      <p:sp>
        <p:nvSpPr>
          <p:cNvPr id="419" name="Google Shape;419;p27"/>
          <p:cNvSpPr txBox="1"/>
          <p:nvPr/>
        </p:nvSpPr>
        <p:spPr>
          <a:xfrm>
            <a:off x="457200" y="822960"/>
            <a:ext cx="36576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zh-CN" sz="2200" u="none" cap="none" strike="noStrike">
                <a:solidFill>
                  <a:schemeClr val="dk1"/>
                </a:solidFill>
                <a:latin typeface="Calibri"/>
                <a:ea typeface="Calibri"/>
                <a:cs typeface="Calibri"/>
                <a:sym typeface="Calibri"/>
              </a:rPr>
              <a:t>Human Score Dashboard</a:t>
            </a:r>
            <a:endParaRPr b="0" i="0" sz="1400" u="none" cap="none" strike="noStrike">
              <a:solidFill>
                <a:srgbClr val="000000"/>
              </a:solidFill>
              <a:latin typeface="Arial"/>
              <a:ea typeface="Arial"/>
              <a:cs typeface="Arial"/>
              <a:sym typeface="Arial"/>
            </a:endParaRPr>
          </a:p>
        </p:txBody>
      </p:sp>
      <p:sp>
        <p:nvSpPr>
          <p:cNvPr id="420" name="Google Shape;420;p27"/>
          <p:cNvSpPr/>
          <p:nvPr/>
        </p:nvSpPr>
        <p:spPr>
          <a:xfrm>
            <a:off x="36576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0" i="0" lang="zh-CN" sz="1400" u="none" cap="none" strike="noStrike">
                <a:solidFill>
                  <a:schemeClr val="dk1"/>
                </a:solidFill>
                <a:latin typeface="Calibri"/>
                <a:ea typeface="Calibri"/>
                <a:cs typeface="Calibri"/>
                <a:sym typeface="Calibri"/>
              </a:rPr>
              <a:t>    </a:t>
            </a:r>
            <a:r>
              <a:rPr b="1" i="0" lang="zh-CN" sz="1200" u="none" cap="none" strike="noStrike">
                <a:solidFill>
                  <a:schemeClr val="dk1"/>
                </a:solidFill>
                <a:latin typeface="Calibri"/>
                <a:ea typeface="Calibri"/>
                <a:cs typeface="Calibri"/>
                <a:sym typeface="Calibri"/>
              </a:rPr>
              <a:t>Macro / News</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200" u="none" cap="none" strike="noStrike">
                <a:solidFill>
                  <a:schemeClr val="dk1"/>
                </a:solidFill>
                <a:latin typeface="Calibri"/>
                <a:ea typeface="Calibri"/>
                <a:cs typeface="Calibri"/>
                <a:sym typeface="Calibri"/>
              </a:rPr>
              <a:t>           ( </a:t>
            </a:r>
            <a:r>
              <a:rPr b="1" lang="zh-CN" sz="1200">
                <a:solidFill>
                  <a:schemeClr val="dk1"/>
                </a:solidFill>
                <a:latin typeface="Calibri"/>
                <a:ea typeface="Calibri"/>
                <a:cs typeface="Calibri"/>
                <a:sym typeface="Calibri"/>
              </a:rPr>
              <a:t>-</a:t>
            </a:r>
            <a:r>
              <a:rPr b="1" i="0" lang="zh-CN" sz="1200" u="none" cap="none" strike="noStrike">
                <a:solidFill>
                  <a:schemeClr val="dk1"/>
                </a:solidFill>
                <a:latin typeface="Calibri"/>
                <a:ea typeface="Calibri"/>
                <a:cs typeface="Calibri"/>
                <a:sym typeface="Calibri"/>
              </a:rPr>
              <a:t>1 )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200" u="none" cap="none" strike="noStrike">
                <a:solidFill>
                  <a:schemeClr val="dk1"/>
                </a:solidFill>
                <a:latin typeface="Calibri"/>
                <a:ea typeface="Calibri"/>
                <a:cs typeface="Calibri"/>
                <a:sym typeface="Calibri"/>
              </a:rPr>
              <a:t>-</a:t>
            </a:r>
            <a:r>
              <a:rPr b="1" lang="zh-CN" sz="1200">
                <a:solidFill>
                  <a:schemeClr val="dk1"/>
                </a:solidFill>
                <a:latin typeface="Calibri"/>
                <a:ea typeface="Calibri"/>
                <a:cs typeface="Calibri"/>
                <a:sym typeface="Calibri"/>
              </a:rPr>
              <a:t>Moderately Bearish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200" u="none" cap="none" strike="noStrike">
                <a:solidFill>
                  <a:schemeClr val="dk1"/>
                </a:solidFill>
                <a:latin typeface="Calibri"/>
                <a:ea typeface="Calibri"/>
                <a:cs typeface="Calibri"/>
                <a:sym typeface="Calibri"/>
              </a:rPr>
              <a:t>-</a:t>
            </a:r>
            <a:r>
              <a:rPr b="1" lang="zh-CN" sz="1200">
                <a:solidFill>
                  <a:schemeClr val="dk1"/>
                </a:solidFill>
                <a:latin typeface="Calibri"/>
                <a:ea typeface="Calibri"/>
                <a:cs typeface="Calibri"/>
                <a:sym typeface="Calibri"/>
              </a:rPr>
              <a:t>Indices declined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200" u="none" cap="none" strike="noStrike">
                <a:solidFill>
                  <a:schemeClr val="dk1"/>
                </a:solidFill>
                <a:latin typeface="Calibri"/>
                <a:ea typeface="Calibri"/>
                <a:cs typeface="Calibri"/>
                <a:sym typeface="Calibri"/>
              </a:rPr>
              <a:t>-</a:t>
            </a:r>
            <a:r>
              <a:rPr b="1" lang="zh-CN" sz="1200">
                <a:solidFill>
                  <a:schemeClr val="dk1"/>
                </a:solidFill>
                <a:latin typeface="Calibri"/>
                <a:ea typeface="Calibri"/>
                <a:cs typeface="Calibri"/>
                <a:sym typeface="Calibri"/>
              </a:rPr>
              <a:t>Oil near $100 </a:t>
            </a:r>
            <a:endParaRPr b="1" i="0"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200" u="none" cap="none" strike="noStrike">
                <a:solidFill>
                  <a:schemeClr val="dk1"/>
                </a:solidFill>
                <a:latin typeface="Calibri"/>
                <a:ea typeface="Calibri"/>
                <a:cs typeface="Calibri"/>
                <a:sym typeface="Calibri"/>
              </a:rPr>
              <a:t>-</a:t>
            </a:r>
            <a:r>
              <a:rPr b="1" lang="zh-CN" sz="1200">
                <a:solidFill>
                  <a:schemeClr val="dk1"/>
                </a:solidFill>
                <a:latin typeface="Calibri"/>
                <a:ea typeface="Calibri"/>
                <a:cs typeface="Calibri"/>
                <a:sym typeface="Calibri"/>
              </a:rPr>
              <a:t>Treasury yields ↑ </a:t>
            </a:r>
            <a:endParaRPr b="1" sz="12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zh-CN" sz="1200">
                <a:solidFill>
                  <a:schemeClr val="dk1"/>
                </a:solidFill>
                <a:latin typeface="Calibri"/>
                <a:ea typeface="Calibri"/>
                <a:cs typeface="Calibri"/>
                <a:sym typeface="Calibri"/>
              </a:rPr>
              <a:t>-</a:t>
            </a:r>
            <a:r>
              <a:rPr b="1" lang="zh-CN" sz="1200">
                <a:solidFill>
                  <a:schemeClr val="dk1"/>
                </a:solidFill>
                <a:latin typeface="Calibri"/>
                <a:ea typeface="Calibri"/>
                <a:cs typeface="Calibri"/>
                <a:sym typeface="Calibri"/>
              </a:rPr>
              <a:t>CPI improved </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421" name="Google Shape;421;p27"/>
          <p:cNvSpPr/>
          <p:nvPr/>
        </p:nvSpPr>
        <p:spPr>
          <a:xfrm>
            <a:off x="210312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300" u="none" cap="none" strike="noStrike">
                <a:solidFill>
                  <a:schemeClr val="dk1"/>
                </a:solidFill>
                <a:latin typeface="Calibri"/>
                <a:ea typeface="Calibri"/>
                <a:cs typeface="Calibri"/>
                <a:sym typeface="Calibri"/>
              </a:rPr>
              <a:t>     </a:t>
            </a:r>
            <a:r>
              <a:rPr b="1" lang="zh-CN" sz="1300">
                <a:solidFill>
                  <a:schemeClr val="dk1"/>
                </a:solidFill>
                <a:latin typeface="Calibri"/>
                <a:ea typeface="Calibri"/>
                <a:cs typeface="Calibri"/>
                <a:sym typeface="Calibri"/>
              </a:rPr>
              <a:t>   </a:t>
            </a:r>
            <a:r>
              <a:rPr b="1" i="0" lang="zh-CN" sz="1300" u="none" cap="none" strike="noStrike">
                <a:solidFill>
                  <a:schemeClr val="dk1"/>
                </a:solidFill>
                <a:latin typeface="Calibri"/>
                <a:ea typeface="Calibri"/>
                <a:cs typeface="Calibri"/>
                <a:sym typeface="Calibri"/>
              </a:rPr>
              <a:t> </a:t>
            </a:r>
            <a:r>
              <a:rPr b="1" i="0" lang="zh-CN" sz="1000" u="none" cap="none" strike="noStrike">
                <a:solidFill>
                  <a:schemeClr val="dk1"/>
                </a:solidFill>
                <a:latin typeface="Calibri"/>
                <a:ea typeface="Calibri"/>
                <a:cs typeface="Calibri"/>
                <a:sym typeface="Calibri"/>
              </a:rPr>
              <a:t>Technical</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               (</a:t>
            </a:r>
            <a:r>
              <a:rPr b="1" lang="zh-CN" sz="1000">
                <a:solidFill>
                  <a:schemeClr val="dk1"/>
                </a:solidFill>
                <a:latin typeface="Calibri"/>
                <a:ea typeface="Calibri"/>
                <a:cs typeface="Calibri"/>
                <a:sym typeface="Calibri"/>
              </a:rPr>
              <a:t>-1</a:t>
            </a:r>
            <a:r>
              <a:rPr b="1" i="0" lang="zh-CN" sz="1000" u="none" cap="none" strike="noStrike">
                <a:solidFill>
                  <a:schemeClr val="dk1"/>
                </a:solidFill>
                <a:latin typeface="Calibri"/>
                <a:ea typeface="Calibri"/>
                <a:cs typeface="Calibri"/>
                <a:sym typeface="Calibri"/>
              </a:rPr>
              <a:t>)</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a:t>
            </a:r>
            <a:r>
              <a:rPr b="1" lang="zh-CN" sz="1000">
                <a:solidFill>
                  <a:schemeClr val="dk1"/>
                </a:solidFill>
                <a:latin typeface="Calibri"/>
                <a:ea typeface="Calibri"/>
                <a:cs typeface="Calibri"/>
                <a:sym typeface="Calibri"/>
              </a:rPr>
              <a:t>Below 8 &amp; 21 EMA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a:t>
            </a:r>
            <a:r>
              <a:rPr b="1" lang="zh-CN" sz="1000">
                <a:solidFill>
                  <a:schemeClr val="dk1"/>
                </a:solidFill>
                <a:latin typeface="Calibri"/>
                <a:ea typeface="Calibri"/>
                <a:cs typeface="Calibri"/>
                <a:sym typeface="Calibri"/>
              </a:rPr>
              <a:t>SPX bearish </a:t>
            </a:r>
            <a:r>
              <a:rPr b="1" lang="zh-CN" sz="1000">
                <a:solidFill>
                  <a:schemeClr val="dk1"/>
                </a:solidFill>
                <a:latin typeface="Calibri"/>
                <a:ea typeface="Calibri"/>
                <a:cs typeface="Calibri"/>
                <a:sym typeface="Calibri"/>
              </a:rPr>
              <a:t>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a:t>
            </a:r>
            <a:r>
              <a:rPr b="1" lang="zh-CN" sz="1000">
                <a:solidFill>
                  <a:schemeClr val="dk1"/>
                </a:solidFill>
                <a:latin typeface="Calibri"/>
                <a:ea typeface="Calibri"/>
                <a:cs typeface="Calibri"/>
                <a:sym typeface="Calibri"/>
              </a:rPr>
              <a:t>NDX bearish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a:t>
            </a:r>
            <a:r>
              <a:rPr b="1" lang="zh-CN" sz="1000">
                <a:solidFill>
                  <a:schemeClr val="dk1"/>
                </a:solidFill>
                <a:latin typeface="Calibri"/>
                <a:ea typeface="Calibri"/>
                <a:cs typeface="Calibri"/>
                <a:sym typeface="Calibri"/>
              </a:rPr>
              <a:t>IWM </a:t>
            </a:r>
            <a:r>
              <a:rPr b="1" lang="zh-CN" sz="1000">
                <a:solidFill>
                  <a:schemeClr val="dk1"/>
                </a:solidFill>
                <a:latin typeface="Calibri"/>
                <a:ea typeface="Calibri"/>
                <a:cs typeface="Calibri"/>
                <a:sym typeface="Calibri"/>
              </a:rPr>
              <a:t>bearish </a:t>
            </a:r>
            <a:endParaRPr b="1" sz="10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zh-CN" sz="1000">
                <a:solidFill>
                  <a:schemeClr val="dk1"/>
                </a:solidFill>
                <a:latin typeface="Calibri"/>
                <a:ea typeface="Calibri"/>
                <a:cs typeface="Calibri"/>
                <a:sym typeface="Calibri"/>
              </a:rPr>
              <a:t>-Momentum </a:t>
            </a:r>
            <a:r>
              <a:rPr b="1" lang="zh-CN" sz="1000">
                <a:solidFill>
                  <a:schemeClr val="dk1"/>
                </a:solidFill>
                <a:latin typeface="Calibri"/>
                <a:ea typeface="Calibri"/>
                <a:cs typeface="Calibri"/>
                <a:sym typeface="Calibri"/>
              </a:rPr>
              <a:t>weakening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22" name="Google Shape;422;p27"/>
          <p:cNvSpPr/>
          <p:nvPr/>
        </p:nvSpPr>
        <p:spPr>
          <a:xfrm>
            <a:off x="3840479"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400" u="none" cap="none" strike="noStrike">
                <a:solidFill>
                  <a:schemeClr val="dk1"/>
                </a:solidFill>
                <a:latin typeface="Calibri"/>
                <a:ea typeface="Calibri"/>
                <a:cs typeface="Calibri"/>
                <a:sym typeface="Calibri"/>
              </a:rPr>
              <a:t>        </a:t>
            </a:r>
            <a:r>
              <a:rPr b="1" i="0" lang="zh-CN" sz="1100" u="none" cap="none" strike="noStrike">
                <a:solidFill>
                  <a:schemeClr val="dk1"/>
                </a:solidFill>
                <a:latin typeface="Calibri"/>
                <a:ea typeface="Calibri"/>
                <a:cs typeface="Calibri"/>
                <a:sym typeface="Calibri"/>
              </a:rPr>
              <a:t>Almanac</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100" u="none" cap="none" strike="noStrike">
                <a:solidFill>
                  <a:schemeClr val="dk1"/>
                </a:solidFill>
                <a:latin typeface="Calibri"/>
                <a:ea typeface="Calibri"/>
                <a:cs typeface="Calibri"/>
                <a:sym typeface="Calibri"/>
              </a:rPr>
              <a:t>            (</a:t>
            </a:r>
            <a:r>
              <a:rPr b="1" lang="zh-CN" sz="1100">
                <a:solidFill>
                  <a:schemeClr val="dk1"/>
                </a:solidFill>
                <a:latin typeface="Calibri"/>
                <a:ea typeface="Calibri"/>
                <a:cs typeface="Calibri"/>
                <a:sym typeface="Calibri"/>
              </a:rPr>
              <a:t>-</a:t>
            </a:r>
            <a:r>
              <a:rPr b="1" i="0" lang="zh-CN" sz="1100" u="none" cap="none" strike="noStrike">
                <a:solidFill>
                  <a:schemeClr val="dk1"/>
                </a:solidFill>
                <a:latin typeface="Calibri"/>
                <a:ea typeface="Calibri"/>
                <a:cs typeface="Calibri"/>
                <a:sym typeface="Calibri"/>
              </a:rPr>
              <a:t>1)</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100" u="none" cap="none" strike="noStrike">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Strategic Bearish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100" u="none" cap="none" strike="noStrike">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July late cycle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100" u="none" cap="none" strike="noStrike">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NDX weaker </a:t>
            </a:r>
            <a:r>
              <a:rPr b="1" lang="zh-CN" sz="1100">
                <a:solidFill>
                  <a:schemeClr val="dk1"/>
                </a:solidFill>
                <a:latin typeface="Calibri"/>
                <a:ea typeface="Calibri"/>
                <a:cs typeface="Calibri"/>
                <a:sym typeface="Calibri"/>
              </a:rPr>
              <a:t>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100" u="none" cap="none" strike="noStrike">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IWM weaker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zh-CN" sz="1100">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Midterm effect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p:txBody>
      </p:sp>
      <p:sp>
        <p:nvSpPr>
          <p:cNvPr id="423" name="Google Shape;423;p27"/>
          <p:cNvSpPr/>
          <p:nvPr/>
        </p:nvSpPr>
        <p:spPr>
          <a:xfrm>
            <a:off x="557784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400" u="none" cap="none" strike="noStrike">
                <a:solidFill>
                  <a:schemeClr val="dk1"/>
                </a:solidFill>
                <a:latin typeface="Calibri"/>
                <a:ea typeface="Calibri"/>
                <a:cs typeface="Calibri"/>
                <a:sym typeface="Calibri"/>
              </a:rPr>
              <a:t>    </a:t>
            </a:r>
            <a:r>
              <a:rPr b="1" i="0" lang="zh-CN" sz="1100" u="none" cap="none" strike="noStrike">
                <a:solidFill>
                  <a:schemeClr val="dk1"/>
                </a:solidFill>
                <a:latin typeface="Calibri"/>
                <a:ea typeface="Calibri"/>
                <a:cs typeface="Calibri"/>
                <a:sym typeface="Calibri"/>
              </a:rPr>
              <a:t>AI Agreement</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100" u="none" cap="none" strike="noStrike">
                <a:solidFill>
                  <a:schemeClr val="dk1"/>
                </a:solidFill>
                <a:latin typeface="Calibri"/>
                <a:ea typeface="Calibri"/>
                <a:cs typeface="Calibri"/>
                <a:sym typeface="Calibri"/>
              </a:rPr>
              <a:t>             (</a:t>
            </a:r>
            <a:r>
              <a:rPr b="1" lang="zh-CN" sz="1100">
                <a:solidFill>
                  <a:schemeClr val="dk1"/>
                </a:solidFill>
                <a:latin typeface="Calibri"/>
                <a:ea typeface="Calibri"/>
                <a:cs typeface="Calibri"/>
                <a:sym typeface="Calibri"/>
              </a:rPr>
              <a:t>0</a:t>
            </a:r>
            <a:r>
              <a:rPr b="1" i="0" lang="zh-CN" sz="1100" u="none" cap="none" strike="noStrike">
                <a:solidFill>
                  <a:schemeClr val="dk1"/>
                </a:solidFill>
                <a:latin typeface="Calibri"/>
                <a:ea typeface="Calibri"/>
                <a:cs typeface="Calibri"/>
                <a:sym typeface="Calibri"/>
              </a:rPr>
              <a:t>)</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100" u="none" cap="none" strike="noStrike">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Mixed LLM views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100" u="none" cap="none" strike="noStrike">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Sideways vs Up </a:t>
            </a:r>
            <a:endParaRPr b="1"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100" u="none" cap="none" strike="noStrike">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Partial consensus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zh-CN" sz="1100">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Human verification </a:t>
            </a:r>
            <a:endParaRPr b="1" sz="11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zh-CN" sz="1100">
                <a:solidFill>
                  <a:schemeClr val="dk1"/>
                </a:solidFill>
                <a:latin typeface="Calibri"/>
                <a:ea typeface="Calibri"/>
                <a:cs typeface="Calibri"/>
                <a:sym typeface="Calibri"/>
              </a:rPr>
              <a:t>-</a:t>
            </a:r>
            <a:r>
              <a:rPr b="1" lang="zh-CN" sz="1100">
                <a:solidFill>
                  <a:schemeClr val="dk1"/>
                </a:solidFill>
                <a:latin typeface="Calibri"/>
                <a:ea typeface="Calibri"/>
                <a:cs typeface="Calibri"/>
                <a:sym typeface="Calibri"/>
              </a:rPr>
              <a:t>Medium confidence </a:t>
            </a:r>
            <a:r>
              <a:rPr b="1" lang="zh-CN" sz="1100">
                <a:solidFill>
                  <a:schemeClr val="dk1"/>
                </a:solidFill>
                <a:latin typeface="Calibri"/>
                <a:ea typeface="Calibri"/>
                <a:cs typeface="Calibri"/>
                <a:sym typeface="Calibri"/>
              </a:rPr>
              <a:t>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p:txBody>
      </p:sp>
      <p:sp>
        <p:nvSpPr>
          <p:cNvPr id="424" name="Google Shape;424;p27"/>
          <p:cNvSpPr/>
          <p:nvPr/>
        </p:nvSpPr>
        <p:spPr>
          <a:xfrm>
            <a:off x="731520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5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500" u="none" cap="none" strike="noStrike">
                <a:solidFill>
                  <a:schemeClr val="dk1"/>
                </a:solidFill>
                <a:latin typeface="Calibri"/>
                <a:ea typeface="Calibri"/>
                <a:cs typeface="Calibri"/>
                <a:sym typeface="Calibri"/>
              </a:rPr>
              <a:t>     </a:t>
            </a:r>
            <a:r>
              <a:rPr b="1" i="0" lang="zh-CN" u="none" cap="none" strike="noStrike">
                <a:solidFill>
                  <a:schemeClr val="dk1"/>
                </a:solidFill>
                <a:latin typeface="Calibri"/>
                <a:ea typeface="Calibri"/>
                <a:cs typeface="Calibri"/>
                <a:sym typeface="Calibri"/>
              </a:rPr>
              <a:t> </a:t>
            </a:r>
            <a:r>
              <a:rPr b="1" i="0" lang="zh-CN" sz="1000" u="none" cap="none" strike="noStrike">
                <a:solidFill>
                  <a:schemeClr val="dk1"/>
                </a:solidFill>
                <a:latin typeface="Calibri"/>
                <a:ea typeface="Calibri"/>
                <a:cs typeface="Calibri"/>
                <a:sym typeface="Calibri"/>
              </a:rPr>
              <a:t>Wild Card</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           (</a:t>
            </a:r>
            <a:r>
              <a:rPr b="1" lang="zh-CN" sz="1000">
                <a:solidFill>
                  <a:schemeClr val="dk1"/>
                </a:solidFill>
                <a:latin typeface="Calibri"/>
                <a:ea typeface="Calibri"/>
                <a:cs typeface="Calibri"/>
                <a:sym typeface="Calibri"/>
              </a:rPr>
              <a:t>-</a:t>
            </a:r>
            <a:r>
              <a:rPr b="1" i="0" lang="zh-CN" sz="1000" u="none" cap="none" strike="noStrike">
                <a:solidFill>
                  <a:schemeClr val="dk1"/>
                </a:solidFill>
                <a:latin typeface="Calibri"/>
                <a:ea typeface="Calibri"/>
                <a:cs typeface="Calibri"/>
                <a:sym typeface="Calibri"/>
              </a:rPr>
              <a:t>1)</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a:t>
            </a:r>
            <a:r>
              <a:rPr b="1" lang="zh-CN" sz="1000">
                <a:solidFill>
                  <a:schemeClr val="dk1"/>
                </a:solidFill>
                <a:latin typeface="Calibri"/>
                <a:ea typeface="Calibri"/>
                <a:cs typeface="Calibri"/>
                <a:sym typeface="Calibri"/>
              </a:rPr>
              <a:t>Oil near $100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a:t>
            </a:r>
            <a:r>
              <a:rPr b="1" lang="zh-CN" sz="1000">
                <a:solidFill>
                  <a:schemeClr val="dk1"/>
                </a:solidFill>
                <a:latin typeface="Calibri"/>
                <a:ea typeface="Calibri"/>
                <a:cs typeface="Calibri"/>
                <a:sym typeface="Calibri"/>
              </a:rPr>
              <a:t>FOMC week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a:t>
            </a:r>
            <a:r>
              <a:rPr b="1" lang="zh-CN" sz="1000">
                <a:solidFill>
                  <a:schemeClr val="dk1"/>
                </a:solidFill>
                <a:latin typeface="Calibri"/>
                <a:ea typeface="Calibri"/>
                <a:cs typeface="Calibri"/>
                <a:sym typeface="Calibri"/>
              </a:rPr>
              <a:t>GDP release </a:t>
            </a:r>
            <a:endParaRPr b="1"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000" u="none" cap="none" strike="noStrike">
                <a:solidFill>
                  <a:schemeClr val="dk1"/>
                </a:solidFill>
                <a:latin typeface="Calibri"/>
                <a:ea typeface="Calibri"/>
                <a:cs typeface="Calibri"/>
                <a:sym typeface="Calibri"/>
              </a:rPr>
              <a:t>-</a:t>
            </a:r>
            <a:r>
              <a:rPr b="1" lang="zh-CN" sz="1000">
                <a:solidFill>
                  <a:schemeClr val="dk1"/>
                </a:solidFill>
                <a:latin typeface="Calibri"/>
                <a:ea typeface="Calibri"/>
                <a:cs typeface="Calibri"/>
                <a:sym typeface="Calibri"/>
              </a:rPr>
              <a:t>Tariff risk </a:t>
            </a:r>
            <a:endParaRPr b="1" sz="10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lang="zh-CN" sz="1000">
                <a:solidFill>
                  <a:schemeClr val="dk1"/>
                </a:solidFill>
                <a:latin typeface="Calibri"/>
                <a:ea typeface="Calibri"/>
                <a:cs typeface="Calibri"/>
                <a:sym typeface="Calibri"/>
              </a:rPr>
              <a:t>-</a:t>
            </a:r>
            <a:r>
              <a:rPr b="1" lang="zh-CN" sz="1000">
                <a:solidFill>
                  <a:schemeClr val="dk1"/>
                </a:solidFill>
                <a:latin typeface="Calibri"/>
                <a:ea typeface="Calibri"/>
                <a:cs typeface="Calibri"/>
                <a:sym typeface="Calibri"/>
              </a:rPr>
              <a:t>Geopolitics </a:t>
            </a:r>
            <a:r>
              <a:rPr b="1" lang="zh-CN" sz="1000">
                <a:solidFill>
                  <a:schemeClr val="dk1"/>
                </a:solidFill>
                <a:latin typeface="Calibri"/>
                <a:ea typeface="Calibri"/>
                <a:cs typeface="Calibri"/>
                <a:sym typeface="Calibri"/>
              </a:rPr>
              <a:t> </a:t>
            </a:r>
            <a:r>
              <a:rPr b="1" lang="zh-CN" sz="1100">
                <a:solidFill>
                  <a:schemeClr val="dk1"/>
                </a:solidFill>
                <a:latin typeface="Calibri"/>
                <a:ea typeface="Calibri"/>
                <a:cs typeface="Calibri"/>
                <a:sym typeface="Calibri"/>
              </a:rPr>
              <a:t> </a:t>
            </a:r>
            <a:endParaRPr b="1"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p:txBody>
      </p:sp>
      <p:sp>
        <p:nvSpPr>
          <p:cNvPr id="425" name="Google Shape;425;p27"/>
          <p:cNvSpPr/>
          <p:nvPr/>
        </p:nvSpPr>
        <p:spPr>
          <a:xfrm>
            <a:off x="2740342" y="3108960"/>
            <a:ext cx="3353400" cy="4572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lang="zh-CN" sz="1600">
                <a:solidFill>
                  <a:schemeClr val="lt1"/>
                </a:solidFill>
                <a:latin typeface="Calibri"/>
                <a:ea typeface="Calibri"/>
                <a:cs typeface="Calibri"/>
                <a:sym typeface="Calibri"/>
              </a:rPr>
              <a:t>         </a:t>
            </a:r>
            <a:r>
              <a:rPr b="0" i="0" lang="zh-CN" sz="1600" u="none" cap="none" strike="noStrike">
                <a:solidFill>
                  <a:schemeClr val="lt1"/>
                </a:solidFill>
                <a:latin typeface="Calibri"/>
                <a:ea typeface="Calibri"/>
                <a:cs typeface="Calibri"/>
                <a:sym typeface="Calibri"/>
              </a:rPr>
              <a:t>TOTAL SCORE: </a:t>
            </a:r>
            <a:r>
              <a:rPr lang="zh-CN" sz="1600">
                <a:solidFill>
                  <a:schemeClr val="lt1"/>
                </a:solidFill>
                <a:latin typeface="Calibri"/>
                <a:ea typeface="Calibri"/>
                <a:cs typeface="Calibri"/>
                <a:sym typeface="Calibri"/>
              </a:rPr>
              <a:t>-5</a:t>
            </a:r>
            <a:r>
              <a:rPr b="0" i="0" lang="zh-CN" sz="1600" u="none" cap="none" strike="noStrike">
                <a:solidFill>
                  <a:schemeClr val="lt1"/>
                </a:solidFill>
                <a:latin typeface="Calibri"/>
                <a:ea typeface="Calibri"/>
                <a:cs typeface="Calibri"/>
                <a:sym typeface="Calibri"/>
              </a:rPr>
              <a:t> (</a:t>
            </a:r>
            <a:r>
              <a:rPr lang="zh-CN" sz="1600">
                <a:solidFill>
                  <a:schemeClr val="lt1"/>
                </a:solidFill>
                <a:latin typeface="Calibri"/>
                <a:ea typeface="Calibri"/>
                <a:cs typeface="Calibri"/>
                <a:sym typeface="Calibri"/>
              </a:rPr>
              <a:t>BEARISH</a:t>
            </a:r>
            <a:r>
              <a:rPr b="0" i="0" lang="zh-CN" sz="16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26" name="Google Shape;426;p27"/>
          <p:cNvSpPr txBox="1"/>
          <p:nvPr/>
        </p:nvSpPr>
        <p:spPr>
          <a:xfrm>
            <a:off x="365750" y="3831625"/>
            <a:ext cx="8468400" cy="1006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100"/>
              <a:buFont typeface="Arial"/>
              <a:buNone/>
            </a:pPr>
            <a:r>
              <a:rPr b="1" lang="zh-CN" sz="1800">
                <a:solidFill>
                  <a:schemeClr val="dk1"/>
                </a:solidFill>
                <a:latin typeface="Calibri"/>
                <a:ea typeface="Calibri"/>
                <a:cs typeface="Calibri"/>
                <a:sym typeface="Calibri"/>
              </a:rPr>
              <a:t>The W30 Human Score fell to -5 as bearish macro conditions, weakening technical momentum, a bearish seasonal outlook, and major economic events outweighed the remaining positive inflation data, resulting in a Bearish outlook. </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30" name="Shape 430"/>
        <p:cNvGrpSpPr/>
        <p:nvPr/>
      </p:nvGrpSpPr>
      <p:grpSpPr>
        <a:xfrm>
          <a:off x="0" y="0"/>
          <a:ext cx="0" cy="0"/>
          <a:chOff x="0" y="0"/>
          <a:chExt cx="0" cy="0"/>
        </a:xfrm>
      </p:grpSpPr>
      <p:sp>
        <p:nvSpPr>
          <p:cNvPr id="431" name="Google Shape;431;p2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2" name="Google Shape;432;p28"/>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3" name="Google Shape;433;p28"/>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zh-CN" sz="1500" u="none" cap="none" strike="noStrike">
                <a:solidFill>
                  <a:srgbClr val="FFFFFF"/>
                </a:solidFill>
                <a:latin typeface="Arial"/>
                <a:ea typeface="Arial"/>
                <a:cs typeface="Arial"/>
                <a:sym typeface="Arial"/>
              </a:rPr>
              <a:t>R7 Human Score</a:t>
            </a:r>
            <a:endParaRPr b="0" i="0" sz="1400" u="none" cap="none" strike="noStrike">
              <a:solidFill>
                <a:srgbClr val="000000"/>
              </a:solidFill>
              <a:latin typeface="Arial"/>
              <a:ea typeface="Arial"/>
              <a:cs typeface="Arial"/>
              <a:sym typeface="Arial"/>
            </a:endParaRPr>
          </a:p>
        </p:txBody>
      </p:sp>
      <p:sp>
        <p:nvSpPr>
          <p:cNvPr id="434" name="Google Shape;434;p28"/>
          <p:cNvSpPr/>
          <p:nvPr/>
        </p:nvSpPr>
        <p:spPr>
          <a:xfrm>
            <a:off x="3291840" y="822960"/>
            <a:ext cx="1828800" cy="4116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zh-CN" sz="1600" u="none" cap="none" strike="noStrike">
                <a:solidFill>
                  <a:schemeClr val="lt1"/>
                </a:solidFill>
                <a:latin typeface="Calibri"/>
                <a:ea typeface="Calibri"/>
                <a:cs typeface="Calibri"/>
                <a:sym typeface="Calibri"/>
              </a:rPr>
              <a:t>HUMAN OVERRIDE</a:t>
            </a:r>
            <a:endParaRPr b="0" i="0" sz="1400" u="none" cap="none" strike="noStrike">
              <a:solidFill>
                <a:srgbClr val="000000"/>
              </a:solidFill>
              <a:latin typeface="Arial"/>
              <a:ea typeface="Arial"/>
              <a:cs typeface="Arial"/>
              <a:sym typeface="Arial"/>
            </a:endParaRPr>
          </a:p>
        </p:txBody>
      </p:sp>
      <p:sp>
        <p:nvSpPr>
          <p:cNvPr id="435" name="Google Shape;435;p28"/>
          <p:cNvSpPr/>
          <p:nvPr/>
        </p:nvSpPr>
        <p:spPr>
          <a:xfrm>
            <a:off x="36576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AI CONSENSUS</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Mixed LLM views </a:t>
            </a:r>
            <a:r>
              <a:rPr b="1" lang="zh-CN" sz="1800">
                <a:solidFill>
                  <a:schemeClr val="dk1"/>
                </a:solidFill>
                <a:latin typeface="Calibri"/>
                <a:ea typeface="Calibri"/>
                <a:cs typeface="Calibri"/>
                <a:sym typeface="Calibri"/>
              </a:rPr>
              <a:t>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Sideways / Neutral </a:t>
            </a:r>
            <a:r>
              <a:rPr b="1" lang="zh-CN" sz="1800">
                <a:solidFill>
                  <a:schemeClr val="dk1"/>
                </a:solidFill>
                <a:latin typeface="Calibri"/>
                <a:ea typeface="Calibri"/>
                <a:cs typeface="Calibri"/>
                <a:sym typeface="Calibri"/>
              </a:rPr>
              <a:t>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July seasonality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Stable Fed assumption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Medium </a:t>
            </a:r>
            <a:r>
              <a:rPr b="1" lang="zh-CN" sz="1800">
                <a:solidFill>
                  <a:schemeClr val="dk1"/>
                </a:solidFill>
                <a:latin typeface="Calibri"/>
                <a:ea typeface="Calibri"/>
                <a:cs typeface="Calibri"/>
                <a:sym typeface="Calibri"/>
              </a:rPr>
              <a:t>confidence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p28"/>
          <p:cNvSpPr/>
          <p:nvPr/>
        </p:nvSpPr>
        <p:spPr>
          <a:xfrm>
            <a:off x="457200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1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HUMAN ADJUSTMENT</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SPX below EMAs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NDX bearish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Oil near $100 </a:t>
            </a:r>
            <a:r>
              <a:rPr b="1" lang="zh-CN" sz="1800">
                <a:solidFill>
                  <a:schemeClr val="dk1"/>
                </a:solidFill>
                <a:latin typeface="Calibri"/>
                <a:ea typeface="Calibri"/>
                <a:cs typeface="Calibri"/>
                <a:sym typeface="Calibri"/>
              </a:rPr>
              <a:t> </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1" i="0" lang="zh-CN" sz="1800" u="none" cap="none" strike="noStrike">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Rising Treasury yields </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zh-CN" sz="1800">
                <a:solidFill>
                  <a:schemeClr val="dk1"/>
                </a:solidFill>
                <a:latin typeface="Calibri"/>
                <a:ea typeface="Calibri"/>
                <a:cs typeface="Calibri"/>
                <a:sym typeface="Calibri"/>
              </a:rPr>
              <a:t>• </a:t>
            </a:r>
            <a:r>
              <a:rPr b="1" lang="zh-CN" sz="1800">
                <a:solidFill>
                  <a:schemeClr val="dk1"/>
                </a:solidFill>
                <a:latin typeface="Calibri"/>
                <a:ea typeface="Calibri"/>
                <a:cs typeface="Calibri"/>
                <a:sym typeface="Calibri"/>
              </a:rPr>
              <a:t>Bearish Almanac </a:t>
            </a:r>
            <a:endParaRPr b="1"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p:txBody>
      </p:sp>
      <p:sp>
        <p:nvSpPr>
          <p:cNvPr id="437" name="Google Shape;437;p28"/>
          <p:cNvSpPr/>
          <p:nvPr/>
        </p:nvSpPr>
        <p:spPr>
          <a:xfrm>
            <a:off x="280050" y="3749050"/>
            <a:ext cx="8290500" cy="9981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lang="zh-CN" sz="1300">
                <a:solidFill>
                  <a:schemeClr val="lt1"/>
                </a:solidFill>
                <a:latin typeface="Calibri"/>
                <a:ea typeface="Calibri"/>
                <a:cs typeface="Calibri"/>
                <a:sym typeface="Calibri"/>
              </a:rPr>
              <a:t>Although July seasonality and lower CPI provide some support, the team gives greater weight to the bearish technical structure, rising Treasury yields, higher oil prices, a bearish strategic Almanac outlook, and major economic events including the FOMC meeting. These factors support a Bearish outlook for Week 30. </a:t>
            </a:r>
            <a:endParaRPr b="1"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41" name="Shape 441"/>
        <p:cNvGrpSpPr/>
        <p:nvPr/>
      </p:nvGrpSpPr>
      <p:grpSpPr>
        <a:xfrm>
          <a:off x="0" y="0"/>
          <a:ext cx="0" cy="0"/>
          <a:chOff x="0" y="0"/>
          <a:chExt cx="0" cy="0"/>
        </a:xfrm>
      </p:grpSpPr>
      <p:sp>
        <p:nvSpPr>
          <p:cNvPr id="442" name="Google Shape;442;p29"/>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29"/>
          <p:cNvSpPr/>
          <p:nvPr/>
        </p:nvSpPr>
        <p:spPr>
          <a:xfrm>
            <a:off x="0" y="640080"/>
            <a:ext cx="9144000" cy="36600"/>
          </a:xfrm>
          <a:prstGeom prst="rect">
            <a:avLst/>
          </a:prstGeom>
          <a:solidFill>
            <a:srgbClr val="45818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29"/>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R9 GitHub Lead</a:t>
            </a:r>
            <a:endParaRPr/>
          </a:p>
        </p:txBody>
      </p:sp>
      <p:sp>
        <p:nvSpPr>
          <p:cNvPr id="445" name="Google Shape;445;p29"/>
          <p:cNvSpPr txBox="1"/>
          <p:nvPr/>
        </p:nvSpPr>
        <p:spPr>
          <a:xfrm>
            <a:off x="227000" y="865625"/>
            <a:ext cx="8795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3200" u="sng">
                <a:solidFill>
                  <a:srgbClr val="0000FF"/>
                </a:solidFill>
                <a:latin typeface="Calibri"/>
                <a:ea typeface="Calibri"/>
                <a:cs typeface="Calibri"/>
                <a:sym typeface="Calibri"/>
                <a:hlinkClick r:id="rId3">
                  <a:extLst>
                    <a:ext uri="{A12FA001-AC4F-418D-AE19-62706E023703}">
                      <ahyp:hlinkClr val="tx"/>
                    </a:ext>
                  </a:extLst>
                </a:hlinkClick>
              </a:rPr>
              <a:t>https://github.com/LuJunwen212/CP3405-Project</a:t>
            </a:r>
            <a:endParaRPr sz="320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449" name="Shape 449"/>
        <p:cNvGrpSpPr/>
        <p:nvPr/>
      </p:nvGrpSpPr>
      <p:grpSpPr>
        <a:xfrm>
          <a:off x="0" y="0"/>
          <a:ext cx="0" cy="0"/>
          <a:chOff x="0" y="0"/>
          <a:chExt cx="0" cy="0"/>
        </a:xfrm>
      </p:grpSpPr>
      <p:sp>
        <p:nvSpPr>
          <p:cNvPr id="450" name="Google Shape;450;p30"/>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 name="Google Shape;451;p30"/>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2" name="Google Shape;452;p30"/>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zh-CN" sz="1500">
                <a:solidFill>
                  <a:srgbClr val="FFFFFF"/>
                </a:solidFill>
                <a:latin typeface="Arial"/>
                <a:ea typeface="Arial"/>
                <a:cs typeface="Arial"/>
                <a:sym typeface="Arial"/>
              </a:rPr>
              <a:t>R10 </a:t>
            </a:r>
            <a:r>
              <a:rPr b="1" lang="zh-CN" sz="1500">
                <a:solidFill>
                  <a:srgbClr val="FFFFFF"/>
                </a:solidFill>
              </a:rPr>
              <a:t>Calibration Lead</a:t>
            </a:r>
            <a:endParaRPr/>
          </a:p>
        </p:txBody>
      </p:sp>
      <p:pic>
        <p:nvPicPr>
          <p:cNvPr id="453" name="Google Shape;453;p30" title="r10.png"/>
          <p:cNvPicPr preferRelativeResize="0"/>
          <p:nvPr/>
        </p:nvPicPr>
        <p:blipFill>
          <a:blip r:embed="rId3">
            <a:alphaModFix/>
          </a:blip>
          <a:stretch>
            <a:fillRect/>
          </a:stretch>
        </p:blipFill>
        <p:spPr>
          <a:xfrm>
            <a:off x="0" y="-1"/>
            <a:ext cx="9144001" cy="51462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457" name="Shape 457"/>
        <p:cNvGrpSpPr/>
        <p:nvPr/>
      </p:nvGrpSpPr>
      <p:grpSpPr>
        <a:xfrm>
          <a:off x="0" y="0"/>
          <a:ext cx="0" cy="0"/>
          <a:chOff x="0" y="0"/>
          <a:chExt cx="0" cy="0"/>
        </a:xfrm>
      </p:grpSpPr>
      <p:sp>
        <p:nvSpPr>
          <p:cNvPr id="458" name="Google Shape;458;p31"/>
          <p:cNvSpPr/>
          <p:nvPr/>
        </p:nvSpPr>
        <p:spPr>
          <a:xfrm>
            <a:off x="0" y="0"/>
            <a:ext cx="9144000" cy="915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p31"/>
          <p:cNvSpPr/>
          <p:nvPr/>
        </p:nvSpPr>
        <p:spPr>
          <a:xfrm>
            <a:off x="0" y="5047488"/>
            <a:ext cx="9144000" cy="915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0" name="Google Shape;460;p31"/>
          <p:cNvSpPr txBox="1"/>
          <p:nvPr/>
        </p:nvSpPr>
        <p:spPr>
          <a:xfrm>
            <a:off x="640080" y="1627632"/>
            <a:ext cx="3931800" cy="677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zh-CN" sz="3800">
                <a:solidFill>
                  <a:srgbClr val="FFFFFF"/>
                </a:solidFill>
                <a:latin typeface="Arial"/>
                <a:ea typeface="Arial"/>
                <a:cs typeface="Arial"/>
                <a:sym typeface="Arial"/>
              </a:rPr>
              <a:t>Thank you</a:t>
            </a:r>
            <a:endParaRPr/>
          </a:p>
        </p:txBody>
      </p:sp>
      <p:sp>
        <p:nvSpPr>
          <p:cNvPr id="461" name="Google Shape;461;p31"/>
          <p:cNvSpPr txBox="1"/>
          <p:nvPr/>
        </p:nvSpPr>
        <p:spPr>
          <a:xfrm>
            <a:off x="676656" y="2267712"/>
            <a:ext cx="43890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zh-CN" sz="1800">
                <a:solidFill>
                  <a:srgbClr val="C8D4E3"/>
                </a:solidFill>
              </a:rPr>
              <a:t>Any </a:t>
            </a:r>
            <a:r>
              <a:rPr b="0" lang="zh-CN" sz="1800">
                <a:solidFill>
                  <a:srgbClr val="C8D4E3"/>
                </a:solidFill>
                <a:latin typeface="Arial"/>
                <a:ea typeface="Arial"/>
                <a:cs typeface="Arial"/>
                <a:sym typeface="Arial"/>
              </a:rPr>
              <a:t>Questions?</a:t>
            </a:r>
            <a:endParaRPr/>
          </a:p>
        </p:txBody>
      </p:sp>
      <p:sp>
        <p:nvSpPr>
          <p:cNvPr id="462" name="Google Shape;462;p31"/>
          <p:cNvSpPr/>
          <p:nvPr/>
        </p:nvSpPr>
        <p:spPr>
          <a:xfrm>
            <a:off x="3665950" y="2370455"/>
            <a:ext cx="201300" cy="201300"/>
          </a:xfrm>
          <a:prstGeom prst="ellipse">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3" name="Google Shape;463;p31"/>
          <p:cNvSpPr/>
          <p:nvPr/>
        </p:nvSpPr>
        <p:spPr>
          <a:xfrm>
            <a:off x="676647" y="3733855"/>
            <a:ext cx="201300" cy="201300"/>
          </a:xfrm>
          <a:prstGeom prst="ellipse">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4" name="Google Shape;464;p31"/>
          <p:cNvSpPr/>
          <p:nvPr/>
        </p:nvSpPr>
        <p:spPr>
          <a:xfrm>
            <a:off x="1030944" y="671680"/>
            <a:ext cx="201300" cy="201300"/>
          </a:xfrm>
          <a:prstGeom prst="ellipse">
            <a:avLst/>
          </a:prstGeom>
          <a:solidFill>
            <a:srgbClr val="F2B8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5" name="Google Shape;465;p31"/>
          <p:cNvSpPr/>
          <p:nvPr/>
        </p:nvSpPr>
        <p:spPr>
          <a:xfrm>
            <a:off x="676650" y="671677"/>
            <a:ext cx="201300" cy="201300"/>
          </a:xfrm>
          <a:prstGeom prst="ellipse">
            <a:avLst/>
          </a:prstGeom>
          <a:solidFill>
            <a:srgbClr val="2878E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6" name="Google Shape;466;p31"/>
          <p:cNvSpPr/>
          <p:nvPr/>
        </p:nvSpPr>
        <p:spPr>
          <a:xfrm>
            <a:off x="1385247" y="671677"/>
            <a:ext cx="201300" cy="201300"/>
          </a:xfrm>
          <a:prstGeom prst="ellipse">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7" name="Google Shape;467;p31"/>
          <p:cNvSpPr/>
          <p:nvPr/>
        </p:nvSpPr>
        <p:spPr>
          <a:xfrm>
            <a:off x="1030944" y="3733852"/>
            <a:ext cx="201300" cy="201300"/>
          </a:xfrm>
          <a:prstGeom prst="ellipse">
            <a:avLst/>
          </a:prstGeom>
          <a:solidFill>
            <a:srgbClr val="5C6C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8" name="Google Shape;468;p31"/>
          <p:cNvSpPr/>
          <p:nvPr/>
        </p:nvSpPr>
        <p:spPr>
          <a:xfrm>
            <a:off x="1385238" y="3733849"/>
            <a:ext cx="201300" cy="201300"/>
          </a:xfrm>
          <a:prstGeom prst="ellipse">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9" name="Google Shape;469;p31"/>
          <p:cNvSpPr/>
          <p:nvPr/>
        </p:nvSpPr>
        <p:spPr>
          <a:xfrm>
            <a:off x="4370575" y="1959674"/>
            <a:ext cx="201300" cy="201300"/>
          </a:xfrm>
          <a:prstGeom prst="ellipse">
            <a:avLst/>
          </a:prstGeom>
          <a:solidFill>
            <a:srgbClr val="45818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0" name="Google Shape;470;p31"/>
          <p:cNvSpPr/>
          <p:nvPr/>
        </p:nvSpPr>
        <p:spPr>
          <a:xfrm>
            <a:off x="4169263" y="2160974"/>
            <a:ext cx="201300" cy="201300"/>
          </a:xfrm>
          <a:prstGeom prst="ellipse">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1" name="Google Shape;471;p31"/>
          <p:cNvSpPr/>
          <p:nvPr/>
        </p:nvSpPr>
        <p:spPr>
          <a:xfrm>
            <a:off x="3867250" y="2169149"/>
            <a:ext cx="201300" cy="201300"/>
          </a:xfrm>
          <a:prstGeom prst="ellipse">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